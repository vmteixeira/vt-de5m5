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charts/chart2.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ldemar Teixeira" userId="e6480d14-3921-4c0f-80f9-84ca7ed5ec96" providerId="ADAL" clId="{3FC4ADD6-941D-4449-B9FE-5386C481CF85}"/>
    <pc:docChg chg="modSld">
      <pc:chgData name="Valdemar Teixeira" userId="e6480d14-3921-4c0f-80f9-84ca7ed5ec96" providerId="ADAL" clId="{3FC4ADD6-941D-4449-B9FE-5386C481CF85}" dt="2026-08-20T10:46:12.134" v="1" actId="20577"/>
      <pc:docMkLst>
        <pc:docMk/>
      </pc:docMkLst>
      <pc:sldChg chg="modSp mod">
        <pc:chgData name="Valdemar Teixeira" userId="e6480d14-3921-4c0f-80f9-84ca7ed5ec96" providerId="ADAL" clId="{3FC4ADD6-941D-4449-B9FE-5386C481CF85}" dt="2026-08-20T10:46:12.134" v="1" actId="20577"/>
        <pc:sldMkLst>
          <pc:docMk/>
          <pc:sldMk cId="1987301528" sldId="256"/>
        </pc:sldMkLst>
        <pc:spChg chg="mod">
          <ac:chgData name="Valdemar Teixeira" userId="e6480d14-3921-4c0f-80f9-84ca7ed5ec96" providerId="ADAL" clId="{3FC4ADD6-941D-4449-B9FE-5386C481CF85}" dt="2026-08-20T10:46:12.134" v="1" actId="20577"/>
          <ac:spMkLst>
            <pc:docMk/>
            <pc:sldMk cId="1987301528" sldId="256"/>
            <ac:spMk id="6" creationId="{A08B6B5F-830D-4C61-81C3-7814CF913B58}"/>
          </ac:spMkLst>
        </pc:spChg>
      </pc:sldChg>
    </pc:docChg>
  </pc:docChgLst>
</pc:chgInfo>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Raw rows</c:v>
          </c:tx>
          <c:spPr>
            <a:solidFill>
              <a:srgbClr val="6DCBF4"/>
            </a:solidFill>
          </c:spPr>
          <c:invertIfNegative val="1"/>
          <c:dLbls>
            <c:spPr>
              <a:noFill/>
              <a:ln>
                <a:noFill/>
              </a:ln>
              <a:effectLst/>
            </c:spPr>
            <c:txPr>
              <a:bodyPr anchorCtr="1"/>
              <a:lstStyle/>
              <a:p>
                <a:pPr>
                  <a:defRPr sz="1050" b="1">
                    <a:solidFill>
                      <a:srgbClr val="111111"/>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Books</c:v>
              </c:pt>
              <c:pt idx="1">
                <c:v>Customers</c:v>
              </c:pt>
            </c:strLit>
          </c:cat>
          <c:val>
            <c:numLit>
              <c:formatCode>General</c:formatCode>
              <c:ptCount val="2"/>
              <c:pt idx="0">
                <c:v>114</c:v>
              </c:pt>
              <c:pt idx="1">
                <c:v>9</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0CED-4FFF-BEB4-0C67CE237D6D}"/>
            </c:ext>
          </c:extLst>
        </c:ser>
        <c:ser>
          <c:idx val="1"/>
          <c:order val="1"/>
          <c:tx>
            <c:v>Clean rows</c:v>
          </c:tx>
          <c:spPr>
            <a:solidFill>
              <a:srgbClr val="3D8DFF"/>
            </a:solidFill>
          </c:spPr>
          <c:invertIfNegative val="1"/>
          <c:dLbls>
            <c:spPr>
              <a:noFill/>
              <a:ln>
                <a:noFill/>
              </a:ln>
              <a:effectLst/>
            </c:spPr>
            <c:txPr>
              <a:bodyPr anchorCtr="1"/>
              <a:lstStyle/>
              <a:p>
                <a:pPr>
                  <a:defRPr sz="1050" b="1">
                    <a:solidFill>
                      <a:srgbClr val="111111"/>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Books</c:v>
              </c:pt>
              <c:pt idx="1">
                <c:v>Customers</c:v>
              </c:pt>
            </c:strLit>
          </c:cat>
          <c:val>
            <c:numLit>
              <c:formatCode>General</c:formatCode>
              <c:ptCount val="2"/>
              <c:pt idx="0">
                <c:v>21</c:v>
              </c:pt>
              <c:pt idx="1">
                <c:v>8</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0CED-4FFF-BEB4-0C67CE237D6D}"/>
            </c:ext>
          </c:extLst>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B8BCC4"/>
            </a:solidFill>
            <a:prstDash val="solid"/>
          </a:ln>
        </c:spPr>
        <c:txPr>
          <a:bodyPr anchorCtr="1"/>
          <a:lstStyle/>
          <a:p>
            <a:pPr>
              <a:defRPr sz="1200">
                <a:solidFill>
                  <a:srgbClr val="111111"/>
                </a:solidFill>
              </a:defRPr>
            </a:pPr>
            <a:endParaRPr lang="en-US"/>
          </a:p>
        </c:txPr>
        <c:crossAx val="48672768"/>
        <c:crosses val="autoZero"/>
        <c:auto val="1"/>
        <c:lblAlgn val="ctr"/>
        <c:lblOffset val="100"/>
        <c:noMultiLvlLbl val="1"/>
      </c:catAx>
      <c:valAx>
        <c:axId val="48672768"/>
        <c:scaling>
          <c:orientation val="minMax"/>
          <c:max val="120"/>
          <c:min val="0"/>
        </c:scaling>
        <c:delete val="0"/>
        <c:axPos val="l"/>
        <c:majorGridlines>
          <c:spPr>
            <a:ln w="9525">
              <a:solidFill>
                <a:srgbClr val="E7E9EC"/>
              </a:solidFill>
              <a:prstDash val="solid"/>
            </a:ln>
          </c:spPr>
        </c:majorGridlines>
        <c:numFmt formatCode="General" sourceLinked="1"/>
        <c:majorTickMark val="none"/>
        <c:minorTickMark val="none"/>
        <c:tickLblPos val="nextTo"/>
        <c:spPr>
          <a:ln w="0">
            <a:solidFill>
              <a:srgbClr val="FFFFFF"/>
            </a:solidFill>
            <a:prstDash val="solid"/>
          </a:ln>
        </c:spPr>
        <c:txPr>
          <a:bodyPr anchorCtr="1"/>
          <a:lstStyle/>
          <a:p>
            <a:pPr>
              <a:defRPr sz="975">
                <a:solidFill>
                  <a:srgbClr val="5F6368"/>
                </a:solidFill>
              </a:defRPr>
            </a:pPr>
            <a:endParaRPr lang="en-US"/>
          </a:p>
        </c:txPr>
        <c:crossAx val="48650112"/>
        <c:crosses val="autoZero"/>
        <c:crossBetween val="between"/>
        <c:majorUnit val="20"/>
      </c:valAx>
      <c:spPr>
        <a:noFill/>
        <a:ln w="0">
          <a:solidFill>
            <a:srgbClr val="FFFFFF"/>
          </a:solidFill>
          <a:prstDash val="solid"/>
        </a:ln>
      </c:spPr>
    </c:plotArea>
    <c:legend>
      <c:legendPos val="b"/>
      <c:overlay val="0"/>
      <c:txPr>
        <a:bodyPr anchorCtr="1"/>
        <a:lstStyle/>
        <a:p>
          <a:pPr>
            <a:defRPr sz="975">
              <a:solidFill>
                <a:srgbClr val="5F6368"/>
              </a:solidFill>
            </a:defRPr>
          </a:pPr>
          <a:endParaRPr lang="en-US"/>
        </a:p>
      </c:txPr>
    </c:legend>
    <c:plotVisOnly val="1"/>
    <c:dispBlanksAs val="zero"/>
    <c:showDLblsOverMax val="1"/>
  </c:chart>
  <c:spPr>
    <a:solidFill>
      <a:srgbClr val="FFFFFF"/>
    </a:solidFill>
    <a:ln w="0">
      <a:solidFill>
        <a:srgbClr val="FFFFFF"/>
      </a:solidFill>
      <a:prstDash val="solid"/>
    </a:ln>
  </c:sp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v>Records</c:v>
          </c:tx>
          <c:spPr>
            <a:solidFill>
              <a:srgbClr val="F2C811"/>
            </a:solidFill>
          </c:spPr>
          <c:invertIfNegative val="1"/>
          <c:dLbls>
            <c:spPr>
              <a:noFill/>
              <a:ln>
                <a:noFill/>
              </a:ln>
              <a:effectLst/>
            </c:spPr>
            <c:txPr>
              <a:bodyPr anchorCtr="1"/>
              <a:lstStyle/>
              <a:p>
                <a:pPr>
                  <a:defRPr sz="1125" b="1">
                    <a:solidFill>
                      <a:srgbClr val="111111"/>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5"/>
              <c:pt idx="0">
                <c:v>Reversed date sequence</c:v>
              </c:pt>
              <c:pt idx="1">
                <c:v>Late return</c:v>
              </c:pt>
              <c:pt idx="2">
                <c:v>Invalid calendar date</c:v>
              </c:pt>
              <c:pt idx="3">
                <c:v>Blank title</c:v>
              </c:pt>
              <c:pt idx="4">
                <c:v>Missing customer ID</c:v>
              </c:pt>
            </c:strLit>
          </c:cat>
          <c:val>
            <c:numLit>
              <c:formatCode>General</c:formatCode>
              <c:ptCount val="5"/>
              <c:pt idx="0">
                <c:v>6</c:v>
              </c:pt>
              <c:pt idx="1">
                <c:v>5</c:v>
              </c:pt>
              <c:pt idx="2">
                <c:v>1</c:v>
              </c:pt>
              <c:pt idx="3">
                <c:v>1</c:v>
              </c:pt>
              <c:pt idx="4">
                <c:v>1</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E557-4012-B9AA-9701777BF484}"/>
            </c:ext>
          </c:extLst>
        </c:ser>
        <c:dLbls>
          <c:dLblPos val="outEnd"/>
          <c:showLegendKey val="0"/>
          <c:showVal val="1"/>
          <c:showCatName val="0"/>
          <c:showSerName val="0"/>
          <c:showPercent val="0"/>
          <c:showBubbleSize val="0"/>
        </c:dLbls>
        <c:gapWidth val="52"/>
        <c:axId val="48650112"/>
        <c:axId val="48672768"/>
      </c:barChart>
      <c:catAx>
        <c:axId val="48650112"/>
        <c:scaling>
          <c:orientation val="minMax"/>
        </c:scaling>
        <c:delete val="0"/>
        <c:axPos val="l"/>
        <c:majorGridlines>
          <c:spPr>
            <a:ln w="9525">
              <a:solidFill>
                <a:srgbClr val="E7E9EC"/>
              </a:solidFill>
              <a:prstDash val="solid"/>
            </a:ln>
          </c:spPr>
        </c:majorGridlines>
        <c:numFmt formatCode="General" sourceLinked="1"/>
        <c:majorTickMark val="none"/>
        <c:minorTickMark val="none"/>
        <c:tickLblPos val="nextTo"/>
        <c:spPr>
          <a:ln w="9525">
            <a:solidFill>
              <a:srgbClr val="B8BCC4"/>
            </a:solidFill>
            <a:prstDash val="solid"/>
          </a:ln>
        </c:spPr>
        <c:txPr>
          <a:bodyPr anchorCtr="1"/>
          <a:lstStyle/>
          <a:p>
            <a:pPr>
              <a:defRPr sz="900">
                <a:solidFill>
                  <a:srgbClr val="5F6368"/>
                </a:solidFill>
              </a:defRPr>
            </a:pPr>
            <a:endParaRPr lang="en-US"/>
          </a:p>
        </c:txPr>
        <c:crossAx val="48672768"/>
        <c:crosses val="autoZero"/>
        <c:auto val="1"/>
        <c:lblAlgn val="ctr"/>
        <c:lblOffset val="100"/>
        <c:noMultiLvlLbl val="1"/>
      </c:catAx>
      <c:valAx>
        <c:axId val="48672768"/>
        <c:scaling>
          <c:orientation val="minMax"/>
        </c:scaling>
        <c:delete val="0"/>
        <c:axPos val="b"/>
        <c:numFmt formatCode="General" sourceLinked="1"/>
        <c:majorTickMark val="none"/>
        <c:minorTickMark val="none"/>
        <c:tickLblPos val="nextTo"/>
        <c:spPr>
          <a:ln w="0">
            <a:solidFill>
              <a:srgbClr val="FFFFFF"/>
            </a:solidFill>
            <a:prstDash val="solid"/>
          </a:ln>
        </c:spPr>
        <c:txPr>
          <a:bodyPr anchorCtr="1"/>
          <a:lstStyle/>
          <a:p>
            <a:pPr>
              <a:defRPr sz="1050">
                <a:solidFill>
                  <a:srgbClr val="111111"/>
                </a:solidFill>
              </a:defRPr>
            </a:pPr>
            <a:endParaRPr lang="en-US"/>
          </a:p>
        </c:txPr>
        <c:crossAx val="48650112"/>
        <c:crosses val="autoZero"/>
        <c:crossBetween val="between"/>
      </c:valAx>
      <c:spPr>
        <a:noFill/>
        <a:ln w="0">
          <a:solidFill>
            <a:srgbClr val="FFFFFF"/>
          </a:solidFill>
          <a:prstDash val="solid"/>
        </a:ln>
      </c:spPr>
    </c:plotArea>
    <c:plotVisOnly val="1"/>
    <c:dispBlanksAs val="zero"/>
    <c:showDLblsOverMax val="1"/>
  </c:chart>
  <c:spPr>
    <a:solidFill>
      <a:srgbClr val="FFFFFF"/>
    </a:solidFill>
    <a:ln w="0">
      <a:solidFill>
        <a:srgbClr val="FFFFFF"/>
      </a:solidFill>
      <a:prstDash val="solid"/>
    </a:ln>
  </c:spPr>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Raw</c:v>
          </c:tx>
          <c:spPr>
            <a:solidFill>
              <a:srgbClr val="6DCBF4"/>
            </a:solidFill>
          </c:spPr>
          <c:invertIfNegative val="1"/>
          <c:dLbls>
            <c:spPr>
              <a:noFill/>
              <a:ln>
                <a:noFill/>
              </a:ln>
              <a:effectLst/>
            </c:spPr>
            <c:txPr>
              <a:bodyPr anchorCtr="1"/>
              <a:lstStyle/>
              <a:p>
                <a:pPr>
                  <a:defRPr sz="900" b="1">
                    <a:solidFill>
                      <a:srgbClr val="111111"/>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Books</c:v>
              </c:pt>
              <c:pt idx="1">
                <c:v>Customers</c:v>
              </c:pt>
            </c:strLit>
          </c:cat>
          <c:val>
            <c:numLit>
              <c:formatCode>General</c:formatCode>
              <c:ptCount val="2"/>
              <c:pt idx="0">
                <c:v>114</c:v>
              </c:pt>
              <c:pt idx="1">
                <c:v>9</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C0AF-40A8-B151-2D0E19C75A23}"/>
            </c:ext>
          </c:extLst>
        </c:ser>
        <c:ser>
          <c:idx val="1"/>
          <c:order val="1"/>
          <c:tx>
            <c:v>Clean</c:v>
          </c:tx>
          <c:spPr>
            <a:solidFill>
              <a:srgbClr val="3D8DFF"/>
            </a:solidFill>
          </c:spPr>
          <c:invertIfNegative val="1"/>
          <c:dLbls>
            <c:spPr>
              <a:noFill/>
              <a:ln>
                <a:noFill/>
              </a:ln>
              <a:effectLst/>
            </c:spPr>
            <c:txPr>
              <a:bodyPr anchorCtr="1"/>
              <a:lstStyle/>
              <a:p>
                <a:pPr>
                  <a:defRPr sz="900" b="1">
                    <a:solidFill>
                      <a:srgbClr val="111111"/>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Books</c:v>
              </c:pt>
              <c:pt idx="1">
                <c:v>Customers</c:v>
              </c:pt>
            </c:strLit>
          </c:cat>
          <c:val>
            <c:numLit>
              <c:formatCode>General</c:formatCode>
              <c:ptCount val="2"/>
              <c:pt idx="0">
                <c:v>21</c:v>
              </c:pt>
              <c:pt idx="1">
                <c:v>8</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C0AF-40A8-B151-2D0E19C75A23}"/>
            </c:ext>
          </c:extLst>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B8BCC4"/>
            </a:solidFill>
            <a:prstDash val="solid"/>
          </a:ln>
        </c:spPr>
        <c:txPr>
          <a:bodyPr anchorCtr="1"/>
          <a:lstStyle/>
          <a:p>
            <a:pPr>
              <a:defRPr sz="975">
                <a:solidFill>
                  <a:srgbClr val="111111"/>
                </a:solidFill>
              </a:defRPr>
            </a:pPr>
            <a:endParaRPr lang="en-US"/>
          </a:p>
        </c:txPr>
        <c:crossAx val="48672768"/>
        <c:crosses val="autoZero"/>
        <c:auto val="1"/>
        <c:lblAlgn val="ctr"/>
        <c:lblOffset val="100"/>
        <c:noMultiLvlLbl val="1"/>
      </c:catAx>
      <c:valAx>
        <c:axId val="48672768"/>
        <c:scaling>
          <c:orientation val="minMax"/>
          <c:max val="120"/>
          <c:min val="0"/>
        </c:scaling>
        <c:delete val="0"/>
        <c:axPos val="l"/>
        <c:majorGridlines>
          <c:spPr>
            <a:ln w="9525">
              <a:solidFill>
                <a:srgbClr val="E7E9EC"/>
              </a:solidFill>
              <a:prstDash val="solid"/>
            </a:ln>
          </c:spPr>
        </c:majorGridlines>
        <c:numFmt formatCode="General" sourceLinked="1"/>
        <c:majorTickMark val="none"/>
        <c:minorTickMark val="none"/>
        <c:tickLblPos val="nextTo"/>
        <c:spPr>
          <a:ln w="0">
            <a:solidFill>
              <a:srgbClr val="FFFFFF"/>
            </a:solidFill>
            <a:prstDash val="solid"/>
          </a:ln>
        </c:spPr>
        <c:txPr>
          <a:bodyPr anchorCtr="1"/>
          <a:lstStyle/>
          <a:p>
            <a:pPr>
              <a:defRPr sz="825">
                <a:solidFill>
                  <a:srgbClr val="5F6368"/>
                </a:solidFill>
              </a:defRPr>
            </a:pPr>
            <a:endParaRPr lang="en-US"/>
          </a:p>
        </c:txPr>
        <c:crossAx val="48650112"/>
        <c:crosses val="autoZero"/>
        <c:crossBetween val="between"/>
        <c:majorUnit val="20"/>
      </c:valAx>
      <c:spPr>
        <a:noFill/>
        <a:ln w="0">
          <a:solidFill>
            <a:srgbClr val="FFFFFF"/>
          </a:solidFill>
          <a:prstDash val="solid"/>
        </a:ln>
      </c:spPr>
    </c:plotArea>
    <c:legend>
      <c:legendPos val="b"/>
      <c:overlay val="0"/>
      <c:txPr>
        <a:bodyPr anchorCtr="1"/>
        <a:lstStyle/>
        <a:p>
          <a:pPr>
            <a:defRPr sz="975">
              <a:solidFill>
                <a:srgbClr val="5F6368"/>
              </a:solidFill>
            </a:defRPr>
          </a:pPr>
          <a:endParaRPr lang="en-US"/>
        </a:p>
      </c:txPr>
    </c:legend>
    <c:plotVisOnly val="1"/>
    <c:dispBlanksAs val="zero"/>
    <c:showDLblsOverMax val="1"/>
  </c:chart>
  <c:spPr>
    <a:solidFill>
      <a:srgbClr val="FFFFFF"/>
    </a:solidFill>
    <a:ln w="0">
      <a:solidFill>
        <a:srgbClr val="FFFFFF"/>
      </a:solidFill>
      <a:prstDash val="solid"/>
    </a:ln>
  </c:spPr>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v>Records</c:v>
          </c:tx>
          <c:spPr>
            <a:solidFill>
              <a:srgbClr val="F2C811"/>
            </a:solidFill>
          </c:spPr>
          <c:invertIfNegative val="1"/>
          <c:dLbls>
            <c:spPr>
              <a:noFill/>
              <a:ln>
                <a:noFill/>
              </a:ln>
              <a:effectLst/>
            </c:spPr>
            <c:txPr>
              <a:bodyPr anchorCtr="1"/>
              <a:lstStyle/>
              <a:p>
                <a:pPr>
                  <a:defRPr sz="900" b="1">
                    <a:solidFill>
                      <a:srgbClr val="111111"/>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5"/>
              <c:pt idx="0">
                <c:v>Reversed dates</c:v>
              </c:pt>
              <c:pt idx="1">
                <c:v>Late returns</c:v>
              </c:pt>
              <c:pt idx="2">
                <c:v>Invalid date</c:v>
              </c:pt>
              <c:pt idx="3">
                <c:v>Blank title</c:v>
              </c:pt>
              <c:pt idx="4">
                <c:v>Missing ID</c:v>
              </c:pt>
            </c:strLit>
          </c:cat>
          <c:val>
            <c:numLit>
              <c:formatCode>General</c:formatCode>
              <c:ptCount val="5"/>
              <c:pt idx="0">
                <c:v>6</c:v>
              </c:pt>
              <c:pt idx="1">
                <c:v>5</c:v>
              </c:pt>
              <c:pt idx="2">
                <c:v>1</c:v>
              </c:pt>
              <c:pt idx="3">
                <c:v>1</c:v>
              </c:pt>
              <c:pt idx="4">
                <c:v>1</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D78B-46C4-8274-683AAE8B9E2B}"/>
            </c:ext>
          </c:extLst>
        </c:ser>
        <c:dLbls>
          <c:dLblPos val="outEnd"/>
          <c:showLegendKey val="0"/>
          <c:showVal val="1"/>
          <c:showCatName val="0"/>
          <c:showSerName val="0"/>
          <c:showPercent val="0"/>
          <c:showBubbleSize val="0"/>
        </c:dLbls>
        <c:gapWidth val="52"/>
        <c:axId val="48650112"/>
        <c:axId val="48672768"/>
      </c:barChart>
      <c:catAx>
        <c:axId val="48650112"/>
        <c:scaling>
          <c:orientation val="minMax"/>
        </c:scaling>
        <c:delete val="0"/>
        <c:axPos val="l"/>
        <c:majorGridlines>
          <c:spPr>
            <a:ln w="9525">
              <a:solidFill>
                <a:srgbClr val="E7E9EC"/>
              </a:solidFill>
              <a:prstDash val="solid"/>
            </a:ln>
          </c:spPr>
        </c:majorGridlines>
        <c:numFmt formatCode="General" sourceLinked="1"/>
        <c:majorTickMark val="none"/>
        <c:minorTickMark val="none"/>
        <c:tickLblPos val="nextTo"/>
        <c:spPr>
          <a:ln w="9525">
            <a:solidFill>
              <a:srgbClr val="B8BCC4"/>
            </a:solidFill>
            <a:prstDash val="solid"/>
          </a:ln>
        </c:spPr>
        <c:txPr>
          <a:bodyPr anchorCtr="1"/>
          <a:lstStyle/>
          <a:p>
            <a:pPr>
              <a:defRPr sz="825">
                <a:solidFill>
                  <a:srgbClr val="5F6368"/>
                </a:solidFill>
              </a:defRPr>
            </a:pPr>
            <a:endParaRPr lang="en-US"/>
          </a:p>
        </c:txPr>
        <c:crossAx val="48672768"/>
        <c:crosses val="autoZero"/>
        <c:auto val="1"/>
        <c:lblAlgn val="ctr"/>
        <c:lblOffset val="100"/>
        <c:noMultiLvlLbl val="1"/>
      </c:catAx>
      <c:valAx>
        <c:axId val="48672768"/>
        <c:scaling>
          <c:orientation val="minMax"/>
        </c:scaling>
        <c:delete val="0"/>
        <c:axPos val="b"/>
        <c:numFmt formatCode="General" sourceLinked="1"/>
        <c:majorTickMark val="none"/>
        <c:minorTickMark val="none"/>
        <c:tickLblPos val="nextTo"/>
        <c:spPr>
          <a:ln w="0">
            <a:solidFill>
              <a:srgbClr val="FFFFFF"/>
            </a:solidFill>
            <a:prstDash val="solid"/>
          </a:ln>
        </c:spPr>
        <c:txPr>
          <a:bodyPr anchorCtr="1"/>
          <a:lstStyle/>
          <a:p>
            <a:pPr>
              <a:defRPr sz="900">
                <a:solidFill>
                  <a:srgbClr val="111111"/>
                </a:solidFill>
              </a:defRPr>
            </a:pPr>
            <a:endParaRPr lang="en-US"/>
          </a:p>
        </c:txPr>
        <c:crossAx val="48650112"/>
        <c:crosses val="autoZero"/>
        <c:crossBetween val="between"/>
      </c:valAx>
      <c:spPr>
        <a:noFill/>
        <a:ln w="0">
          <a:solidFill>
            <a:srgbClr val="FFFFFF"/>
          </a:solidFill>
          <a:prstDash val="solid"/>
        </a:ln>
      </c:spPr>
    </c:plotArea>
    <c:plotVisOnly val="1"/>
    <c:dispBlanksAs val="zero"/>
    <c:showDLblsOverMax val="1"/>
  </c:chart>
  <c:spPr>
    <a:solidFill>
      <a:srgbClr val="FFFFFF"/>
    </a:solidFill>
    <a:ln w="0">
      <a:solidFill>
        <a:srgbClr val="FFFFFF"/>
      </a:solidFill>
      <a:prstDash val="solid"/>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project as an evolution from a basic cleaning script into an observable data pipeline. Explain that the presentation uses the real run outputs and then shows how those metrics can be communicated in Power BI.</a:t>
            </a:r>
          </a:p>
          <a:p>
            <a:endParaRPr/>
          </a:p>
          <a:p>
            <a:r>
              <a:t>[Sources]</a:t>
            </a:r>
          </a:p>
          <a:p>
            <a:r>
              <a:t>- day2_notebook(2).py</a:t>
            </a:r>
          </a:p>
          <a:p>
            <a:r>
              <a:t>- data_engineering_metrics.csv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Contrast the original outcome with the refactored one. The main improvement is traceability: the pipeline now explains its own behaviour and retains warnings rather than silently hiding poor-quality records.</a:t>
            </a:r>
          </a:p>
          <a:p>
            <a:endParaRPr/>
          </a:p>
          <a:p>
            <a:r>
              <a:t>[Sources]</a:t>
            </a:r>
          </a:p>
          <a:p>
            <a:r>
              <a:t>- DAY2-Notebook.ipynb</a:t>
            </a:r>
          </a:p>
          <a:p>
            <a:r>
              <a:t>- day2_notebook(2).py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left to right. The same run now creates clean books and customers files plus a separate engineering metrics file. Power BI connects to the metrics file, while the clean datasets remain available for analysis or SQL loading.</a:t>
            </a:r>
          </a:p>
          <a:p>
            <a:endParaRPr/>
          </a:p>
          <a:p>
            <a:r>
              <a:t>[Sources]</a:t>
            </a:r>
          </a:p>
          <a:p>
            <a:r>
              <a:t>- 03_Library Systembook(1).csv</a:t>
            </a:r>
          </a:p>
          <a:p>
            <a:r>
              <a:t>- 03_Library SystemCustomers(1).csv</a:t>
            </a:r>
          </a:p>
          <a:p>
            <a:r>
              <a:t>- day2_notebook(2).py</a:t>
            </a:r>
          </a:p>
          <a:p>
            <a:r>
              <a:t>- Clean_Data outputs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that the code was split into reusable functions. Each transformation is passed through a metrics wrapper, allowing the same before-and-after profile to be applied consistently across books and customers.</a:t>
            </a:r>
          </a:p>
          <a:p>
            <a:endParaRPr/>
          </a:p>
          <a:p>
            <a:r>
              <a:t>[Sources]</a:t>
            </a:r>
          </a:p>
          <a:p>
            <a:r>
              <a:t>- day2_notebook(2).py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Describe the difference between cleansing and hiding. Empty rows are removed because they contain no information. Records with suspicious dates or missing business fields are retained and flagged so that a stakeholder can decide what corrective action is appropriate.</a:t>
            </a:r>
          </a:p>
          <a:p>
            <a:endParaRPr/>
          </a:p>
          <a:p>
            <a:r>
              <a:t>[Sources]</a:t>
            </a:r>
          </a:p>
          <a:p>
            <a:r>
              <a:t>- day2_notebook(2).py</a:t>
            </a:r>
          </a:p>
          <a:p>
            <a:r>
              <a:t>- library_books_clean.csv</a:t>
            </a:r>
          </a:p>
          <a:p>
            <a:r>
              <a:t>- library_customers_clean.csv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this slide to establish the observability outcome. Twenty rows represent the processing events across both datasets. The 38 columns cover traceability, volume, data quality, performance and lineage. Do not treat the local timing as a production benchmark.</a:t>
            </a:r>
          </a:p>
          <a:p>
            <a:endParaRPr/>
          </a:p>
          <a:p>
            <a:r>
              <a:t>[Sources]</a:t>
            </a:r>
          </a:p>
          <a:p>
            <a:r>
              <a:t>- data_engineering_metrics.csv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large book reduction is not arbitrary deletion. Ninety-three of the 114 rows were completely blank. The customer file contained one completely blank row. This distinction is important when presenting data quality activity to stakeholders.</a:t>
            </a:r>
          </a:p>
          <a:p>
            <a:endParaRPr/>
          </a:p>
          <a:p>
            <a:r>
              <a:t>[Sources]</a:t>
            </a:r>
          </a:p>
          <a:p>
            <a:r>
              <a:t>- 03_Library Systembook(1).csv</a:t>
            </a:r>
          </a:p>
          <a:p>
            <a:r>
              <a:t>- 03_Library SystemCustomers(1).csv</a:t>
            </a:r>
          </a:p>
          <a:p>
            <a:r>
              <a:t>- data_engineering_metrics.csv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Clarify the two lenses. Reversed or unparseable dates, missing titles and missing customer IDs are data-quality exceptions. Late returns are a useful business outcome created by the enrichment. The books validation is therefore warning, while customers pass.</a:t>
            </a:r>
          </a:p>
          <a:p>
            <a:endParaRPr/>
          </a:p>
          <a:p>
            <a:r>
              <a:t>[Sources]</a:t>
            </a:r>
          </a:p>
          <a:p>
            <a:r>
              <a:t>- library_books_clean.csv</a:t>
            </a:r>
          </a:p>
          <a:p>
            <a:r>
              <a:t>- data_engineering_metrics.csv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the five metric families to explain the CSV schema without reading all 38 fields. The structure supports operational questions: what ran, what changed, whether quality improved, what needs attention and how long each step took.</a:t>
            </a:r>
          </a:p>
          <a:p>
            <a:endParaRPr/>
          </a:p>
          <a:p>
            <a:r>
              <a:t>[Sources]</a:t>
            </a:r>
          </a:p>
          <a:p>
            <a:r>
              <a:t>- data_engineering_metrics.csv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 this as the proposed Power BI landing page. Start with the KPI row, then explain the raw-to-clean reduction and finally move to exceptions. Use the run and dataset filters to avoid combining different executions when historical data grows.</a:t>
            </a:r>
          </a:p>
          <a:p>
            <a:endParaRPr/>
          </a:p>
          <a:p>
            <a:r>
              <a:t>[Sources]</a:t>
            </a:r>
          </a:p>
          <a:p>
            <a:r>
              <a:t>- data_engineering_metrics.csv</a:t>
            </a:r>
          </a:p>
          <a:p>
            <a:r>
              <a:t>- library_books_clean.csv</a:t>
            </a:r>
          </a:p>
          <a:p>
            <a:r>
              <a:t>- library_customers_clean.csv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this order when speaking over the dashboard. First establish the selected run, then quantify the transformation, and only then explain exceptions. This prevents a warning from being mistaken for a failed pipeline.</a:t>
            </a:r>
          </a:p>
          <a:p>
            <a:endParaRPr/>
          </a:p>
          <a:p>
            <a:r>
              <a:t>[Sources]</a:t>
            </a:r>
          </a:p>
          <a:p>
            <a:r>
              <a:t>- data_engineering_metrics.csv</a:t>
            </a:r>
          </a:p>
          <a:p>
            <a:r>
              <a:t>- README.md Power BI measures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by returning to the original objective: the project no longer produces unexplained files. It creates evidence that can be tested, compared over time and presented. Invite questions on the code, metrics definitions or Power BI design.</a:t>
            </a:r>
          </a:p>
          <a:p>
            <a:endParaRPr/>
          </a:p>
          <a:p>
            <a:r>
              <a:t>[Sources]</a:t>
            </a:r>
          </a:p>
          <a:p>
            <a:r>
              <a:t>- day2_notebook(2).py</a:t>
            </a:r>
          </a:p>
          <a:p>
            <a:r>
              <a:t>- data_engineering_metrics.csv</a:t>
            </a:r>
          </a:p>
          <a:p>
            <a:r>
              <a:t>- Clean_Data outputs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chart" Target="../charts/char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shape-0-0">
            <a:extLst>
              <a:ext uri="{FF2B5EF4-FFF2-40B4-BE49-F238E27FC236}">
                <a16:creationId xmlns:a16="http://schemas.microsoft.com/office/drawing/2014/main" id="{B23DF636-6FC7-49BD-8D2D-A729A00D2BD0}"/>
              </a:ext>
            </a:extLst>
          </p:cNvPr>
          <p:cNvSpPr>
            <a:spLocks noGrp="1"/>
          </p:cNvSpPr>
          <p:nvPr/>
        </p:nvSpPr>
        <p:spPr>
          <a:xfrm>
            <a:off x="0" y="0"/>
            <a:ext cx="171450" cy="6858000"/>
          </a:xfrm>
          <a:prstGeom prst="rect">
            <a:avLst/>
          </a:prstGeom>
          <a:solidFill>
            <a:srgbClr val="F2C811"/>
          </a:solidFill>
          <a:ln w="0">
            <a:solidFill>
              <a:srgbClr val="F2C811"/>
            </a:solidFill>
            <a:prstDash val="solid"/>
          </a:ln>
        </p:spPr>
        <p:txBody>
          <a:bodyPr/>
          <a:lstStyle/>
          <a:p>
            <a:endParaRPr lang="en-GB"/>
          </a:p>
        </p:txBody>
      </p:sp>
      <p:sp>
        <p:nvSpPr>
          <p:cNvPr id="2" name="text-58-52">
            <a:extLst>
              <a:ext uri="{FF2B5EF4-FFF2-40B4-BE49-F238E27FC236}">
                <a16:creationId xmlns:a16="http://schemas.microsoft.com/office/drawing/2014/main" id="{809D4AF2-B223-49D6-8529-8477926F042E}"/>
              </a:ext>
            </a:extLst>
          </p:cNvPr>
          <p:cNvSpPr>
            <a:spLocks noGrp="1"/>
          </p:cNvSpPr>
          <p:nvPr/>
        </p:nvSpPr>
        <p:spPr>
          <a:xfrm>
            <a:off x="552450" y="495300"/>
            <a:ext cx="5334000" cy="266700"/>
          </a:xfrm>
          <a:prstGeom prst="rect">
            <a:avLst/>
          </a:prstGeom>
          <a:noFill/>
          <a:ln w="0">
            <a:noFill/>
            <a:prstDash val="solid"/>
          </a:ln>
        </p:spPr>
        <p:txBody>
          <a:bodyPr anchor="t"/>
          <a:lstStyle/>
          <a:p>
            <a:pPr algn="l">
              <a:defRPr sz="1200" b="1">
                <a:solidFill>
                  <a:srgbClr val="3D8DFF"/>
                </a:solidFill>
                <a:latin typeface="Arial"/>
                <a:ea typeface="Arial"/>
                <a:cs typeface="Arial"/>
              </a:defRPr>
            </a:pPr>
            <a:r>
              <a:rPr sz="1200" b="1">
                <a:solidFill>
                  <a:srgbClr val="3D8DFF"/>
                </a:solidFill>
                <a:latin typeface="Arial"/>
                <a:ea typeface="Arial"/>
                <a:cs typeface="Arial"/>
              </a:rPr>
              <a:t>LEVEL 5 DATA ENGINEERING PROJECT</a:t>
            </a:r>
          </a:p>
        </p:txBody>
      </p:sp>
      <p:sp>
        <p:nvSpPr>
          <p:cNvPr id="3" name="text-58-230">
            <a:extLst>
              <a:ext uri="{FF2B5EF4-FFF2-40B4-BE49-F238E27FC236}">
                <a16:creationId xmlns:a16="http://schemas.microsoft.com/office/drawing/2014/main" id="{18AA9F7C-6E84-4A5B-8F77-160E28E15BC6}"/>
              </a:ext>
            </a:extLst>
          </p:cNvPr>
          <p:cNvSpPr>
            <a:spLocks noGrp="1"/>
          </p:cNvSpPr>
          <p:nvPr/>
        </p:nvSpPr>
        <p:spPr>
          <a:xfrm>
            <a:off x="552450" y="2190750"/>
            <a:ext cx="8286750" cy="2000250"/>
          </a:xfrm>
          <a:prstGeom prst="rect">
            <a:avLst/>
          </a:prstGeom>
          <a:noFill/>
          <a:ln w="0">
            <a:noFill/>
            <a:prstDash val="solid"/>
          </a:ln>
        </p:spPr>
        <p:txBody>
          <a:bodyPr anchor="b"/>
          <a:lstStyle/>
          <a:p>
            <a:pPr algn="l">
              <a:defRPr sz="4650" b="1">
                <a:solidFill>
                  <a:srgbClr val="111111"/>
                </a:solidFill>
                <a:latin typeface="Arial"/>
                <a:ea typeface="Arial"/>
                <a:cs typeface="Arial"/>
              </a:defRPr>
            </a:pPr>
            <a:r>
              <a:rPr sz="4650" b="1">
                <a:solidFill>
                  <a:srgbClr val="111111"/>
                </a:solidFill>
                <a:latin typeface="Arial"/>
                <a:ea typeface="Arial"/>
                <a:cs typeface="Arial"/>
              </a:rPr>
              <a:t>Data cleaning that</a:t>
            </a:r>
          </a:p>
          <a:p>
            <a:pPr algn="l">
              <a:defRPr sz="4650" b="1">
                <a:solidFill>
                  <a:srgbClr val="111111"/>
                </a:solidFill>
                <a:latin typeface="Arial"/>
                <a:ea typeface="Arial"/>
                <a:cs typeface="Arial"/>
              </a:defRPr>
            </a:pPr>
            <a:r>
              <a:rPr sz="4650" b="1">
                <a:solidFill>
                  <a:srgbClr val="111111"/>
                </a:solidFill>
                <a:latin typeface="Arial"/>
                <a:ea typeface="Arial"/>
                <a:cs typeface="Arial"/>
              </a:rPr>
              <a:t>proves what changed</a:t>
            </a:r>
          </a:p>
        </p:txBody>
      </p:sp>
      <p:sp>
        <p:nvSpPr>
          <p:cNvPr id="4" name="text-58-470">
            <a:extLst>
              <a:ext uri="{FF2B5EF4-FFF2-40B4-BE49-F238E27FC236}">
                <a16:creationId xmlns:a16="http://schemas.microsoft.com/office/drawing/2014/main" id="{CA1D7AD7-EDFA-41B4-9D2B-A8F6BF615102}"/>
              </a:ext>
            </a:extLst>
          </p:cNvPr>
          <p:cNvSpPr>
            <a:spLocks noGrp="1"/>
          </p:cNvSpPr>
          <p:nvPr/>
        </p:nvSpPr>
        <p:spPr>
          <a:xfrm>
            <a:off x="552450" y="4476750"/>
            <a:ext cx="8286750" cy="419100"/>
          </a:xfrm>
          <a:prstGeom prst="rect">
            <a:avLst/>
          </a:prstGeom>
          <a:noFill/>
          <a:ln w="0">
            <a:noFill/>
            <a:prstDash val="solid"/>
          </a:ln>
        </p:spPr>
        <p:txBody>
          <a:bodyPr anchor="t"/>
          <a:lstStyle/>
          <a:p>
            <a:pPr algn="l">
              <a:defRPr sz="1950" b="0">
                <a:solidFill>
                  <a:srgbClr val="5F6368"/>
                </a:solidFill>
                <a:latin typeface="Arial"/>
                <a:ea typeface="Arial"/>
                <a:cs typeface="Arial"/>
              </a:defRPr>
            </a:pPr>
            <a:r>
              <a:rPr sz="1950" b="0">
                <a:solidFill>
                  <a:srgbClr val="5F6368"/>
                </a:solidFill>
                <a:latin typeface="Arial"/>
                <a:ea typeface="Arial"/>
                <a:cs typeface="Arial"/>
              </a:rPr>
              <a:t>Python pipeline metrics and Power BI presentation</a:t>
            </a:r>
          </a:p>
        </p:txBody>
      </p:sp>
      <p:sp>
        <p:nvSpPr>
          <p:cNvPr id="5" name="rule-560">
            <a:extLst>
              <a:ext uri="{FF2B5EF4-FFF2-40B4-BE49-F238E27FC236}">
                <a16:creationId xmlns:a16="http://schemas.microsoft.com/office/drawing/2014/main" id="{EED256E8-D5CE-4A1A-A002-6C323A4C6991}"/>
              </a:ext>
            </a:extLst>
          </p:cNvPr>
          <p:cNvSpPr>
            <a:spLocks noGrp="1"/>
          </p:cNvSpPr>
          <p:nvPr/>
        </p:nvSpPr>
        <p:spPr>
          <a:xfrm>
            <a:off x="552450" y="5334000"/>
            <a:ext cx="4953000" cy="19050"/>
          </a:xfrm>
          <a:prstGeom prst="rect">
            <a:avLst/>
          </a:prstGeom>
          <a:solidFill>
            <a:srgbClr val="111111"/>
          </a:solidFill>
          <a:ln w="0">
            <a:solidFill>
              <a:srgbClr val="111111"/>
            </a:solidFill>
            <a:prstDash val="solid"/>
          </a:ln>
        </p:spPr>
        <p:txBody>
          <a:bodyPr/>
          <a:lstStyle/>
          <a:p>
            <a:endParaRPr lang="en-GB"/>
          </a:p>
        </p:txBody>
      </p:sp>
      <p:sp>
        <p:nvSpPr>
          <p:cNvPr id="6" name="text-58-580">
            <a:extLst>
              <a:ext uri="{FF2B5EF4-FFF2-40B4-BE49-F238E27FC236}">
                <a16:creationId xmlns:a16="http://schemas.microsoft.com/office/drawing/2014/main" id="{A08B6B5F-830D-4C61-81C3-7814CF913B58}"/>
              </a:ext>
            </a:extLst>
          </p:cNvPr>
          <p:cNvSpPr>
            <a:spLocks noGrp="1"/>
          </p:cNvSpPr>
          <p:nvPr/>
        </p:nvSpPr>
        <p:spPr>
          <a:xfrm>
            <a:off x="552450" y="5524500"/>
            <a:ext cx="6191250" cy="323850"/>
          </a:xfrm>
          <a:prstGeom prst="rect">
            <a:avLst/>
          </a:prstGeom>
          <a:noFill/>
          <a:ln w="0">
            <a:noFill/>
            <a:prstDash val="solid"/>
          </a:ln>
        </p:spPr>
        <p:txBody>
          <a:bodyPr anchor="t"/>
          <a:lstStyle/>
          <a:p>
            <a:pPr algn="l">
              <a:defRPr sz="1350" b="0">
                <a:solidFill>
                  <a:srgbClr val="5F6368"/>
                </a:solidFill>
                <a:latin typeface="Arial"/>
                <a:ea typeface="Arial"/>
                <a:cs typeface="Arial"/>
              </a:defRPr>
            </a:pPr>
            <a:r>
              <a:rPr sz="1350" b="0" dirty="0">
                <a:solidFill>
                  <a:srgbClr val="5F6368"/>
                </a:solidFill>
                <a:latin typeface="Arial"/>
                <a:ea typeface="Arial"/>
                <a:cs typeface="Arial"/>
              </a:rPr>
              <a:t>Valdemar Teixeira  |  Day </a:t>
            </a:r>
            <a:r>
              <a:rPr lang="en-GB" sz="1350" b="0" dirty="0">
                <a:solidFill>
                  <a:srgbClr val="5F6368"/>
                </a:solidFill>
                <a:latin typeface="Arial"/>
                <a:ea typeface="Arial"/>
                <a:cs typeface="Arial"/>
              </a:rPr>
              <a:t>4</a:t>
            </a:r>
            <a:r>
              <a:rPr sz="1350" b="0" dirty="0">
                <a:solidFill>
                  <a:srgbClr val="5F6368"/>
                </a:solidFill>
                <a:latin typeface="Arial"/>
                <a:ea typeface="Arial"/>
                <a:cs typeface="Arial"/>
              </a:rPr>
              <a:t> project</a:t>
            </a:r>
          </a:p>
        </p:txBody>
      </p:sp>
      <p:sp>
        <p:nvSpPr>
          <p:cNvPr id="7" name="text-760-653">
            <a:extLst>
              <a:ext uri="{FF2B5EF4-FFF2-40B4-BE49-F238E27FC236}">
                <a16:creationId xmlns:a16="http://schemas.microsoft.com/office/drawing/2014/main" id="{1CDE260E-D3EB-4793-AC1B-C28CC3B801EC}"/>
              </a:ext>
            </a:extLst>
          </p:cNvPr>
          <p:cNvSpPr>
            <a:spLocks noGrp="1"/>
          </p:cNvSpPr>
          <p:nvPr/>
        </p:nvSpPr>
        <p:spPr>
          <a:xfrm>
            <a:off x="7239000" y="6219825"/>
            <a:ext cx="4400550" cy="228600"/>
          </a:xfrm>
          <a:prstGeom prst="rect">
            <a:avLst/>
          </a:prstGeom>
          <a:noFill/>
          <a:ln w="0">
            <a:noFill/>
            <a:prstDash val="solid"/>
          </a:ln>
        </p:spPr>
        <p:txBody>
          <a:bodyPr anchor="t"/>
          <a:lstStyle/>
          <a:p>
            <a:pPr algn="r">
              <a:defRPr sz="975" b="1">
                <a:solidFill>
                  <a:srgbClr val="111111"/>
                </a:solidFill>
                <a:latin typeface="Arial"/>
                <a:ea typeface="Arial"/>
                <a:cs typeface="Arial"/>
              </a:defRPr>
            </a:pPr>
            <a:r>
              <a:rPr sz="975" b="1">
                <a:solidFill>
                  <a:srgbClr val="111111"/>
                </a:solidFill>
                <a:latin typeface="Arial"/>
                <a:ea typeface="Arial"/>
                <a:cs typeface="Arial"/>
              </a:rPr>
              <a:t>PYTHON  •  DATA QUALITY  •  OBSERVABILITY  •  POWER BI</a:t>
            </a:r>
          </a:p>
        </p:txBody>
      </p:sp>
    </p:spTree>
    <p:extLst>
      <p:ext uri="{BB962C8B-B14F-4D97-AF65-F5344CB8AC3E}">
        <p14:creationId xmlns:p14="http://schemas.microsoft.com/office/powerpoint/2010/main" val="19873015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eyebrow">
            <a:extLst>
              <a:ext uri="{FF2B5EF4-FFF2-40B4-BE49-F238E27FC236}">
                <a16:creationId xmlns:a16="http://schemas.microsoft.com/office/drawing/2014/main" id="{A273FDC7-8CFD-4B8F-98CA-69E0845DF555}"/>
              </a:ext>
            </a:extLst>
          </p:cNvPr>
          <p:cNvSpPr>
            <a:spLocks noGrp="1"/>
          </p:cNvSpPr>
          <p:nvPr/>
        </p:nvSpPr>
        <p:spPr>
          <a:xfrm>
            <a:off x="533400" y="323850"/>
            <a:ext cx="4762500" cy="228600"/>
          </a:xfrm>
          <a:prstGeom prst="rect">
            <a:avLst/>
          </a:prstGeom>
          <a:noFill/>
          <a:ln w="0">
            <a:noFill/>
            <a:prstDash val="solid"/>
          </a:ln>
        </p:spPr>
        <p:txBody>
          <a:bodyPr anchor="t"/>
          <a:lstStyle/>
          <a:p>
            <a:pPr algn="l">
              <a:defRPr sz="1050" b="1">
                <a:solidFill>
                  <a:srgbClr val="3D8DFF"/>
                </a:solidFill>
                <a:latin typeface="Arial"/>
                <a:ea typeface="Arial"/>
                <a:cs typeface="Arial"/>
              </a:defRPr>
            </a:pPr>
            <a:r>
              <a:rPr sz="1050" b="1">
                <a:solidFill>
                  <a:srgbClr val="3D8DFF"/>
                </a:solidFill>
                <a:latin typeface="Arial"/>
                <a:ea typeface="Arial"/>
                <a:cs typeface="Arial"/>
              </a:rPr>
              <a:t>DATA ENGINEERING METRICS</a:t>
            </a:r>
          </a:p>
        </p:txBody>
      </p:sp>
      <p:sp>
        <p:nvSpPr>
          <p:cNvPr id="2" name="slide-title">
            <a:extLst>
              <a:ext uri="{FF2B5EF4-FFF2-40B4-BE49-F238E27FC236}">
                <a16:creationId xmlns:a16="http://schemas.microsoft.com/office/drawing/2014/main" id="{E50D1465-D2DD-4B56-B6EC-551BCF0E9951}"/>
              </a:ext>
            </a:extLst>
          </p:cNvPr>
          <p:cNvSpPr>
            <a:spLocks noGrp="1"/>
          </p:cNvSpPr>
          <p:nvPr/>
        </p:nvSpPr>
        <p:spPr>
          <a:xfrm>
            <a:off x="533400" y="628650"/>
            <a:ext cx="11125200" cy="685800"/>
          </a:xfrm>
          <a:prstGeom prst="rect">
            <a:avLst/>
          </a:prstGeom>
          <a:noFill/>
          <a:ln w="0">
            <a:noFill/>
            <a:prstDash val="solid"/>
          </a:ln>
        </p:spPr>
        <p:txBody>
          <a:bodyPr anchor="t"/>
          <a:lstStyle/>
          <a:p>
            <a:pPr algn="l">
              <a:defRPr sz="2850" b="1">
                <a:solidFill>
                  <a:srgbClr val="111111"/>
                </a:solidFill>
                <a:latin typeface="Arial"/>
                <a:ea typeface="Arial"/>
                <a:cs typeface="Arial"/>
              </a:defRPr>
            </a:pPr>
            <a:r>
              <a:rPr sz="2850" b="1">
                <a:solidFill>
                  <a:srgbClr val="111111"/>
                </a:solidFill>
                <a:latin typeface="Arial"/>
                <a:ea typeface="Arial"/>
                <a:cs typeface="Arial"/>
              </a:rPr>
              <a:t>The final pipeline proves what changed—not just what it saved</a:t>
            </a:r>
          </a:p>
        </p:txBody>
      </p:sp>
      <p:sp>
        <p:nvSpPr>
          <p:cNvPr id="3" name="rule-143">
            <a:extLst>
              <a:ext uri="{FF2B5EF4-FFF2-40B4-BE49-F238E27FC236}">
                <a16:creationId xmlns:a16="http://schemas.microsoft.com/office/drawing/2014/main" id="{C46FB49A-D2F8-4429-8915-DEA8B9AAB47A}"/>
              </a:ext>
            </a:extLst>
          </p:cNvPr>
          <p:cNvSpPr>
            <a:spLocks noGrp="1"/>
          </p:cNvSpPr>
          <p:nvPr/>
        </p:nvSpPr>
        <p:spPr>
          <a:xfrm>
            <a:off x="533400" y="1362075"/>
            <a:ext cx="11125200" cy="9525"/>
          </a:xfrm>
          <a:prstGeom prst="rect">
            <a:avLst/>
          </a:prstGeom>
          <a:solidFill>
            <a:srgbClr val="B8BCC4"/>
          </a:solidFill>
          <a:ln w="0">
            <a:solidFill>
              <a:srgbClr val="B8BCC4"/>
            </a:solidFill>
            <a:prstDash val="solid"/>
          </a:ln>
        </p:spPr>
        <p:txBody>
          <a:bodyPr/>
          <a:lstStyle/>
          <a:p>
            <a:endParaRPr lang="en-GB"/>
          </a:p>
        </p:txBody>
      </p:sp>
      <p:sp>
        <p:nvSpPr>
          <p:cNvPr id="4" name="slide-number">
            <a:extLst>
              <a:ext uri="{FF2B5EF4-FFF2-40B4-BE49-F238E27FC236}">
                <a16:creationId xmlns:a16="http://schemas.microsoft.com/office/drawing/2014/main" id="{BD6EF9E9-A374-4C2F-B1A0-459038FAC829}"/>
              </a:ext>
            </a:extLst>
          </p:cNvPr>
          <p:cNvSpPr>
            <a:spLocks noGrp="1"/>
          </p:cNvSpPr>
          <p:nvPr/>
        </p:nvSpPr>
        <p:spPr>
          <a:xfrm>
            <a:off x="11144250" y="6381750"/>
            <a:ext cx="514350" cy="209550"/>
          </a:xfrm>
          <a:prstGeom prst="rect">
            <a:avLst/>
          </a:prstGeom>
          <a:noFill/>
          <a:ln w="0">
            <a:noFill/>
            <a:prstDash val="solid"/>
          </a:ln>
        </p:spPr>
        <p:txBody>
          <a:bodyPr anchor="t"/>
          <a:lstStyle/>
          <a:p>
            <a:pPr algn="r">
              <a:defRPr sz="975" b="0">
                <a:solidFill>
                  <a:srgbClr val="5F6368"/>
                </a:solidFill>
                <a:latin typeface="Arial"/>
                <a:ea typeface="Arial"/>
                <a:cs typeface="Arial"/>
              </a:defRPr>
            </a:pPr>
            <a:r>
              <a:rPr sz="975" b="0">
                <a:solidFill>
                  <a:srgbClr val="5F6368"/>
                </a:solidFill>
                <a:latin typeface="Arial"/>
                <a:ea typeface="Arial"/>
                <a:cs typeface="Arial"/>
              </a:rPr>
              <a:t>02</a:t>
            </a:r>
          </a:p>
        </p:txBody>
      </p:sp>
      <p:sp>
        <p:nvSpPr>
          <p:cNvPr id="5" name="text-58-190">
            <a:extLst>
              <a:ext uri="{FF2B5EF4-FFF2-40B4-BE49-F238E27FC236}">
                <a16:creationId xmlns:a16="http://schemas.microsoft.com/office/drawing/2014/main" id="{AE055D62-CC14-47AC-A629-C0B019A8DB03}"/>
              </a:ext>
            </a:extLst>
          </p:cNvPr>
          <p:cNvSpPr>
            <a:spLocks noGrp="1"/>
          </p:cNvSpPr>
          <p:nvPr/>
        </p:nvSpPr>
        <p:spPr>
          <a:xfrm>
            <a:off x="552450" y="1809750"/>
            <a:ext cx="4572000" cy="342900"/>
          </a:xfrm>
          <a:prstGeom prst="rect">
            <a:avLst/>
          </a:prstGeom>
          <a:noFill/>
          <a:ln w="0">
            <a:noFill/>
            <a:prstDash val="solid"/>
          </a:ln>
        </p:spPr>
        <p:txBody>
          <a:bodyPr anchor="t"/>
          <a:lstStyle/>
          <a:p>
            <a:pPr algn="l">
              <a:defRPr sz="1650" b="1">
                <a:solidFill>
                  <a:srgbClr val="5F6368"/>
                </a:solidFill>
                <a:latin typeface="Arial"/>
                <a:ea typeface="Arial"/>
                <a:cs typeface="Arial"/>
              </a:defRPr>
            </a:pPr>
            <a:r>
              <a:rPr sz="1650" b="1">
                <a:solidFill>
                  <a:srgbClr val="5F6368"/>
                </a:solidFill>
                <a:latin typeface="Arial"/>
                <a:ea typeface="Arial"/>
                <a:cs typeface="Arial"/>
              </a:rPr>
              <a:t>BEFORE</a:t>
            </a:r>
          </a:p>
        </p:txBody>
      </p:sp>
      <p:sp>
        <p:nvSpPr>
          <p:cNvPr id="6" name="text-700-190">
            <a:extLst>
              <a:ext uri="{FF2B5EF4-FFF2-40B4-BE49-F238E27FC236}">
                <a16:creationId xmlns:a16="http://schemas.microsoft.com/office/drawing/2014/main" id="{F5DFCCCF-A6F2-4033-83B3-47C12C12D38E}"/>
              </a:ext>
            </a:extLst>
          </p:cNvPr>
          <p:cNvSpPr>
            <a:spLocks noGrp="1"/>
          </p:cNvSpPr>
          <p:nvPr/>
        </p:nvSpPr>
        <p:spPr>
          <a:xfrm>
            <a:off x="6667500" y="1809750"/>
            <a:ext cx="4572000" cy="342900"/>
          </a:xfrm>
          <a:prstGeom prst="rect">
            <a:avLst/>
          </a:prstGeom>
          <a:noFill/>
          <a:ln w="0">
            <a:noFill/>
            <a:prstDash val="solid"/>
          </a:ln>
        </p:spPr>
        <p:txBody>
          <a:bodyPr anchor="t"/>
          <a:lstStyle/>
          <a:p>
            <a:pPr algn="l">
              <a:defRPr sz="1650" b="1">
                <a:solidFill>
                  <a:srgbClr val="3D8DFF"/>
                </a:solidFill>
                <a:latin typeface="Arial"/>
                <a:ea typeface="Arial"/>
                <a:cs typeface="Arial"/>
              </a:defRPr>
            </a:pPr>
            <a:r>
              <a:rPr sz="1650" b="1">
                <a:solidFill>
                  <a:srgbClr val="3D8DFF"/>
                </a:solidFill>
                <a:latin typeface="Arial"/>
                <a:ea typeface="Arial"/>
                <a:cs typeface="Arial"/>
              </a:rPr>
              <a:t>AFTER THE REFACTOR</a:t>
            </a:r>
          </a:p>
        </p:txBody>
      </p:sp>
      <p:sp>
        <p:nvSpPr>
          <p:cNvPr id="7" name="rule-180">
            <a:extLst>
              <a:ext uri="{FF2B5EF4-FFF2-40B4-BE49-F238E27FC236}">
                <a16:creationId xmlns:a16="http://schemas.microsoft.com/office/drawing/2014/main" id="{5AC8FA80-6115-4ACF-9E61-7B55F34F6CD7}"/>
              </a:ext>
            </a:extLst>
          </p:cNvPr>
          <p:cNvSpPr>
            <a:spLocks noGrp="1"/>
          </p:cNvSpPr>
          <p:nvPr/>
        </p:nvSpPr>
        <p:spPr>
          <a:xfrm>
            <a:off x="6096000" y="1714500"/>
            <a:ext cx="19050" cy="3905250"/>
          </a:xfrm>
          <a:prstGeom prst="rect">
            <a:avLst/>
          </a:prstGeom>
          <a:solidFill>
            <a:srgbClr val="B8BCC4"/>
          </a:solidFill>
          <a:ln w="0">
            <a:solidFill>
              <a:srgbClr val="B8BCC4"/>
            </a:solidFill>
            <a:prstDash val="solid"/>
          </a:ln>
        </p:spPr>
        <p:txBody>
          <a:bodyPr/>
          <a:lstStyle/>
          <a:p>
            <a:endParaRPr lang="en-GB"/>
          </a:p>
        </p:txBody>
      </p:sp>
      <p:sp>
        <p:nvSpPr>
          <p:cNvPr id="8" name="text-58-248">
            <a:extLst>
              <a:ext uri="{FF2B5EF4-FFF2-40B4-BE49-F238E27FC236}">
                <a16:creationId xmlns:a16="http://schemas.microsoft.com/office/drawing/2014/main" id="{475C40AB-76B5-4BD0-A972-831F37563A32}"/>
              </a:ext>
            </a:extLst>
          </p:cNvPr>
          <p:cNvSpPr>
            <a:spLocks noGrp="1"/>
          </p:cNvSpPr>
          <p:nvPr/>
        </p:nvSpPr>
        <p:spPr>
          <a:xfrm>
            <a:off x="552450" y="2362200"/>
            <a:ext cx="4572000" cy="476250"/>
          </a:xfrm>
          <a:prstGeom prst="rect">
            <a:avLst/>
          </a:prstGeom>
          <a:noFill/>
          <a:ln w="0">
            <a:noFill/>
            <a:prstDash val="solid"/>
          </a:ln>
        </p:spPr>
        <p:txBody>
          <a:bodyPr anchor="t"/>
          <a:lstStyle/>
          <a:p>
            <a:pPr algn="l">
              <a:defRPr sz="2325" b="1">
                <a:solidFill>
                  <a:srgbClr val="111111"/>
                </a:solidFill>
                <a:latin typeface="Arial"/>
                <a:ea typeface="Arial"/>
                <a:cs typeface="Arial"/>
              </a:defRPr>
            </a:pPr>
            <a:r>
              <a:rPr sz="2325" b="1">
                <a:solidFill>
                  <a:srgbClr val="111111"/>
                </a:solidFill>
                <a:latin typeface="Arial"/>
                <a:ea typeface="Arial"/>
                <a:cs typeface="Arial"/>
              </a:rPr>
              <a:t>Two clean CSV outputs</a:t>
            </a:r>
          </a:p>
        </p:txBody>
      </p:sp>
      <p:sp>
        <p:nvSpPr>
          <p:cNvPr id="9" name="text-58-324">
            <a:extLst>
              <a:ext uri="{FF2B5EF4-FFF2-40B4-BE49-F238E27FC236}">
                <a16:creationId xmlns:a16="http://schemas.microsoft.com/office/drawing/2014/main" id="{C2145317-7C42-473F-8F46-67041B3FD39D}"/>
              </a:ext>
            </a:extLst>
          </p:cNvPr>
          <p:cNvSpPr>
            <a:spLocks noGrp="1"/>
          </p:cNvSpPr>
          <p:nvPr/>
        </p:nvSpPr>
        <p:spPr>
          <a:xfrm>
            <a:off x="552450" y="3086100"/>
            <a:ext cx="4762500" cy="1333500"/>
          </a:xfrm>
          <a:prstGeom prst="rect">
            <a:avLst/>
          </a:prstGeom>
          <a:noFill/>
          <a:ln w="0">
            <a:noFill/>
            <a:prstDash val="solid"/>
          </a:ln>
        </p:spPr>
        <p:txBody>
          <a:bodyPr anchor="t"/>
          <a:lstStyle/>
          <a:p>
            <a:pPr algn="l">
              <a:defRPr sz="1650" b="0">
                <a:solidFill>
                  <a:srgbClr val="5F6368"/>
                </a:solidFill>
                <a:latin typeface="Arial"/>
                <a:ea typeface="Arial"/>
                <a:cs typeface="Arial"/>
              </a:defRPr>
            </a:pPr>
            <a:r>
              <a:rPr sz="1650" b="0">
                <a:solidFill>
                  <a:srgbClr val="5F6368"/>
                </a:solidFill>
                <a:latin typeface="Arial"/>
                <a:ea typeface="Arial"/>
                <a:cs typeface="Arial"/>
              </a:rPr>
              <a:t>The script produced results, but there was no run history, step-level evidence or performance record.</a:t>
            </a:r>
          </a:p>
        </p:txBody>
      </p:sp>
      <p:sp>
        <p:nvSpPr>
          <p:cNvPr id="10" name="shape-700-256">
            <a:extLst>
              <a:ext uri="{FF2B5EF4-FFF2-40B4-BE49-F238E27FC236}">
                <a16:creationId xmlns:a16="http://schemas.microsoft.com/office/drawing/2014/main" id="{37C23806-9E02-410D-A1B4-0BE181E8C873}"/>
              </a:ext>
            </a:extLst>
          </p:cNvPr>
          <p:cNvSpPr>
            <a:spLocks noGrp="1"/>
          </p:cNvSpPr>
          <p:nvPr/>
        </p:nvSpPr>
        <p:spPr>
          <a:xfrm>
            <a:off x="6667500" y="2438400"/>
            <a:ext cx="95250" cy="95250"/>
          </a:xfrm>
          <a:prstGeom prst="ellipse">
            <a:avLst/>
          </a:prstGeom>
          <a:solidFill>
            <a:srgbClr val="F2C811"/>
          </a:solidFill>
          <a:ln w="0">
            <a:solidFill>
              <a:srgbClr val="F2C811"/>
            </a:solidFill>
            <a:prstDash val="solid"/>
          </a:ln>
        </p:spPr>
        <p:txBody>
          <a:bodyPr/>
          <a:lstStyle/>
          <a:p>
            <a:endParaRPr lang="en-GB"/>
          </a:p>
        </p:txBody>
      </p:sp>
      <p:sp>
        <p:nvSpPr>
          <p:cNvPr id="11" name="text-728-248">
            <a:extLst>
              <a:ext uri="{FF2B5EF4-FFF2-40B4-BE49-F238E27FC236}">
                <a16:creationId xmlns:a16="http://schemas.microsoft.com/office/drawing/2014/main" id="{B655EC4A-3C28-4D41-9551-E2340CE095BE}"/>
              </a:ext>
            </a:extLst>
          </p:cNvPr>
          <p:cNvSpPr>
            <a:spLocks noGrp="1"/>
          </p:cNvSpPr>
          <p:nvPr/>
        </p:nvSpPr>
        <p:spPr>
          <a:xfrm>
            <a:off x="6934200" y="2362200"/>
            <a:ext cx="4495800" cy="609600"/>
          </a:xfrm>
          <a:prstGeom prst="rect">
            <a:avLst/>
          </a:prstGeom>
          <a:noFill/>
          <a:ln w="0">
            <a:noFill/>
            <a:prstDash val="solid"/>
          </a:ln>
        </p:spPr>
        <p:txBody>
          <a:bodyPr anchor="t"/>
          <a:lstStyle/>
          <a:p>
            <a:pPr algn="l">
              <a:defRPr sz="1650" b="0">
                <a:solidFill>
                  <a:srgbClr val="111111"/>
                </a:solidFill>
                <a:latin typeface="Arial"/>
                <a:ea typeface="Arial"/>
                <a:cs typeface="Arial"/>
              </a:defRPr>
            </a:pPr>
            <a:r>
              <a:rPr sz="1650" b="0">
                <a:solidFill>
                  <a:srgbClr val="111111"/>
                </a:solidFill>
                <a:latin typeface="Arial"/>
                <a:ea typeface="Arial"/>
                <a:cs typeface="Arial"/>
              </a:rPr>
              <a:t>Unique run ID and UTC timestamp</a:t>
            </a:r>
          </a:p>
        </p:txBody>
      </p:sp>
      <p:sp>
        <p:nvSpPr>
          <p:cNvPr id="12" name="shape-700-324">
            <a:extLst>
              <a:ext uri="{FF2B5EF4-FFF2-40B4-BE49-F238E27FC236}">
                <a16:creationId xmlns:a16="http://schemas.microsoft.com/office/drawing/2014/main" id="{693F7AD1-2B08-4AB2-8E98-51FAB90BDC89}"/>
              </a:ext>
            </a:extLst>
          </p:cNvPr>
          <p:cNvSpPr>
            <a:spLocks noGrp="1"/>
          </p:cNvSpPr>
          <p:nvPr/>
        </p:nvSpPr>
        <p:spPr>
          <a:xfrm>
            <a:off x="6667500" y="3086100"/>
            <a:ext cx="95250" cy="95250"/>
          </a:xfrm>
          <a:prstGeom prst="ellipse">
            <a:avLst/>
          </a:prstGeom>
          <a:solidFill>
            <a:srgbClr val="F2C811"/>
          </a:solidFill>
          <a:ln w="0">
            <a:solidFill>
              <a:srgbClr val="F2C811"/>
            </a:solidFill>
            <a:prstDash val="solid"/>
          </a:ln>
        </p:spPr>
        <p:txBody>
          <a:bodyPr/>
          <a:lstStyle/>
          <a:p>
            <a:endParaRPr lang="en-GB"/>
          </a:p>
        </p:txBody>
      </p:sp>
      <p:sp>
        <p:nvSpPr>
          <p:cNvPr id="13" name="text-728-316">
            <a:extLst>
              <a:ext uri="{FF2B5EF4-FFF2-40B4-BE49-F238E27FC236}">
                <a16:creationId xmlns:a16="http://schemas.microsoft.com/office/drawing/2014/main" id="{22C22235-B684-42B2-B938-6F4A86A2291C}"/>
              </a:ext>
            </a:extLst>
          </p:cNvPr>
          <p:cNvSpPr>
            <a:spLocks noGrp="1"/>
          </p:cNvSpPr>
          <p:nvPr/>
        </p:nvSpPr>
        <p:spPr>
          <a:xfrm>
            <a:off x="6934200" y="3009900"/>
            <a:ext cx="4495800" cy="609600"/>
          </a:xfrm>
          <a:prstGeom prst="rect">
            <a:avLst/>
          </a:prstGeom>
          <a:noFill/>
          <a:ln w="0">
            <a:noFill/>
            <a:prstDash val="solid"/>
          </a:ln>
        </p:spPr>
        <p:txBody>
          <a:bodyPr anchor="t"/>
          <a:lstStyle/>
          <a:p>
            <a:pPr algn="l">
              <a:defRPr sz="1650" b="0">
                <a:solidFill>
                  <a:srgbClr val="111111"/>
                </a:solidFill>
                <a:latin typeface="Arial"/>
                <a:ea typeface="Arial"/>
                <a:cs typeface="Arial"/>
              </a:defRPr>
            </a:pPr>
            <a:r>
              <a:rPr sz="1650" b="0">
                <a:solidFill>
                  <a:srgbClr val="111111"/>
                </a:solidFill>
                <a:latin typeface="Arial"/>
                <a:ea typeface="Arial"/>
                <a:cs typeface="Arial"/>
              </a:rPr>
              <a:t>Before-and-after metrics for every step</a:t>
            </a:r>
          </a:p>
        </p:txBody>
      </p:sp>
      <p:sp>
        <p:nvSpPr>
          <p:cNvPr id="14" name="shape-700-392">
            <a:extLst>
              <a:ext uri="{FF2B5EF4-FFF2-40B4-BE49-F238E27FC236}">
                <a16:creationId xmlns:a16="http://schemas.microsoft.com/office/drawing/2014/main" id="{60C225C0-861B-4080-9CC7-47BC0BF27DD7}"/>
              </a:ext>
            </a:extLst>
          </p:cNvPr>
          <p:cNvSpPr>
            <a:spLocks noGrp="1"/>
          </p:cNvSpPr>
          <p:nvPr/>
        </p:nvSpPr>
        <p:spPr>
          <a:xfrm>
            <a:off x="6667500" y="3733800"/>
            <a:ext cx="95250" cy="95250"/>
          </a:xfrm>
          <a:prstGeom prst="ellipse">
            <a:avLst/>
          </a:prstGeom>
          <a:solidFill>
            <a:srgbClr val="F2C811"/>
          </a:solidFill>
          <a:ln w="0">
            <a:solidFill>
              <a:srgbClr val="F2C811"/>
            </a:solidFill>
            <a:prstDash val="solid"/>
          </a:ln>
        </p:spPr>
        <p:txBody>
          <a:bodyPr/>
          <a:lstStyle/>
          <a:p>
            <a:endParaRPr lang="en-GB"/>
          </a:p>
        </p:txBody>
      </p:sp>
      <p:sp>
        <p:nvSpPr>
          <p:cNvPr id="15" name="text-728-384">
            <a:extLst>
              <a:ext uri="{FF2B5EF4-FFF2-40B4-BE49-F238E27FC236}">
                <a16:creationId xmlns:a16="http://schemas.microsoft.com/office/drawing/2014/main" id="{79F8B64A-DF94-4457-94FF-0B555CA09A59}"/>
              </a:ext>
            </a:extLst>
          </p:cNvPr>
          <p:cNvSpPr>
            <a:spLocks noGrp="1"/>
          </p:cNvSpPr>
          <p:nvPr/>
        </p:nvSpPr>
        <p:spPr>
          <a:xfrm>
            <a:off x="6934200" y="3657600"/>
            <a:ext cx="4495800" cy="609600"/>
          </a:xfrm>
          <a:prstGeom prst="rect">
            <a:avLst/>
          </a:prstGeom>
          <a:noFill/>
          <a:ln w="0">
            <a:noFill/>
            <a:prstDash val="solid"/>
          </a:ln>
        </p:spPr>
        <p:txBody>
          <a:bodyPr anchor="t"/>
          <a:lstStyle/>
          <a:p>
            <a:pPr algn="l">
              <a:defRPr sz="1650" b="0">
                <a:solidFill>
                  <a:srgbClr val="111111"/>
                </a:solidFill>
                <a:latin typeface="Arial"/>
                <a:ea typeface="Arial"/>
                <a:cs typeface="Arial"/>
              </a:defRPr>
            </a:pPr>
            <a:r>
              <a:rPr sz="1650" b="0">
                <a:solidFill>
                  <a:srgbClr val="111111"/>
                </a:solidFill>
                <a:latin typeface="Arial"/>
                <a:ea typeface="Arial"/>
                <a:cs typeface="Arial"/>
              </a:rPr>
              <a:t>Quality warnings retained for investigation</a:t>
            </a:r>
          </a:p>
        </p:txBody>
      </p:sp>
      <p:sp>
        <p:nvSpPr>
          <p:cNvPr id="16" name="shape-700-460">
            <a:extLst>
              <a:ext uri="{FF2B5EF4-FFF2-40B4-BE49-F238E27FC236}">
                <a16:creationId xmlns:a16="http://schemas.microsoft.com/office/drawing/2014/main" id="{70F15223-C7E6-43C7-BF9D-010357EE3A15}"/>
              </a:ext>
            </a:extLst>
          </p:cNvPr>
          <p:cNvSpPr>
            <a:spLocks noGrp="1"/>
          </p:cNvSpPr>
          <p:nvPr/>
        </p:nvSpPr>
        <p:spPr>
          <a:xfrm>
            <a:off x="6667500" y="4381500"/>
            <a:ext cx="95250" cy="95250"/>
          </a:xfrm>
          <a:prstGeom prst="ellipse">
            <a:avLst/>
          </a:prstGeom>
          <a:solidFill>
            <a:srgbClr val="F2C811"/>
          </a:solidFill>
          <a:ln w="0">
            <a:solidFill>
              <a:srgbClr val="F2C811"/>
            </a:solidFill>
            <a:prstDash val="solid"/>
          </a:ln>
        </p:spPr>
        <p:txBody>
          <a:bodyPr/>
          <a:lstStyle/>
          <a:p>
            <a:endParaRPr lang="en-GB"/>
          </a:p>
        </p:txBody>
      </p:sp>
      <p:sp>
        <p:nvSpPr>
          <p:cNvPr id="17" name="text-728-452">
            <a:extLst>
              <a:ext uri="{FF2B5EF4-FFF2-40B4-BE49-F238E27FC236}">
                <a16:creationId xmlns:a16="http://schemas.microsoft.com/office/drawing/2014/main" id="{E6F3E2C7-007B-4F9F-B530-91CC9F7F7D6C}"/>
              </a:ext>
            </a:extLst>
          </p:cNvPr>
          <p:cNvSpPr>
            <a:spLocks noGrp="1"/>
          </p:cNvSpPr>
          <p:nvPr/>
        </p:nvSpPr>
        <p:spPr>
          <a:xfrm>
            <a:off x="6934200" y="4305300"/>
            <a:ext cx="4495800" cy="609600"/>
          </a:xfrm>
          <a:prstGeom prst="rect">
            <a:avLst/>
          </a:prstGeom>
          <a:noFill/>
          <a:ln w="0">
            <a:noFill/>
            <a:prstDash val="solid"/>
          </a:ln>
        </p:spPr>
        <p:txBody>
          <a:bodyPr anchor="t"/>
          <a:lstStyle/>
          <a:p>
            <a:pPr algn="l">
              <a:defRPr sz="1650" b="0">
                <a:solidFill>
                  <a:srgbClr val="111111"/>
                </a:solidFill>
                <a:latin typeface="Arial"/>
                <a:ea typeface="Arial"/>
                <a:cs typeface="Arial"/>
              </a:defRPr>
            </a:pPr>
            <a:r>
              <a:rPr sz="1650" b="0">
                <a:solidFill>
                  <a:srgbClr val="111111"/>
                </a:solidFill>
                <a:latin typeface="Arial"/>
                <a:ea typeface="Arial"/>
                <a:cs typeface="Arial"/>
              </a:rPr>
              <a:t>Historical CSV ready for Power BI</a:t>
            </a:r>
          </a:p>
        </p:txBody>
      </p:sp>
    </p:spTree>
    <p:extLst>
      <p:ext uri="{BB962C8B-B14F-4D97-AF65-F5344CB8AC3E}">
        <p14:creationId xmlns:p14="http://schemas.microsoft.com/office/powerpoint/2010/main" val="19895948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eyebrow">
            <a:extLst>
              <a:ext uri="{FF2B5EF4-FFF2-40B4-BE49-F238E27FC236}">
                <a16:creationId xmlns:a16="http://schemas.microsoft.com/office/drawing/2014/main" id="{6FBFD423-76CD-4A72-A624-2D5F679A82A1}"/>
              </a:ext>
            </a:extLst>
          </p:cNvPr>
          <p:cNvSpPr>
            <a:spLocks noGrp="1"/>
          </p:cNvSpPr>
          <p:nvPr/>
        </p:nvSpPr>
        <p:spPr>
          <a:xfrm>
            <a:off x="533400" y="323850"/>
            <a:ext cx="4762500" cy="228600"/>
          </a:xfrm>
          <a:prstGeom prst="rect">
            <a:avLst/>
          </a:prstGeom>
          <a:noFill/>
          <a:ln w="0">
            <a:noFill/>
            <a:prstDash val="solid"/>
          </a:ln>
        </p:spPr>
        <p:txBody>
          <a:bodyPr anchor="t"/>
          <a:lstStyle/>
          <a:p>
            <a:pPr algn="l">
              <a:defRPr sz="1050" b="1">
                <a:solidFill>
                  <a:srgbClr val="3D8DFF"/>
                </a:solidFill>
                <a:latin typeface="Arial"/>
                <a:ea typeface="Arial"/>
                <a:cs typeface="Arial"/>
              </a:defRPr>
            </a:pPr>
            <a:r>
              <a:rPr sz="1050" b="1">
                <a:solidFill>
                  <a:srgbClr val="3D8DFF"/>
                </a:solidFill>
                <a:latin typeface="Arial"/>
                <a:ea typeface="Arial"/>
                <a:cs typeface="Arial"/>
              </a:rPr>
              <a:t>DATA ENGINEERING METRICS</a:t>
            </a:r>
          </a:p>
        </p:txBody>
      </p:sp>
      <p:sp>
        <p:nvSpPr>
          <p:cNvPr id="2" name="slide-title">
            <a:extLst>
              <a:ext uri="{FF2B5EF4-FFF2-40B4-BE49-F238E27FC236}">
                <a16:creationId xmlns:a16="http://schemas.microsoft.com/office/drawing/2014/main" id="{99CF1190-EBBC-43E8-B4EC-3707A4128236}"/>
              </a:ext>
            </a:extLst>
          </p:cNvPr>
          <p:cNvSpPr>
            <a:spLocks noGrp="1"/>
          </p:cNvSpPr>
          <p:nvPr/>
        </p:nvSpPr>
        <p:spPr>
          <a:xfrm>
            <a:off x="533400" y="628650"/>
            <a:ext cx="11125200" cy="685800"/>
          </a:xfrm>
          <a:prstGeom prst="rect">
            <a:avLst/>
          </a:prstGeom>
          <a:noFill/>
          <a:ln w="0">
            <a:noFill/>
            <a:prstDash val="solid"/>
          </a:ln>
        </p:spPr>
        <p:txBody>
          <a:bodyPr anchor="t"/>
          <a:lstStyle/>
          <a:p>
            <a:pPr algn="l">
              <a:defRPr sz="2850" b="1">
                <a:solidFill>
                  <a:srgbClr val="111111"/>
                </a:solidFill>
                <a:latin typeface="Arial"/>
                <a:ea typeface="Arial"/>
                <a:cs typeface="Arial"/>
              </a:defRPr>
            </a:pPr>
            <a:r>
              <a:rPr sz="2850" b="1">
                <a:solidFill>
                  <a:srgbClr val="111111"/>
                </a:solidFill>
                <a:latin typeface="Arial"/>
                <a:ea typeface="Arial"/>
                <a:cs typeface="Arial"/>
              </a:rPr>
              <a:t>One execution now produces clean data and an audit trail</a:t>
            </a:r>
          </a:p>
        </p:txBody>
      </p:sp>
      <p:sp>
        <p:nvSpPr>
          <p:cNvPr id="3" name="rule-143">
            <a:extLst>
              <a:ext uri="{FF2B5EF4-FFF2-40B4-BE49-F238E27FC236}">
                <a16:creationId xmlns:a16="http://schemas.microsoft.com/office/drawing/2014/main" id="{866C3EFA-FD64-4292-B2AD-98C5165CFDC5}"/>
              </a:ext>
            </a:extLst>
          </p:cNvPr>
          <p:cNvSpPr>
            <a:spLocks noGrp="1"/>
          </p:cNvSpPr>
          <p:nvPr/>
        </p:nvSpPr>
        <p:spPr>
          <a:xfrm>
            <a:off x="533400" y="1362075"/>
            <a:ext cx="11125200" cy="9525"/>
          </a:xfrm>
          <a:prstGeom prst="rect">
            <a:avLst/>
          </a:prstGeom>
          <a:solidFill>
            <a:srgbClr val="B8BCC4"/>
          </a:solidFill>
          <a:ln w="0">
            <a:solidFill>
              <a:srgbClr val="B8BCC4"/>
            </a:solidFill>
            <a:prstDash val="solid"/>
          </a:ln>
        </p:spPr>
        <p:txBody>
          <a:bodyPr/>
          <a:lstStyle/>
          <a:p>
            <a:endParaRPr lang="en-GB"/>
          </a:p>
        </p:txBody>
      </p:sp>
      <p:sp>
        <p:nvSpPr>
          <p:cNvPr id="4" name="slide-number">
            <a:extLst>
              <a:ext uri="{FF2B5EF4-FFF2-40B4-BE49-F238E27FC236}">
                <a16:creationId xmlns:a16="http://schemas.microsoft.com/office/drawing/2014/main" id="{213DDD35-949B-4C3A-BE3E-D8D50E7EFE65}"/>
              </a:ext>
            </a:extLst>
          </p:cNvPr>
          <p:cNvSpPr>
            <a:spLocks noGrp="1"/>
          </p:cNvSpPr>
          <p:nvPr/>
        </p:nvSpPr>
        <p:spPr>
          <a:xfrm>
            <a:off x="11144250" y="6381750"/>
            <a:ext cx="514350" cy="209550"/>
          </a:xfrm>
          <a:prstGeom prst="rect">
            <a:avLst/>
          </a:prstGeom>
          <a:noFill/>
          <a:ln w="0">
            <a:noFill/>
            <a:prstDash val="solid"/>
          </a:ln>
        </p:spPr>
        <p:txBody>
          <a:bodyPr anchor="t"/>
          <a:lstStyle/>
          <a:p>
            <a:pPr algn="r">
              <a:defRPr sz="975" b="0">
                <a:solidFill>
                  <a:srgbClr val="5F6368"/>
                </a:solidFill>
                <a:latin typeface="Arial"/>
                <a:ea typeface="Arial"/>
                <a:cs typeface="Arial"/>
              </a:defRPr>
            </a:pPr>
            <a:r>
              <a:rPr sz="975" b="0">
                <a:solidFill>
                  <a:srgbClr val="5F6368"/>
                </a:solidFill>
                <a:latin typeface="Arial"/>
                <a:ea typeface="Arial"/>
                <a:cs typeface="Arial"/>
              </a:rPr>
              <a:t>03</a:t>
            </a:r>
          </a:p>
        </p:txBody>
      </p:sp>
      <p:sp>
        <p:nvSpPr>
          <p:cNvPr id="5" name="shape-225-330">
            <a:extLst>
              <a:ext uri="{FF2B5EF4-FFF2-40B4-BE49-F238E27FC236}">
                <a16:creationId xmlns:a16="http://schemas.microsoft.com/office/drawing/2014/main" id="{C28C86DF-B1CA-4C98-805A-D3615EA2DA5A}"/>
              </a:ext>
            </a:extLst>
          </p:cNvPr>
          <p:cNvSpPr>
            <a:spLocks noGrp="1"/>
          </p:cNvSpPr>
          <p:nvPr/>
        </p:nvSpPr>
        <p:spPr>
          <a:xfrm>
            <a:off x="2143125" y="3143250"/>
            <a:ext cx="1000125" cy="28575"/>
          </a:xfrm>
          <a:prstGeom prst="rect">
            <a:avLst/>
          </a:prstGeom>
          <a:solidFill>
            <a:srgbClr val="B8BCC4"/>
          </a:solidFill>
          <a:ln w="0">
            <a:solidFill>
              <a:srgbClr val="B8BCC4"/>
            </a:solidFill>
            <a:prstDash val="solid"/>
          </a:ln>
        </p:spPr>
        <p:txBody>
          <a:bodyPr/>
          <a:lstStyle/>
          <a:p>
            <a:endParaRPr lang="en-GB"/>
          </a:p>
        </p:txBody>
      </p:sp>
      <p:sp>
        <p:nvSpPr>
          <p:cNvPr id="6" name="shape-515-280">
            <a:extLst>
              <a:ext uri="{FF2B5EF4-FFF2-40B4-BE49-F238E27FC236}">
                <a16:creationId xmlns:a16="http://schemas.microsoft.com/office/drawing/2014/main" id="{6908AC82-62D8-406D-9350-0F548A4C87FE}"/>
              </a:ext>
            </a:extLst>
          </p:cNvPr>
          <p:cNvSpPr>
            <a:spLocks noGrp="1"/>
          </p:cNvSpPr>
          <p:nvPr/>
        </p:nvSpPr>
        <p:spPr>
          <a:xfrm>
            <a:off x="4905375" y="2667000"/>
            <a:ext cx="809625" cy="28575"/>
          </a:xfrm>
          <a:prstGeom prst="rect">
            <a:avLst/>
          </a:prstGeom>
          <a:solidFill>
            <a:srgbClr val="B8BCC4"/>
          </a:solidFill>
          <a:ln w="0">
            <a:solidFill>
              <a:srgbClr val="B8BCC4"/>
            </a:solidFill>
            <a:prstDash val="solid"/>
          </a:ln>
        </p:spPr>
        <p:txBody>
          <a:bodyPr/>
          <a:lstStyle/>
          <a:p>
            <a:endParaRPr lang="en-GB"/>
          </a:p>
        </p:txBody>
      </p:sp>
      <p:sp>
        <p:nvSpPr>
          <p:cNvPr id="7" name="shape-515-383">
            <a:extLst>
              <a:ext uri="{FF2B5EF4-FFF2-40B4-BE49-F238E27FC236}">
                <a16:creationId xmlns:a16="http://schemas.microsoft.com/office/drawing/2014/main" id="{39BCC049-4747-408C-81B6-32636A98359D}"/>
              </a:ext>
            </a:extLst>
          </p:cNvPr>
          <p:cNvSpPr>
            <a:spLocks noGrp="1"/>
          </p:cNvSpPr>
          <p:nvPr/>
        </p:nvSpPr>
        <p:spPr>
          <a:xfrm>
            <a:off x="4905375" y="3648075"/>
            <a:ext cx="809625" cy="28575"/>
          </a:xfrm>
          <a:prstGeom prst="rect">
            <a:avLst/>
          </a:prstGeom>
          <a:solidFill>
            <a:srgbClr val="B8BCC4"/>
          </a:solidFill>
          <a:ln w="0">
            <a:solidFill>
              <a:srgbClr val="B8BCC4"/>
            </a:solidFill>
            <a:prstDash val="solid"/>
          </a:ln>
        </p:spPr>
        <p:txBody>
          <a:bodyPr/>
          <a:lstStyle/>
          <a:p>
            <a:endParaRPr lang="en-GB"/>
          </a:p>
        </p:txBody>
      </p:sp>
      <p:sp>
        <p:nvSpPr>
          <p:cNvPr id="8" name="shape-805-383">
            <a:extLst>
              <a:ext uri="{FF2B5EF4-FFF2-40B4-BE49-F238E27FC236}">
                <a16:creationId xmlns:a16="http://schemas.microsoft.com/office/drawing/2014/main" id="{EB8C1976-7B19-494A-A2AC-5F76371709E9}"/>
              </a:ext>
            </a:extLst>
          </p:cNvPr>
          <p:cNvSpPr>
            <a:spLocks noGrp="1"/>
          </p:cNvSpPr>
          <p:nvPr/>
        </p:nvSpPr>
        <p:spPr>
          <a:xfrm>
            <a:off x="7667625" y="3648075"/>
            <a:ext cx="809625" cy="28575"/>
          </a:xfrm>
          <a:prstGeom prst="rect">
            <a:avLst/>
          </a:prstGeom>
          <a:solidFill>
            <a:srgbClr val="B8BCC4"/>
          </a:solidFill>
          <a:ln w="0">
            <a:solidFill>
              <a:srgbClr val="B8BCC4"/>
            </a:solidFill>
            <a:prstDash val="solid"/>
          </a:ln>
        </p:spPr>
        <p:txBody>
          <a:bodyPr/>
          <a:lstStyle/>
          <a:p>
            <a:endParaRPr lang="en-GB"/>
          </a:p>
        </p:txBody>
      </p:sp>
      <p:sp>
        <p:nvSpPr>
          <p:cNvPr id="9" name="shape-887-330">
            <a:extLst>
              <a:ext uri="{FF2B5EF4-FFF2-40B4-BE49-F238E27FC236}">
                <a16:creationId xmlns:a16="http://schemas.microsoft.com/office/drawing/2014/main" id="{75438309-54E6-4055-85F8-1C0494565C4D}"/>
              </a:ext>
            </a:extLst>
          </p:cNvPr>
          <p:cNvSpPr>
            <a:spLocks noGrp="1"/>
          </p:cNvSpPr>
          <p:nvPr/>
        </p:nvSpPr>
        <p:spPr>
          <a:xfrm>
            <a:off x="8448675" y="3143250"/>
            <a:ext cx="28575" cy="533400"/>
          </a:xfrm>
          <a:prstGeom prst="rect">
            <a:avLst/>
          </a:prstGeom>
          <a:solidFill>
            <a:srgbClr val="B8BCC4"/>
          </a:solidFill>
          <a:ln w="0">
            <a:solidFill>
              <a:srgbClr val="B8BCC4"/>
            </a:solidFill>
            <a:prstDash val="solid"/>
          </a:ln>
        </p:spPr>
        <p:txBody>
          <a:bodyPr/>
          <a:lstStyle/>
          <a:p>
            <a:endParaRPr lang="en-GB"/>
          </a:p>
        </p:txBody>
      </p:sp>
      <p:sp>
        <p:nvSpPr>
          <p:cNvPr id="10" name="shape-805-280">
            <a:extLst>
              <a:ext uri="{FF2B5EF4-FFF2-40B4-BE49-F238E27FC236}">
                <a16:creationId xmlns:a16="http://schemas.microsoft.com/office/drawing/2014/main" id="{4536C0E4-F316-4322-940D-1F3A6E9B6736}"/>
              </a:ext>
            </a:extLst>
          </p:cNvPr>
          <p:cNvSpPr>
            <a:spLocks noGrp="1"/>
          </p:cNvSpPr>
          <p:nvPr/>
        </p:nvSpPr>
        <p:spPr>
          <a:xfrm>
            <a:off x="7667625" y="2667000"/>
            <a:ext cx="790575" cy="28575"/>
          </a:xfrm>
          <a:prstGeom prst="rect">
            <a:avLst/>
          </a:prstGeom>
          <a:solidFill>
            <a:srgbClr val="B8BCC4"/>
          </a:solidFill>
          <a:ln w="0">
            <a:solidFill>
              <a:srgbClr val="B8BCC4"/>
            </a:solidFill>
            <a:prstDash val="solid"/>
          </a:ln>
        </p:spPr>
        <p:txBody>
          <a:bodyPr/>
          <a:lstStyle/>
          <a:p>
            <a:endParaRPr lang="en-GB"/>
          </a:p>
        </p:txBody>
      </p:sp>
      <p:sp>
        <p:nvSpPr>
          <p:cNvPr id="11" name="shape-58-265">
            <a:extLst>
              <a:ext uri="{FF2B5EF4-FFF2-40B4-BE49-F238E27FC236}">
                <a16:creationId xmlns:a16="http://schemas.microsoft.com/office/drawing/2014/main" id="{8A6EF350-C506-494B-8503-E833E0CEAE47}"/>
              </a:ext>
            </a:extLst>
          </p:cNvPr>
          <p:cNvSpPr>
            <a:spLocks noGrp="1"/>
          </p:cNvSpPr>
          <p:nvPr/>
        </p:nvSpPr>
        <p:spPr>
          <a:xfrm>
            <a:off x="552450" y="2524125"/>
            <a:ext cx="1600200" cy="1285875"/>
          </a:xfrm>
          <a:prstGeom prst="roundRect">
            <a:avLst>
              <a:gd name="adj" fmla="val 8889"/>
            </a:avLst>
          </a:prstGeom>
          <a:solidFill>
            <a:srgbClr val="F1F2F4"/>
          </a:solidFill>
          <a:ln w="0">
            <a:solidFill>
              <a:srgbClr val="F1F2F4"/>
            </a:solidFill>
            <a:prstDash val="solid"/>
          </a:ln>
        </p:spPr>
        <p:txBody>
          <a:bodyPr/>
          <a:lstStyle/>
          <a:p>
            <a:endParaRPr lang="en-GB"/>
          </a:p>
        </p:txBody>
      </p:sp>
      <p:sp>
        <p:nvSpPr>
          <p:cNvPr id="12" name="text-78-288">
            <a:extLst>
              <a:ext uri="{FF2B5EF4-FFF2-40B4-BE49-F238E27FC236}">
                <a16:creationId xmlns:a16="http://schemas.microsoft.com/office/drawing/2014/main" id="{2DCF1DFC-ADCA-43DC-A2C6-948571196CC0}"/>
              </a:ext>
            </a:extLst>
          </p:cNvPr>
          <p:cNvSpPr>
            <a:spLocks noGrp="1"/>
          </p:cNvSpPr>
          <p:nvPr/>
        </p:nvSpPr>
        <p:spPr>
          <a:xfrm>
            <a:off x="742950" y="2743200"/>
            <a:ext cx="1219200" cy="285750"/>
          </a:xfrm>
          <a:prstGeom prst="rect">
            <a:avLst/>
          </a:prstGeom>
          <a:noFill/>
          <a:ln w="0">
            <a:noFill/>
            <a:prstDash val="solid"/>
          </a:ln>
        </p:spPr>
        <p:txBody>
          <a:bodyPr anchor="t"/>
          <a:lstStyle/>
          <a:p>
            <a:pPr algn="l">
              <a:defRPr sz="1200" b="1">
                <a:solidFill>
                  <a:srgbClr val="5F6368"/>
                </a:solidFill>
                <a:latin typeface="Arial"/>
                <a:ea typeface="Arial"/>
                <a:cs typeface="Arial"/>
              </a:defRPr>
            </a:pPr>
            <a:r>
              <a:rPr sz="1200" b="1">
                <a:solidFill>
                  <a:srgbClr val="5F6368"/>
                </a:solidFill>
                <a:latin typeface="Arial"/>
                <a:ea typeface="Arial"/>
                <a:cs typeface="Arial"/>
              </a:rPr>
              <a:t>RAW CSV</a:t>
            </a:r>
          </a:p>
        </p:txBody>
      </p:sp>
      <p:sp>
        <p:nvSpPr>
          <p:cNvPr id="13" name="text-78-327">
            <a:extLst>
              <a:ext uri="{FF2B5EF4-FFF2-40B4-BE49-F238E27FC236}">
                <a16:creationId xmlns:a16="http://schemas.microsoft.com/office/drawing/2014/main" id="{633EC7DE-C4AE-452F-BC26-36A3C0C66662}"/>
              </a:ext>
            </a:extLst>
          </p:cNvPr>
          <p:cNvSpPr>
            <a:spLocks noGrp="1"/>
          </p:cNvSpPr>
          <p:nvPr/>
        </p:nvSpPr>
        <p:spPr>
          <a:xfrm>
            <a:off x="742950" y="3114675"/>
            <a:ext cx="1219200" cy="552450"/>
          </a:xfrm>
          <a:prstGeom prst="rect">
            <a:avLst/>
          </a:prstGeom>
          <a:noFill/>
          <a:ln w="0">
            <a:noFill/>
            <a:prstDash val="solid"/>
          </a:ln>
        </p:spPr>
        <p:txBody>
          <a:bodyPr anchor="t"/>
          <a:lstStyle/>
          <a:p>
            <a:pPr algn="l">
              <a:defRPr sz="1350" b="1">
                <a:solidFill>
                  <a:srgbClr val="111111"/>
                </a:solidFill>
                <a:latin typeface="Arial"/>
                <a:ea typeface="Arial"/>
                <a:cs typeface="Arial"/>
              </a:defRPr>
            </a:pPr>
            <a:r>
              <a:rPr sz="1350" b="1">
                <a:solidFill>
                  <a:srgbClr val="111111"/>
                </a:solidFill>
                <a:latin typeface="Arial"/>
                <a:ea typeface="Arial"/>
                <a:cs typeface="Arial"/>
              </a:rPr>
              <a:t>Books +</a:t>
            </a:r>
          </a:p>
          <a:p>
            <a:pPr algn="l">
              <a:defRPr sz="1350" b="1">
                <a:solidFill>
                  <a:srgbClr val="111111"/>
                </a:solidFill>
                <a:latin typeface="Arial"/>
                <a:ea typeface="Arial"/>
                <a:cs typeface="Arial"/>
              </a:defRPr>
            </a:pPr>
            <a:r>
              <a:rPr sz="1350" b="1">
                <a:solidFill>
                  <a:srgbClr val="111111"/>
                </a:solidFill>
                <a:latin typeface="Arial"/>
                <a:ea typeface="Arial"/>
                <a:cs typeface="Arial"/>
              </a:rPr>
              <a:t>Customers</a:t>
            </a:r>
          </a:p>
        </p:txBody>
      </p:sp>
      <p:sp>
        <p:nvSpPr>
          <p:cNvPr id="14" name="shape-330-245">
            <a:extLst>
              <a:ext uri="{FF2B5EF4-FFF2-40B4-BE49-F238E27FC236}">
                <a16:creationId xmlns:a16="http://schemas.microsoft.com/office/drawing/2014/main" id="{3EA561A7-9A4F-4DD2-A812-90E92B2FCEFF}"/>
              </a:ext>
            </a:extLst>
          </p:cNvPr>
          <p:cNvSpPr>
            <a:spLocks noGrp="1"/>
          </p:cNvSpPr>
          <p:nvPr/>
        </p:nvSpPr>
        <p:spPr>
          <a:xfrm>
            <a:off x="3143250" y="2333625"/>
            <a:ext cx="1762125" cy="1666875"/>
          </a:xfrm>
          <a:prstGeom prst="roundRect">
            <a:avLst>
              <a:gd name="adj" fmla="val 6857"/>
            </a:avLst>
          </a:prstGeom>
          <a:solidFill>
            <a:srgbClr val="EAF3FF"/>
          </a:solidFill>
          <a:ln w="9525">
            <a:solidFill>
              <a:srgbClr val="3D8DFF"/>
            </a:solidFill>
            <a:prstDash val="solid"/>
          </a:ln>
        </p:spPr>
        <p:txBody>
          <a:bodyPr/>
          <a:lstStyle/>
          <a:p>
            <a:endParaRPr lang="en-GB"/>
          </a:p>
        </p:txBody>
      </p:sp>
      <p:sp>
        <p:nvSpPr>
          <p:cNvPr id="15" name="text-355-272">
            <a:extLst>
              <a:ext uri="{FF2B5EF4-FFF2-40B4-BE49-F238E27FC236}">
                <a16:creationId xmlns:a16="http://schemas.microsoft.com/office/drawing/2014/main" id="{5A589D70-D56E-452E-A03A-4B7C9D158A88}"/>
              </a:ext>
            </a:extLst>
          </p:cNvPr>
          <p:cNvSpPr>
            <a:spLocks noGrp="1"/>
          </p:cNvSpPr>
          <p:nvPr/>
        </p:nvSpPr>
        <p:spPr>
          <a:xfrm>
            <a:off x="3381375" y="2590800"/>
            <a:ext cx="1285875" cy="247650"/>
          </a:xfrm>
          <a:prstGeom prst="rect">
            <a:avLst/>
          </a:prstGeom>
          <a:noFill/>
          <a:ln w="0">
            <a:noFill/>
            <a:prstDash val="solid"/>
          </a:ln>
        </p:spPr>
        <p:txBody>
          <a:bodyPr anchor="t"/>
          <a:lstStyle/>
          <a:p>
            <a:pPr algn="l">
              <a:defRPr sz="1200" b="1">
                <a:solidFill>
                  <a:srgbClr val="3D8DFF"/>
                </a:solidFill>
                <a:latin typeface="Arial"/>
                <a:ea typeface="Arial"/>
                <a:cs typeface="Arial"/>
              </a:defRPr>
            </a:pPr>
            <a:r>
              <a:rPr sz="1200" b="1">
                <a:solidFill>
                  <a:srgbClr val="3D8DFF"/>
                </a:solidFill>
                <a:latin typeface="Arial"/>
                <a:ea typeface="Arial"/>
                <a:cs typeface="Arial"/>
              </a:rPr>
              <a:t>PYTHON</a:t>
            </a:r>
          </a:p>
        </p:txBody>
      </p:sp>
      <p:sp>
        <p:nvSpPr>
          <p:cNvPr id="16" name="text-355-315">
            <a:extLst>
              <a:ext uri="{FF2B5EF4-FFF2-40B4-BE49-F238E27FC236}">
                <a16:creationId xmlns:a16="http://schemas.microsoft.com/office/drawing/2014/main" id="{43264779-C62A-4A7C-823C-62EB680548F5}"/>
              </a:ext>
            </a:extLst>
          </p:cNvPr>
          <p:cNvSpPr>
            <a:spLocks noGrp="1"/>
          </p:cNvSpPr>
          <p:nvPr/>
        </p:nvSpPr>
        <p:spPr>
          <a:xfrm>
            <a:off x="3381375" y="3000375"/>
            <a:ext cx="1285875" cy="819150"/>
          </a:xfrm>
          <a:prstGeom prst="rect">
            <a:avLst/>
          </a:prstGeom>
          <a:noFill/>
          <a:ln w="0">
            <a:noFill/>
            <a:prstDash val="solid"/>
          </a:ln>
        </p:spPr>
        <p:txBody>
          <a:bodyPr anchor="t"/>
          <a:lstStyle/>
          <a:p>
            <a:pPr algn="l">
              <a:defRPr sz="1875" b="1">
                <a:solidFill>
                  <a:srgbClr val="111111"/>
                </a:solidFill>
                <a:latin typeface="Arial"/>
                <a:ea typeface="Arial"/>
                <a:cs typeface="Arial"/>
              </a:defRPr>
            </a:pPr>
            <a:r>
              <a:rPr sz="1875" b="1">
                <a:solidFill>
                  <a:srgbClr val="111111"/>
                </a:solidFill>
                <a:latin typeface="Arial"/>
                <a:ea typeface="Arial"/>
                <a:cs typeface="Arial"/>
              </a:rPr>
              <a:t>Clean</a:t>
            </a:r>
          </a:p>
          <a:p>
            <a:pPr algn="l">
              <a:defRPr sz="1875" b="1">
                <a:solidFill>
                  <a:srgbClr val="111111"/>
                </a:solidFill>
                <a:latin typeface="Arial"/>
                <a:ea typeface="Arial"/>
                <a:cs typeface="Arial"/>
              </a:defRPr>
            </a:pPr>
            <a:r>
              <a:rPr sz="1875" b="1">
                <a:solidFill>
                  <a:srgbClr val="111111"/>
                </a:solidFill>
                <a:latin typeface="Arial"/>
                <a:ea typeface="Arial"/>
                <a:cs typeface="Arial"/>
              </a:rPr>
              <a:t>Enrich</a:t>
            </a:r>
          </a:p>
          <a:p>
            <a:pPr algn="l">
              <a:defRPr sz="1875" b="1">
                <a:solidFill>
                  <a:srgbClr val="111111"/>
                </a:solidFill>
                <a:latin typeface="Arial"/>
                <a:ea typeface="Arial"/>
                <a:cs typeface="Arial"/>
              </a:defRPr>
            </a:pPr>
            <a:r>
              <a:rPr sz="1875" b="1">
                <a:solidFill>
                  <a:srgbClr val="111111"/>
                </a:solidFill>
                <a:latin typeface="Arial"/>
                <a:ea typeface="Arial"/>
                <a:cs typeface="Arial"/>
              </a:rPr>
              <a:t>Validate</a:t>
            </a:r>
          </a:p>
        </p:txBody>
      </p:sp>
      <p:sp>
        <p:nvSpPr>
          <p:cNvPr id="17" name="shape-600-218">
            <a:extLst>
              <a:ext uri="{FF2B5EF4-FFF2-40B4-BE49-F238E27FC236}">
                <a16:creationId xmlns:a16="http://schemas.microsoft.com/office/drawing/2014/main" id="{3D25E37E-861D-4235-9F7C-6D0C4F4D4749}"/>
              </a:ext>
            </a:extLst>
          </p:cNvPr>
          <p:cNvSpPr>
            <a:spLocks noGrp="1"/>
          </p:cNvSpPr>
          <p:nvPr/>
        </p:nvSpPr>
        <p:spPr>
          <a:xfrm>
            <a:off x="5715000" y="2076450"/>
            <a:ext cx="1952625" cy="1219200"/>
          </a:xfrm>
          <a:prstGeom prst="roundRect">
            <a:avLst>
              <a:gd name="adj" fmla="val 9375"/>
            </a:avLst>
          </a:prstGeom>
          <a:solidFill>
            <a:srgbClr val="F1F2F4"/>
          </a:solidFill>
          <a:ln w="0">
            <a:solidFill>
              <a:srgbClr val="F1F2F4"/>
            </a:solidFill>
            <a:prstDash val="solid"/>
          </a:ln>
        </p:spPr>
        <p:txBody>
          <a:bodyPr/>
          <a:lstStyle/>
          <a:p>
            <a:endParaRPr lang="en-GB"/>
          </a:p>
        </p:txBody>
      </p:sp>
      <p:sp>
        <p:nvSpPr>
          <p:cNvPr id="18" name="text-624-240">
            <a:extLst>
              <a:ext uri="{FF2B5EF4-FFF2-40B4-BE49-F238E27FC236}">
                <a16:creationId xmlns:a16="http://schemas.microsoft.com/office/drawing/2014/main" id="{B6529D5E-2679-49F5-B94F-6F5642FB0955}"/>
              </a:ext>
            </a:extLst>
          </p:cNvPr>
          <p:cNvSpPr>
            <a:spLocks noGrp="1"/>
          </p:cNvSpPr>
          <p:nvPr/>
        </p:nvSpPr>
        <p:spPr>
          <a:xfrm>
            <a:off x="5943600" y="2286000"/>
            <a:ext cx="1495425" cy="247650"/>
          </a:xfrm>
          <a:prstGeom prst="rect">
            <a:avLst/>
          </a:prstGeom>
          <a:noFill/>
          <a:ln w="0">
            <a:noFill/>
            <a:prstDash val="solid"/>
          </a:ln>
        </p:spPr>
        <p:txBody>
          <a:bodyPr anchor="t"/>
          <a:lstStyle/>
          <a:p>
            <a:pPr algn="l">
              <a:defRPr sz="1200" b="1">
                <a:solidFill>
                  <a:srgbClr val="5F6368"/>
                </a:solidFill>
                <a:latin typeface="Arial"/>
                <a:ea typeface="Arial"/>
                <a:cs typeface="Arial"/>
              </a:defRPr>
            </a:pPr>
            <a:r>
              <a:rPr sz="1200" b="1">
                <a:solidFill>
                  <a:srgbClr val="5F6368"/>
                </a:solidFill>
                <a:latin typeface="Arial"/>
                <a:ea typeface="Arial"/>
                <a:cs typeface="Arial"/>
              </a:rPr>
              <a:t>CLEAN DATA</a:t>
            </a:r>
          </a:p>
        </p:txBody>
      </p:sp>
      <p:sp>
        <p:nvSpPr>
          <p:cNvPr id="19" name="text-624-288">
            <a:extLst>
              <a:ext uri="{FF2B5EF4-FFF2-40B4-BE49-F238E27FC236}">
                <a16:creationId xmlns:a16="http://schemas.microsoft.com/office/drawing/2014/main" id="{0910CDAB-2D61-456F-B964-03ACFA6D1F60}"/>
              </a:ext>
            </a:extLst>
          </p:cNvPr>
          <p:cNvSpPr>
            <a:spLocks noGrp="1"/>
          </p:cNvSpPr>
          <p:nvPr/>
        </p:nvSpPr>
        <p:spPr>
          <a:xfrm>
            <a:off x="5943600" y="2743200"/>
            <a:ext cx="1495425" cy="323850"/>
          </a:xfrm>
          <a:prstGeom prst="rect">
            <a:avLst/>
          </a:prstGeom>
          <a:noFill/>
          <a:ln w="0">
            <a:noFill/>
            <a:prstDash val="solid"/>
          </a:ln>
        </p:spPr>
        <p:txBody>
          <a:bodyPr anchor="t"/>
          <a:lstStyle/>
          <a:p>
            <a:pPr algn="l">
              <a:defRPr sz="1875" b="1">
                <a:solidFill>
                  <a:srgbClr val="111111"/>
                </a:solidFill>
                <a:latin typeface="Arial"/>
                <a:ea typeface="Arial"/>
                <a:cs typeface="Arial"/>
              </a:defRPr>
            </a:pPr>
            <a:r>
              <a:rPr sz="1875" b="1">
                <a:solidFill>
                  <a:srgbClr val="111111"/>
                </a:solidFill>
                <a:latin typeface="Arial"/>
                <a:ea typeface="Arial"/>
                <a:cs typeface="Arial"/>
              </a:rPr>
              <a:t>2 output CSVs</a:t>
            </a:r>
          </a:p>
        </p:txBody>
      </p:sp>
      <p:sp>
        <p:nvSpPr>
          <p:cNvPr id="20" name="shape-600-355">
            <a:extLst>
              <a:ext uri="{FF2B5EF4-FFF2-40B4-BE49-F238E27FC236}">
                <a16:creationId xmlns:a16="http://schemas.microsoft.com/office/drawing/2014/main" id="{A19DAEBB-8C1E-412B-B817-7A416AAC7942}"/>
              </a:ext>
            </a:extLst>
          </p:cNvPr>
          <p:cNvSpPr>
            <a:spLocks noGrp="1"/>
          </p:cNvSpPr>
          <p:nvPr/>
        </p:nvSpPr>
        <p:spPr>
          <a:xfrm>
            <a:off x="5715000" y="3381375"/>
            <a:ext cx="1952625" cy="1219200"/>
          </a:xfrm>
          <a:prstGeom prst="roundRect">
            <a:avLst>
              <a:gd name="adj" fmla="val 9375"/>
            </a:avLst>
          </a:prstGeom>
          <a:solidFill>
            <a:srgbClr val="FFF9D6"/>
          </a:solidFill>
          <a:ln w="9525">
            <a:solidFill>
              <a:srgbClr val="F2C811"/>
            </a:solidFill>
            <a:prstDash val="solid"/>
          </a:ln>
        </p:spPr>
        <p:txBody>
          <a:bodyPr/>
          <a:lstStyle/>
          <a:p>
            <a:endParaRPr lang="en-GB"/>
          </a:p>
        </p:txBody>
      </p:sp>
      <p:sp>
        <p:nvSpPr>
          <p:cNvPr id="21" name="text-624-377">
            <a:extLst>
              <a:ext uri="{FF2B5EF4-FFF2-40B4-BE49-F238E27FC236}">
                <a16:creationId xmlns:a16="http://schemas.microsoft.com/office/drawing/2014/main" id="{7ED63C0C-E337-4A1E-9C7F-579E8F11EDF5}"/>
              </a:ext>
            </a:extLst>
          </p:cNvPr>
          <p:cNvSpPr>
            <a:spLocks noGrp="1"/>
          </p:cNvSpPr>
          <p:nvPr/>
        </p:nvSpPr>
        <p:spPr>
          <a:xfrm>
            <a:off x="5943600" y="3590925"/>
            <a:ext cx="1495425" cy="247650"/>
          </a:xfrm>
          <a:prstGeom prst="rect">
            <a:avLst/>
          </a:prstGeom>
          <a:noFill/>
          <a:ln w="0">
            <a:noFill/>
            <a:prstDash val="solid"/>
          </a:ln>
        </p:spPr>
        <p:txBody>
          <a:bodyPr anchor="t"/>
          <a:lstStyle/>
          <a:p>
            <a:pPr algn="l">
              <a:defRPr sz="1200" b="1">
                <a:solidFill>
                  <a:srgbClr val="D97706"/>
                </a:solidFill>
                <a:latin typeface="Arial"/>
                <a:ea typeface="Arial"/>
                <a:cs typeface="Arial"/>
              </a:defRPr>
            </a:pPr>
            <a:r>
              <a:rPr sz="1200" b="1">
                <a:solidFill>
                  <a:srgbClr val="D97706"/>
                </a:solidFill>
                <a:latin typeface="Arial"/>
                <a:ea typeface="Arial"/>
                <a:cs typeface="Arial"/>
              </a:rPr>
              <a:t>AUDIT DATA</a:t>
            </a:r>
          </a:p>
        </p:txBody>
      </p:sp>
      <p:sp>
        <p:nvSpPr>
          <p:cNvPr id="22" name="text-624-417">
            <a:extLst>
              <a:ext uri="{FF2B5EF4-FFF2-40B4-BE49-F238E27FC236}">
                <a16:creationId xmlns:a16="http://schemas.microsoft.com/office/drawing/2014/main" id="{D650E380-B844-4029-87B6-8EDD65565314}"/>
              </a:ext>
            </a:extLst>
          </p:cNvPr>
          <p:cNvSpPr>
            <a:spLocks noGrp="1"/>
          </p:cNvSpPr>
          <p:nvPr/>
        </p:nvSpPr>
        <p:spPr>
          <a:xfrm>
            <a:off x="5943600" y="3971925"/>
            <a:ext cx="1495425" cy="533400"/>
          </a:xfrm>
          <a:prstGeom prst="rect">
            <a:avLst/>
          </a:prstGeom>
          <a:noFill/>
          <a:ln w="0">
            <a:noFill/>
            <a:prstDash val="solid"/>
          </a:ln>
        </p:spPr>
        <p:txBody>
          <a:bodyPr anchor="t"/>
          <a:lstStyle/>
          <a:p>
            <a:pPr algn="l">
              <a:defRPr sz="1725" b="1">
                <a:solidFill>
                  <a:srgbClr val="111111"/>
                </a:solidFill>
                <a:latin typeface="Arial"/>
                <a:ea typeface="Arial"/>
                <a:cs typeface="Arial"/>
              </a:defRPr>
            </a:pPr>
            <a:r>
              <a:rPr sz="1725" b="1">
                <a:solidFill>
                  <a:srgbClr val="111111"/>
                </a:solidFill>
                <a:latin typeface="Arial"/>
                <a:ea typeface="Arial"/>
                <a:cs typeface="Arial"/>
              </a:rPr>
              <a:t>20 step</a:t>
            </a:r>
          </a:p>
          <a:p>
            <a:pPr algn="l">
              <a:defRPr sz="1725" b="1">
                <a:solidFill>
                  <a:srgbClr val="111111"/>
                </a:solidFill>
                <a:latin typeface="Arial"/>
                <a:ea typeface="Arial"/>
                <a:cs typeface="Arial"/>
              </a:defRPr>
            </a:pPr>
            <a:r>
              <a:rPr sz="1725" b="1">
                <a:solidFill>
                  <a:srgbClr val="111111"/>
                </a:solidFill>
                <a:latin typeface="Arial"/>
                <a:ea typeface="Arial"/>
                <a:cs typeface="Arial"/>
              </a:rPr>
              <a:t>events</a:t>
            </a:r>
          </a:p>
        </p:txBody>
      </p:sp>
      <p:sp>
        <p:nvSpPr>
          <p:cNvPr id="23" name="shape-890-265">
            <a:extLst>
              <a:ext uri="{FF2B5EF4-FFF2-40B4-BE49-F238E27FC236}">
                <a16:creationId xmlns:a16="http://schemas.microsoft.com/office/drawing/2014/main" id="{D7A9A205-0BF3-4560-A4A6-8B24AB740A4B}"/>
              </a:ext>
            </a:extLst>
          </p:cNvPr>
          <p:cNvSpPr>
            <a:spLocks noGrp="1"/>
          </p:cNvSpPr>
          <p:nvPr/>
        </p:nvSpPr>
        <p:spPr>
          <a:xfrm>
            <a:off x="8477250" y="2524125"/>
            <a:ext cx="3000375" cy="1285875"/>
          </a:xfrm>
          <a:prstGeom prst="roundRect">
            <a:avLst>
              <a:gd name="adj" fmla="val 8889"/>
            </a:avLst>
          </a:prstGeom>
          <a:solidFill>
            <a:srgbClr val="111111"/>
          </a:solidFill>
          <a:ln w="0">
            <a:solidFill>
              <a:srgbClr val="111111"/>
            </a:solidFill>
            <a:prstDash val="solid"/>
          </a:ln>
        </p:spPr>
        <p:txBody>
          <a:bodyPr/>
          <a:lstStyle/>
          <a:p>
            <a:endParaRPr lang="en-GB"/>
          </a:p>
        </p:txBody>
      </p:sp>
      <p:sp>
        <p:nvSpPr>
          <p:cNvPr id="24" name="shape-890-265">
            <a:extLst>
              <a:ext uri="{FF2B5EF4-FFF2-40B4-BE49-F238E27FC236}">
                <a16:creationId xmlns:a16="http://schemas.microsoft.com/office/drawing/2014/main" id="{F6B8066D-ADB3-46DB-927C-2F8CE1C496C8}"/>
              </a:ext>
            </a:extLst>
          </p:cNvPr>
          <p:cNvSpPr>
            <a:spLocks noGrp="1"/>
          </p:cNvSpPr>
          <p:nvPr/>
        </p:nvSpPr>
        <p:spPr>
          <a:xfrm>
            <a:off x="8477250" y="2524125"/>
            <a:ext cx="114300" cy="1285875"/>
          </a:xfrm>
          <a:prstGeom prst="rect">
            <a:avLst/>
          </a:prstGeom>
          <a:solidFill>
            <a:srgbClr val="F2C811"/>
          </a:solidFill>
          <a:ln w="0">
            <a:solidFill>
              <a:srgbClr val="F2C811"/>
            </a:solidFill>
            <a:prstDash val="solid"/>
          </a:ln>
        </p:spPr>
        <p:txBody>
          <a:bodyPr/>
          <a:lstStyle/>
          <a:p>
            <a:endParaRPr lang="en-GB"/>
          </a:p>
        </p:txBody>
      </p:sp>
      <p:sp>
        <p:nvSpPr>
          <p:cNvPr id="25" name="text-930-288">
            <a:extLst>
              <a:ext uri="{FF2B5EF4-FFF2-40B4-BE49-F238E27FC236}">
                <a16:creationId xmlns:a16="http://schemas.microsoft.com/office/drawing/2014/main" id="{8766AA9C-F2F4-4C96-A067-BE1351954A7C}"/>
              </a:ext>
            </a:extLst>
          </p:cNvPr>
          <p:cNvSpPr>
            <a:spLocks noGrp="1"/>
          </p:cNvSpPr>
          <p:nvPr/>
        </p:nvSpPr>
        <p:spPr>
          <a:xfrm>
            <a:off x="8858250" y="2743200"/>
            <a:ext cx="2238375" cy="285750"/>
          </a:xfrm>
          <a:prstGeom prst="rect">
            <a:avLst/>
          </a:prstGeom>
          <a:noFill/>
          <a:ln w="0">
            <a:noFill/>
            <a:prstDash val="solid"/>
          </a:ln>
        </p:spPr>
        <p:txBody>
          <a:bodyPr anchor="t"/>
          <a:lstStyle/>
          <a:p>
            <a:pPr algn="l">
              <a:defRPr sz="1200" b="1">
                <a:solidFill>
                  <a:srgbClr val="F2C811"/>
                </a:solidFill>
                <a:latin typeface="Arial"/>
                <a:ea typeface="Arial"/>
                <a:cs typeface="Arial"/>
              </a:defRPr>
            </a:pPr>
            <a:r>
              <a:rPr sz="1200" b="1">
                <a:solidFill>
                  <a:srgbClr val="F2C811"/>
                </a:solidFill>
                <a:latin typeface="Arial"/>
                <a:ea typeface="Arial"/>
                <a:cs typeface="Arial"/>
              </a:rPr>
              <a:t>POWER BI</a:t>
            </a:r>
          </a:p>
        </p:txBody>
      </p:sp>
      <p:sp>
        <p:nvSpPr>
          <p:cNvPr id="26" name="text-930-327">
            <a:extLst>
              <a:ext uri="{FF2B5EF4-FFF2-40B4-BE49-F238E27FC236}">
                <a16:creationId xmlns:a16="http://schemas.microsoft.com/office/drawing/2014/main" id="{51AAD71A-698D-467E-8EAF-682FC56E046E}"/>
              </a:ext>
            </a:extLst>
          </p:cNvPr>
          <p:cNvSpPr>
            <a:spLocks noGrp="1"/>
          </p:cNvSpPr>
          <p:nvPr/>
        </p:nvSpPr>
        <p:spPr>
          <a:xfrm>
            <a:off x="8858250" y="3114675"/>
            <a:ext cx="2238375" cy="590550"/>
          </a:xfrm>
          <a:prstGeom prst="rect">
            <a:avLst/>
          </a:prstGeom>
          <a:noFill/>
          <a:ln w="0">
            <a:noFill/>
            <a:prstDash val="solid"/>
          </a:ln>
        </p:spPr>
        <p:txBody>
          <a:bodyPr anchor="t"/>
          <a:lstStyle/>
          <a:p>
            <a:pPr algn="l">
              <a:defRPr sz="1800" b="1">
                <a:solidFill>
                  <a:srgbClr val="FFFFFF"/>
                </a:solidFill>
                <a:latin typeface="Arial"/>
                <a:ea typeface="Arial"/>
                <a:cs typeface="Arial"/>
              </a:defRPr>
            </a:pPr>
            <a:r>
              <a:rPr sz="1800" b="1">
                <a:solidFill>
                  <a:srgbClr val="FFFFFF"/>
                </a:solidFill>
                <a:latin typeface="Arial"/>
                <a:ea typeface="Arial"/>
                <a:cs typeface="Arial"/>
              </a:rPr>
              <a:t>Quality and</a:t>
            </a:r>
          </a:p>
          <a:p>
            <a:pPr algn="l">
              <a:defRPr sz="1800" b="1">
                <a:solidFill>
                  <a:srgbClr val="FFFFFF"/>
                </a:solidFill>
                <a:latin typeface="Arial"/>
                <a:ea typeface="Arial"/>
                <a:cs typeface="Arial"/>
              </a:defRPr>
            </a:pPr>
            <a:r>
              <a:rPr sz="1800" b="1">
                <a:solidFill>
                  <a:srgbClr val="FFFFFF"/>
                </a:solidFill>
                <a:latin typeface="Arial"/>
                <a:ea typeface="Arial"/>
                <a:cs typeface="Arial"/>
              </a:rPr>
              <a:t>performance story</a:t>
            </a:r>
          </a:p>
        </p:txBody>
      </p:sp>
      <p:sp>
        <p:nvSpPr>
          <p:cNvPr id="27" name="text-58-555">
            <a:extLst>
              <a:ext uri="{FF2B5EF4-FFF2-40B4-BE49-F238E27FC236}">
                <a16:creationId xmlns:a16="http://schemas.microsoft.com/office/drawing/2014/main" id="{E9C60897-C847-4C5F-9D1B-934044D6F7AC}"/>
              </a:ext>
            </a:extLst>
          </p:cNvPr>
          <p:cNvSpPr>
            <a:spLocks noGrp="1"/>
          </p:cNvSpPr>
          <p:nvPr/>
        </p:nvSpPr>
        <p:spPr>
          <a:xfrm>
            <a:off x="552450" y="5286375"/>
            <a:ext cx="10925175" cy="400050"/>
          </a:xfrm>
          <a:prstGeom prst="rect">
            <a:avLst/>
          </a:prstGeom>
          <a:noFill/>
          <a:ln w="0">
            <a:noFill/>
            <a:prstDash val="solid"/>
          </a:ln>
        </p:spPr>
        <p:txBody>
          <a:bodyPr anchor="t"/>
          <a:lstStyle/>
          <a:p>
            <a:pPr algn="l">
              <a:defRPr sz="1800" b="0">
                <a:solidFill>
                  <a:srgbClr val="5F6368"/>
                </a:solidFill>
                <a:latin typeface="Arial"/>
                <a:ea typeface="Arial"/>
                <a:cs typeface="Arial"/>
              </a:defRPr>
            </a:pPr>
            <a:r>
              <a:rPr sz="1800" b="0">
                <a:solidFill>
                  <a:srgbClr val="5F6368"/>
                </a:solidFill>
                <a:latin typeface="Arial"/>
                <a:ea typeface="Arial"/>
                <a:cs typeface="Arial"/>
              </a:rPr>
              <a:t>The clean files support analysis; the metrics file explains the transformation.</a:t>
            </a:r>
          </a:p>
        </p:txBody>
      </p:sp>
    </p:spTree>
    <p:extLst>
      <p:ext uri="{BB962C8B-B14F-4D97-AF65-F5344CB8AC3E}">
        <p14:creationId xmlns:p14="http://schemas.microsoft.com/office/powerpoint/2010/main" val="1699899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eyebrow">
            <a:extLst>
              <a:ext uri="{FF2B5EF4-FFF2-40B4-BE49-F238E27FC236}">
                <a16:creationId xmlns:a16="http://schemas.microsoft.com/office/drawing/2014/main" id="{06D69FDF-82D6-435D-902A-A146405E01B9}"/>
              </a:ext>
            </a:extLst>
          </p:cNvPr>
          <p:cNvSpPr>
            <a:spLocks noGrp="1"/>
          </p:cNvSpPr>
          <p:nvPr/>
        </p:nvSpPr>
        <p:spPr>
          <a:xfrm>
            <a:off x="533400" y="323850"/>
            <a:ext cx="4762500" cy="228600"/>
          </a:xfrm>
          <a:prstGeom prst="rect">
            <a:avLst/>
          </a:prstGeom>
          <a:noFill/>
          <a:ln w="0">
            <a:noFill/>
            <a:prstDash val="solid"/>
          </a:ln>
        </p:spPr>
        <p:txBody>
          <a:bodyPr anchor="t"/>
          <a:lstStyle/>
          <a:p>
            <a:pPr algn="l">
              <a:defRPr sz="1050" b="1">
                <a:solidFill>
                  <a:srgbClr val="3D8DFF"/>
                </a:solidFill>
                <a:latin typeface="Arial"/>
                <a:ea typeface="Arial"/>
                <a:cs typeface="Arial"/>
              </a:defRPr>
            </a:pPr>
            <a:r>
              <a:rPr sz="1050" b="1">
                <a:solidFill>
                  <a:srgbClr val="3D8DFF"/>
                </a:solidFill>
                <a:latin typeface="Arial"/>
                <a:ea typeface="Arial"/>
                <a:cs typeface="Arial"/>
              </a:rPr>
              <a:t>DATA ENGINEERING METRICS</a:t>
            </a:r>
          </a:p>
        </p:txBody>
      </p:sp>
      <p:sp>
        <p:nvSpPr>
          <p:cNvPr id="2" name="slide-title">
            <a:extLst>
              <a:ext uri="{FF2B5EF4-FFF2-40B4-BE49-F238E27FC236}">
                <a16:creationId xmlns:a16="http://schemas.microsoft.com/office/drawing/2014/main" id="{5127B5A5-26A4-4839-B67F-4CFC3695B446}"/>
              </a:ext>
            </a:extLst>
          </p:cNvPr>
          <p:cNvSpPr>
            <a:spLocks noGrp="1"/>
          </p:cNvSpPr>
          <p:nvPr/>
        </p:nvSpPr>
        <p:spPr>
          <a:xfrm>
            <a:off x="533400" y="628650"/>
            <a:ext cx="11125200" cy="685800"/>
          </a:xfrm>
          <a:prstGeom prst="rect">
            <a:avLst/>
          </a:prstGeom>
          <a:noFill/>
          <a:ln w="0">
            <a:noFill/>
            <a:prstDash val="solid"/>
          </a:ln>
        </p:spPr>
        <p:txBody>
          <a:bodyPr anchor="t"/>
          <a:lstStyle/>
          <a:p>
            <a:pPr algn="l">
              <a:defRPr sz="2850" b="1">
                <a:solidFill>
                  <a:srgbClr val="111111"/>
                </a:solidFill>
                <a:latin typeface="Arial"/>
                <a:ea typeface="Arial"/>
                <a:cs typeface="Arial"/>
              </a:defRPr>
            </a:pPr>
            <a:r>
              <a:rPr sz="2850" b="1">
                <a:solidFill>
                  <a:srgbClr val="111111"/>
                </a:solidFill>
                <a:latin typeface="Arial"/>
                <a:ea typeface="Arial"/>
                <a:cs typeface="Arial"/>
              </a:rPr>
              <a:t>The refactor separates cleaning, enrichment and observability</a:t>
            </a:r>
          </a:p>
        </p:txBody>
      </p:sp>
      <p:sp>
        <p:nvSpPr>
          <p:cNvPr id="3" name="rule-143">
            <a:extLst>
              <a:ext uri="{FF2B5EF4-FFF2-40B4-BE49-F238E27FC236}">
                <a16:creationId xmlns:a16="http://schemas.microsoft.com/office/drawing/2014/main" id="{4A9B9EEA-3EB3-45DE-A638-B4B14EB7BAF1}"/>
              </a:ext>
            </a:extLst>
          </p:cNvPr>
          <p:cNvSpPr>
            <a:spLocks noGrp="1"/>
          </p:cNvSpPr>
          <p:nvPr/>
        </p:nvSpPr>
        <p:spPr>
          <a:xfrm>
            <a:off x="533400" y="1362075"/>
            <a:ext cx="11125200" cy="9525"/>
          </a:xfrm>
          <a:prstGeom prst="rect">
            <a:avLst/>
          </a:prstGeom>
          <a:solidFill>
            <a:srgbClr val="B8BCC4"/>
          </a:solidFill>
          <a:ln w="0">
            <a:solidFill>
              <a:srgbClr val="B8BCC4"/>
            </a:solidFill>
            <a:prstDash val="solid"/>
          </a:ln>
        </p:spPr>
        <p:txBody>
          <a:bodyPr/>
          <a:lstStyle/>
          <a:p>
            <a:endParaRPr lang="en-GB"/>
          </a:p>
        </p:txBody>
      </p:sp>
      <p:sp>
        <p:nvSpPr>
          <p:cNvPr id="4" name="slide-number">
            <a:extLst>
              <a:ext uri="{FF2B5EF4-FFF2-40B4-BE49-F238E27FC236}">
                <a16:creationId xmlns:a16="http://schemas.microsoft.com/office/drawing/2014/main" id="{B1B4BA45-5323-46F2-82F2-A72FD01F7521}"/>
              </a:ext>
            </a:extLst>
          </p:cNvPr>
          <p:cNvSpPr>
            <a:spLocks noGrp="1"/>
          </p:cNvSpPr>
          <p:nvPr/>
        </p:nvSpPr>
        <p:spPr>
          <a:xfrm>
            <a:off x="11144250" y="6381750"/>
            <a:ext cx="514350" cy="209550"/>
          </a:xfrm>
          <a:prstGeom prst="rect">
            <a:avLst/>
          </a:prstGeom>
          <a:noFill/>
          <a:ln w="0">
            <a:noFill/>
            <a:prstDash val="solid"/>
          </a:ln>
        </p:spPr>
        <p:txBody>
          <a:bodyPr anchor="t"/>
          <a:lstStyle/>
          <a:p>
            <a:pPr algn="r">
              <a:defRPr sz="975" b="0">
                <a:solidFill>
                  <a:srgbClr val="5F6368"/>
                </a:solidFill>
                <a:latin typeface="Arial"/>
                <a:ea typeface="Arial"/>
                <a:cs typeface="Arial"/>
              </a:defRPr>
            </a:pPr>
            <a:r>
              <a:rPr sz="975" b="0">
                <a:solidFill>
                  <a:srgbClr val="5F6368"/>
                </a:solidFill>
                <a:latin typeface="Arial"/>
                <a:ea typeface="Arial"/>
                <a:cs typeface="Arial"/>
              </a:rPr>
              <a:t>04</a:t>
            </a:r>
          </a:p>
        </p:txBody>
      </p:sp>
      <p:sp>
        <p:nvSpPr>
          <p:cNvPr id="5" name="shape-60-340">
            <a:extLst>
              <a:ext uri="{FF2B5EF4-FFF2-40B4-BE49-F238E27FC236}">
                <a16:creationId xmlns:a16="http://schemas.microsoft.com/office/drawing/2014/main" id="{BC2260D9-C959-4202-8BB8-A54E372B020A}"/>
              </a:ext>
            </a:extLst>
          </p:cNvPr>
          <p:cNvSpPr>
            <a:spLocks noGrp="1"/>
          </p:cNvSpPr>
          <p:nvPr/>
        </p:nvSpPr>
        <p:spPr>
          <a:xfrm>
            <a:off x="571500" y="3238500"/>
            <a:ext cx="10763250" cy="19050"/>
          </a:xfrm>
          <a:prstGeom prst="rect">
            <a:avLst/>
          </a:prstGeom>
          <a:solidFill>
            <a:srgbClr val="111111"/>
          </a:solidFill>
          <a:ln w="0">
            <a:solidFill>
              <a:srgbClr val="111111"/>
            </a:solidFill>
            <a:prstDash val="solid"/>
          </a:ln>
        </p:spPr>
        <p:txBody>
          <a:bodyPr/>
          <a:lstStyle/>
          <a:p>
            <a:endParaRPr lang="en-GB"/>
          </a:p>
        </p:txBody>
      </p:sp>
      <p:sp>
        <p:nvSpPr>
          <p:cNvPr id="6" name="shape-125-332">
            <a:extLst>
              <a:ext uri="{FF2B5EF4-FFF2-40B4-BE49-F238E27FC236}">
                <a16:creationId xmlns:a16="http://schemas.microsoft.com/office/drawing/2014/main" id="{999E04AA-8332-4C94-8554-9803EEC23566}"/>
              </a:ext>
            </a:extLst>
          </p:cNvPr>
          <p:cNvSpPr>
            <a:spLocks noGrp="1"/>
          </p:cNvSpPr>
          <p:nvPr/>
        </p:nvSpPr>
        <p:spPr>
          <a:xfrm>
            <a:off x="1190625" y="3162300"/>
            <a:ext cx="171450" cy="171450"/>
          </a:xfrm>
          <a:prstGeom prst="ellipse">
            <a:avLst/>
          </a:prstGeom>
          <a:solidFill>
            <a:srgbClr val="111111"/>
          </a:solidFill>
          <a:ln w="0">
            <a:solidFill>
              <a:srgbClr val="111111"/>
            </a:solidFill>
            <a:prstDash val="solid"/>
          </a:ln>
        </p:spPr>
        <p:txBody>
          <a:bodyPr/>
          <a:lstStyle/>
          <a:p>
            <a:endParaRPr lang="en-GB"/>
          </a:p>
        </p:txBody>
      </p:sp>
      <p:sp>
        <p:nvSpPr>
          <p:cNvPr id="7" name="shape-510-332">
            <a:extLst>
              <a:ext uri="{FF2B5EF4-FFF2-40B4-BE49-F238E27FC236}">
                <a16:creationId xmlns:a16="http://schemas.microsoft.com/office/drawing/2014/main" id="{77B9DFB4-AE8F-4853-A7E8-F497D27F357F}"/>
              </a:ext>
            </a:extLst>
          </p:cNvPr>
          <p:cNvSpPr>
            <a:spLocks noGrp="1"/>
          </p:cNvSpPr>
          <p:nvPr/>
        </p:nvSpPr>
        <p:spPr>
          <a:xfrm>
            <a:off x="4857750" y="3162300"/>
            <a:ext cx="171450" cy="171450"/>
          </a:xfrm>
          <a:prstGeom prst="ellipse">
            <a:avLst/>
          </a:prstGeom>
          <a:solidFill>
            <a:srgbClr val="111111"/>
          </a:solidFill>
          <a:ln w="0">
            <a:solidFill>
              <a:srgbClr val="111111"/>
            </a:solidFill>
            <a:prstDash val="solid"/>
          </a:ln>
        </p:spPr>
        <p:txBody>
          <a:bodyPr/>
          <a:lstStyle/>
          <a:p>
            <a:endParaRPr lang="en-GB"/>
          </a:p>
        </p:txBody>
      </p:sp>
      <p:sp>
        <p:nvSpPr>
          <p:cNvPr id="8" name="shape-895-332">
            <a:extLst>
              <a:ext uri="{FF2B5EF4-FFF2-40B4-BE49-F238E27FC236}">
                <a16:creationId xmlns:a16="http://schemas.microsoft.com/office/drawing/2014/main" id="{099774C7-BE36-4CF7-90FB-E094A492CCDE}"/>
              </a:ext>
            </a:extLst>
          </p:cNvPr>
          <p:cNvSpPr>
            <a:spLocks noGrp="1"/>
          </p:cNvSpPr>
          <p:nvPr/>
        </p:nvSpPr>
        <p:spPr>
          <a:xfrm>
            <a:off x="8524875" y="3162300"/>
            <a:ext cx="171450" cy="171450"/>
          </a:xfrm>
          <a:prstGeom prst="ellipse">
            <a:avLst/>
          </a:prstGeom>
          <a:solidFill>
            <a:srgbClr val="111111"/>
          </a:solidFill>
          <a:ln w="0">
            <a:solidFill>
              <a:srgbClr val="111111"/>
            </a:solidFill>
            <a:prstDash val="solid"/>
          </a:ln>
        </p:spPr>
        <p:txBody>
          <a:bodyPr/>
          <a:lstStyle/>
          <a:p>
            <a:endParaRPr lang="en-GB"/>
          </a:p>
        </p:txBody>
      </p:sp>
      <p:sp>
        <p:nvSpPr>
          <p:cNvPr id="9" name="text-60-230">
            <a:extLst>
              <a:ext uri="{FF2B5EF4-FFF2-40B4-BE49-F238E27FC236}">
                <a16:creationId xmlns:a16="http://schemas.microsoft.com/office/drawing/2014/main" id="{949535AF-8EEE-4630-8CDD-6922C13B0BAE}"/>
              </a:ext>
            </a:extLst>
          </p:cNvPr>
          <p:cNvSpPr>
            <a:spLocks noGrp="1"/>
          </p:cNvSpPr>
          <p:nvPr/>
        </p:nvSpPr>
        <p:spPr>
          <a:xfrm>
            <a:off x="571500" y="2190750"/>
            <a:ext cx="1143000" cy="333375"/>
          </a:xfrm>
          <a:prstGeom prst="rect">
            <a:avLst/>
          </a:prstGeom>
          <a:noFill/>
          <a:ln w="0">
            <a:noFill/>
            <a:prstDash val="solid"/>
          </a:ln>
        </p:spPr>
        <p:txBody>
          <a:bodyPr anchor="t"/>
          <a:lstStyle/>
          <a:p>
            <a:pPr algn="l">
              <a:defRPr sz="1650" b="1">
                <a:solidFill>
                  <a:srgbClr val="3D8DFF"/>
                </a:solidFill>
                <a:latin typeface="Arial"/>
                <a:ea typeface="Arial"/>
                <a:cs typeface="Arial"/>
              </a:defRPr>
            </a:pPr>
            <a:r>
              <a:rPr sz="1650" b="1">
                <a:solidFill>
                  <a:srgbClr val="3D8DFF"/>
                </a:solidFill>
                <a:latin typeface="Arial"/>
                <a:ea typeface="Arial"/>
                <a:cs typeface="Arial"/>
              </a:rPr>
              <a:t>01</a:t>
            </a:r>
          </a:p>
        </p:txBody>
      </p:sp>
      <p:sp>
        <p:nvSpPr>
          <p:cNvPr id="10" name="text-60-275">
            <a:extLst>
              <a:ext uri="{FF2B5EF4-FFF2-40B4-BE49-F238E27FC236}">
                <a16:creationId xmlns:a16="http://schemas.microsoft.com/office/drawing/2014/main" id="{9EA0959F-CEC5-4614-BEEC-B754652C4638}"/>
              </a:ext>
            </a:extLst>
          </p:cNvPr>
          <p:cNvSpPr>
            <a:spLocks noGrp="1"/>
          </p:cNvSpPr>
          <p:nvPr/>
        </p:nvSpPr>
        <p:spPr>
          <a:xfrm>
            <a:off x="571500" y="2619375"/>
            <a:ext cx="2667000" cy="428625"/>
          </a:xfrm>
          <a:prstGeom prst="rect">
            <a:avLst/>
          </a:prstGeom>
          <a:noFill/>
          <a:ln w="0">
            <a:noFill/>
            <a:prstDash val="solid"/>
          </a:ln>
        </p:spPr>
        <p:txBody>
          <a:bodyPr anchor="t"/>
          <a:lstStyle/>
          <a:p>
            <a:pPr algn="l">
              <a:defRPr sz="2325" b="1">
                <a:solidFill>
                  <a:srgbClr val="111111"/>
                </a:solidFill>
                <a:latin typeface="Arial"/>
                <a:ea typeface="Arial"/>
                <a:cs typeface="Arial"/>
              </a:defRPr>
            </a:pPr>
            <a:r>
              <a:rPr sz="2325" b="1">
                <a:solidFill>
                  <a:srgbClr val="111111"/>
                </a:solidFill>
                <a:latin typeface="Arial"/>
                <a:ea typeface="Arial"/>
                <a:cs typeface="Arial"/>
              </a:rPr>
              <a:t>CLEAN</a:t>
            </a:r>
          </a:p>
        </p:txBody>
      </p:sp>
      <p:sp>
        <p:nvSpPr>
          <p:cNvPr id="11" name="text-60-390">
            <a:extLst>
              <a:ext uri="{FF2B5EF4-FFF2-40B4-BE49-F238E27FC236}">
                <a16:creationId xmlns:a16="http://schemas.microsoft.com/office/drawing/2014/main" id="{E3E7A541-6F2C-4965-A9F9-C2EA0646FD39}"/>
              </a:ext>
            </a:extLst>
          </p:cNvPr>
          <p:cNvSpPr>
            <a:spLocks noGrp="1"/>
          </p:cNvSpPr>
          <p:nvPr/>
        </p:nvSpPr>
        <p:spPr>
          <a:xfrm>
            <a:off x="571500" y="3714750"/>
            <a:ext cx="2857500" cy="1190625"/>
          </a:xfrm>
          <a:prstGeom prst="rect">
            <a:avLst/>
          </a:prstGeom>
          <a:noFill/>
          <a:ln w="0">
            <a:noFill/>
            <a:prstDash val="solid"/>
          </a:ln>
        </p:spPr>
        <p:txBody>
          <a:bodyPr anchor="t"/>
          <a:lstStyle/>
          <a:p>
            <a:pPr algn="l">
              <a:defRPr sz="1575" b="0">
                <a:solidFill>
                  <a:srgbClr val="5F6368"/>
                </a:solidFill>
                <a:latin typeface="Arial"/>
                <a:ea typeface="Arial"/>
                <a:cs typeface="Arial"/>
              </a:defRPr>
            </a:pPr>
            <a:r>
              <a:rPr sz="1575" b="0">
                <a:solidFill>
                  <a:srgbClr val="5F6368"/>
                </a:solidFill>
                <a:latin typeface="Arial"/>
                <a:ea typeface="Arial"/>
                <a:cs typeface="Arial"/>
              </a:rPr>
              <a:t>Normalise columns, remove empty rows, trim text and convert identifiers.</a:t>
            </a:r>
          </a:p>
        </p:txBody>
      </p:sp>
      <p:sp>
        <p:nvSpPr>
          <p:cNvPr id="12" name="text-445-230">
            <a:extLst>
              <a:ext uri="{FF2B5EF4-FFF2-40B4-BE49-F238E27FC236}">
                <a16:creationId xmlns:a16="http://schemas.microsoft.com/office/drawing/2014/main" id="{48338FB4-C45F-4146-BE6E-FC9E42003C19}"/>
              </a:ext>
            </a:extLst>
          </p:cNvPr>
          <p:cNvSpPr>
            <a:spLocks noGrp="1"/>
          </p:cNvSpPr>
          <p:nvPr/>
        </p:nvSpPr>
        <p:spPr>
          <a:xfrm>
            <a:off x="4238625" y="2190750"/>
            <a:ext cx="1143000" cy="333375"/>
          </a:xfrm>
          <a:prstGeom prst="rect">
            <a:avLst/>
          </a:prstGeom>
          <a:noFill/>
          <a:ln w="0">
            <a:noFill/>
            <a:prstDash val="solid"/>
          </a:ln>
        </p:spPr>
        <p:txBody>
          <a:bodyPr anchor="t"/>
          <a:lstStyle/>
          <a:p>
            <a:pPr algn="l">
              <a:defRPr sz="1650" b="1">
                <a:solidFill>
                  <a:srgbClr val="3D8DFF"/>
                </a:solidFill>
                <a:latin typeface="Arial"/>
                <a:ea typeface="Arial"/>
                <a:cs typeface="Arial"/>
              </a:defRPr>
            </a:pPr>
            <a:r>
              <a:rPr sz="1650" b="1">
                <a:solidFill>
                  <a:srgbClr val="3D8DFF"/>
                </a:solidFill>
                <a:latin typeface="Arial"/>
                <a:ea typeface="Arial"/>
                <a:cs typeface="Arial"/>
              </a:rPr>
              <a:t>02</a:t>
            </a:r>
          </a:p>
        </p:txBody>
      </p:sp>
      <p:sp>
        <p:nvSpPr>
          <p:cNvPr id="13" name="text-445-275">
            <a:extLst>
              <a:ext uri="{FF2B5EF4-FFF2-40B4-BE49-F238E27FC236}">
                <a16:creationId xmlns:a16="http://schemas.microsoft.com/office/drawing/2014/main" id="{A8A908B5-49F6-4DC7-B1D8-BF2422E8A854}"/>
              </a:ext>
            </a:extLst>
          </p:cNvPr>
          <p:cNvSpPr>
            <a:spLocks noGrp="1"/>
          </p:cNvSpPr>
          <p:nvPr/>
        </p:nvSpPr>
        <p:spPr>
          <a:xfrm>
            <a:off x="4238625" y="2619375"/>
            <a:ext cx="2667000" cy="428625"/>
          </a:xfrm>
          <a:prstGeom prst="rect">
            <a:avLst/>
          </a:prstGeom>
          <a:noFill/>
          <a:ln w="0">
            <a:noFill/>
            <a:prstDash val="solid"/>
          </a:ln>
        </p:spPr>
        <p:txBody>
          <a:bodyPr anchor="t"/>
          <a:lstStyle/>
          <a:p>
            <a:pPr algn="l">
              <a:defRPr sz="2325" b="1">
                <a:solidFill>
                  <a:srgbClr val="111111"/>
                </a:solidFill>
                <a:latin typeface="Arial"/>
                <a:ea typeface="Arial"/>
                <a:cs typeface="Arial"/>
              </a:defRPr>
            </a:pPr>
            <a:r>
              <a:rPr sz="2325" b="1">
                <a:solidFill>
                  <a:srgbClr val="111111"/>
                </a:solidFill>
                <a:latin typeface="Arial"/>
                <a:ea typeface="Arial"/>
                <a:cs typeface="Arial"/>
              </a:rPr>
              <a:t>ENRICH</a:t>
            </a:r>
          </a:p>
        </p:txBody>
      </p:sp>
      <p:sp>
        <p:nvSpPr>
          <p:cNvPr id="14" name="text-445-390">
            <a:extLst>
              <a:ext uri="{FF2B5EF4-FFF2-40B4-BE49-F238E27FC236}">
                <a16:creationId xmlns:a16="http://schemas.microsoft.com/office/drawing/2014/main" id="{1633D190-D850-4293-BD8B-E4A84A59AF19}"/>
              </a:ext>
            </a:extLst>
          </p:cNvPr>
          <p:cNvSpPr>
            <a:spLocks noGrp="1"/>
          </p:cNvSpPr>
          <p:nvPr/>
        </p:nvSpPr>
        <p:spPr>
          <a:xfrm>
            <a:off x="4238625" y="3714750"/>
            <a:ext cx="2857500" cy="1190625"/>
          </a:xfrm>
          <a:prstGeom prst="rect">
            <a:avLst/>
          </a:prstGeom>
          <a:noFill/>
          <a:ln w="0">
            <a:noFill/>
            <a:prstDash val="solid"/>
          </a:ln>
        </p:spPr>
        <p:txBody>
          <a:bodyPr anchor="t"/>
          <a:lstStyle/>
          <a:p>
            <a:pPr algn="l">
              <a:defRPr sz="1575" b="0">
                <a:solidFill>
                  <a:srgbClr val="5F6368"/>
                </a:solidFill>
                <a:latin typeface="Arial"/>
                <a:ea typeface="Arial"/>
                <a:cs typeface="Arial"/>
              </a:defRPr>
            </a:pPr>
            <a:r>
              <a:rPr sz="1575" b="0">
                <a:solidFill>
                  <a:srgbClr val="5F6368"/>
                </a:solidFill>
                <a:latin typeface="Arial"/>
                <a:ea typeface="Arial"/>
                <a:cs typeface="Arial"/>
              </a:rPr>
              <a:t>Parse UK dates, calculate loan days, convert two weeks to 14 days and flag late returns.</a:t>
            </a:r>
          </a:p>
        </p:txBody>
      </p:sp>
      <p:sp>
        <p:nvSpPr>
          <p:cNvPr id="15" name="text-830-230">
            <a:extLst>
              <a:ext uri="{FF2B5EF4-FFF2-40B4-BE49-F238E27FC236}">
                <a16:creationId xmlns:a16="http://schemas.microsoft.com/office/drawing/2014/main" id="{A416AFA3-6508-4960-9A68-9562C232C6BF}"/>
              </a:ext>
            </a:extLst>
          </p:cNvPr>
          <p:cNvSpPr>
            <a:spLocks noGrp="1"/>
          </p:cNvSpPr>
          <p:nvPr/>
        </p:nvSpPr>
        <p:spPr>
          <a:xfrm>
            <a:off x="7905750" y="2190750"/>
            <a:ext cx="1143000" cy="333375"/>
          </a:xfrm>
          <a:prstGeom prst="rect">
            <a:avLst/>
          </a:prstGeom>
          <a:noFill/>
          <a:ln w="0">
            <a:noFill/>
            <a:prstDash val="solid"/>
          </a:ln>
        </p:spPr>
        <p:txBody>
          <a:bodyPr anchor="t"/>
          <a:lstStyle/>
          <a:p>
            <a:pPr algn="l">
              <a:defRPr sz="1650" b="1">
                <a:solidFill>
                  <a:srgbClr val="3D8DFF"/>
                </a:solidFill>
                <a:latin typeface="Arial"/>
                <a:ea typeface="Arial"/>
                <a:cs typeface="Arial"/>
              </a:defRPr>
            </a:pPr>
            <a:r>
              <a:rPr sz="1650" b="1">
                <a:solidFill>
                  <a:srgbClr val="3D8DFF"/>
                </a:solidFill>
                <a:latin typeface="Arial"/>
                <a:ea typeface="Arial"/>
                <a:cs typeface="Arial"/>
              </a:rPr>
              <a:t>03</a:t>
            </a:r>
          </a:p>
        </p:txBody>
      </p:sp>
      <p:sp>
        <p:nvSpPr>
          <p:cNvPr id="16" name="text-830-275">
            <a:extLst>
              <a:ext uri="{FF2B5EF4-FFF2-40B4-BE49-F238E27FC236}">
                <a16:creationId xmlns:a16="http://schemas.microsoft.com/office/drawing/2014/main" id="{6C7DD7CF-B896-4527-8E62-96BA3FA99CB8}"/>
              </a:ext>
            </a:extLst>
          </p:cNvPr>
          <p:cNvSpPr>
            <a:spLocks noGrp="1"/>
          </p:cNvSpPr>
          <p:nvPr/>
        </p:nvSpPr>
        <p:spPr>
          <a:xfrm>
            <a:off x="7905750" y="2619375"/>
            <a:ext cx="2667000" cy="428625"/>
          </a:xfrm>
          <a:prstGeom prst="rect">
            <a:avLst/>
          </a:prstGeom>
          <a:noFill/>
          <a:ln w="0">
            <a:noFill/>
            <a:prstDash val="solid"/>
          </a:ln>
        </p:spPr>
        <p:txBody>
          <a:bodyPr anchor="t"/>
          <a:lstStyle/>
          <a:p>
            <a:pPr algn="l">
              <a:defRPr sz="2325" b="1">
                <a:solidFill>
                  <a:srgbClr val="111111"/>
                </a:solidFill>
                <a:latin typeface="Arial"/>
                <a:ea typeface="Arial"/>
                <a:cs typeface="Arial"/>
              </a:defRPr>
            </a:pPr>
            <a:r>
              <a:rPr sz="2325" b="1">
                <a:solidFill>
                  <a:srgbClr val="111111"/>
                </a:solidFill>
                <a:latin typeface="Arial"/>
                <a:ea typeface="Arial"/>
                <a:cs typeface="Arial"/>
              </a:rPr>
              <a:t>OBSERVE</a:t>
            </a:r>
          </a:p>
        </p:txBody>
      </p:sp>
      <p:sp>
        <p:nvSpPr>
          <p:cNvPr id="17" name="text-830-390">
            <a:extLst>
              <a:ext uri="{FF2B5EF4-FFF2-40B4-BE49-F238E27FC236}">
                <a16:creationId xmlns:a16="http://schemas.microsoft.com/office/drawing/2014/main" id="{D24BC2E3-A97A-4603-B4E9-1A07784C578E}"/>
              </a:ext>
            </a:extLst>
          </p:cNvPr>
          <p:cNvSpPr>
            <a:spLocks noGrp="1"/>
          </p:cNvSpPr>
          <p:nvPr/>
        </p:nvSpPr>
        <p:spPr>
          <a:xfrm>
            <a:off x="7905750" y="3714750"/>
            <a:ext cx="3143250" cy="1190625"/>
          </a:xfrm>
          <a:prstGeom prst="rect">
            <a:avLst/>
          </a:prstGeom>
          <a:noFill/>
          <a:ln w="0">
            <a:noFill/>
            <a:prstDash val="solid"/>
          </a:ln>
        </p:spPr>
        <p:txBody>
          <a:bodyPr anchor="t"/>
          <a:lstStyle/>
          <a:p>
            <a:pPr algn="l">
              <a:defRPr sz="1575" b="0">
                <a:solidFill>
                  <a:srgbClr val="5F6368"/>
                </a:solidFill>
                <a:latin typeface="Arial"/>
                <a:ea typeface="Arial"/>
                <a:cs typeface="Arial"/>
              </a:defRPr>
            </a:pPr>
            <a:r>
              <a:rPr sz="1575" b="0">
                <a:solidFill>
                  <a:srgbClr val="5F6368"/>
                </a:solidFill>
                <a:latin typeface="Arial"/>
                <a:ea typeface="Arial"/>
                <a:cs typeface="Arial"/>
              </a:rPr>
              <a:t>Capture row, null, duplicate, completeness, quality and processing-time metrics.</a:t>
            </a:r>
          </a:p>
        </p:txBody>
      </p:sp>
    </p:spTree>
    <p:extLst>
      <p:ext uri="{BB962C8B-B14F-4D97-AF65-F5344CB8AC3E}">
        <p14:creationId xmlns:p14="http://schemas.microsoft.com/office/powerpoint/2010/main" val="18088404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eyebrow">
            <a:extLst>
              <a:ext uri="{FF2B5EF4-FFF2-40B4-BE49-F238E27FC236}">
                <a16:creationId xmlns:a16="http://schemas.microsoft.com/office/drawing/2014/main" id="{8542D1EA-9A4D-4260-A005-6745E0CF9F08}"/>
              </a:ext>
            </a:extLst>
          </p:cNvPr>
          <p:cNvSpPr>
            <a:spLocks noGrp="1"/>
          </p:cNvSpPr>
          <p:nvPr/>
        </p:nvSpPr>
        <p:spPr>
          <a:xfrm>
            <a:off x="533400" y="323850"/>
            <a:ext cx="4762500" cy="228600"/>
          </a:xfrm>
          <a:prstGeom prst="rect">
            <a:avLst/>
          </a:prstGeom>
          <a:noFill/>
          <a:ln w="0">
            <a:noFill/>
            <a:prstDash val="solid"/>
          </a:ln>
        </p:spPr>
        <p:txBody>
          <a:bodyPr anchor="t"/>
          <a:lstStyle/>
          <a:p>
            <a:pPr algn="l">
              <a:defRPr sz="1050" b="1">
                <a:solidFill>
                  <a:srgbClr val="3D8DFF"/>
                </a:solidFill>
                <a:latin typeface="Arial"/>
                <a:ea typeface="Arial"/>
                <a:cs typeface="Arial"/>
              </a:defRPr>
            </a:pPr>
            <a:r>
              <a:rPr sz="1050" b="1">
                <a:solidFill>
                  <a:srgbClr val="3D8DFF"/>
                </a:solidFill>
                <a:latin typeface="Arial"/>
                <a:ea typeface="Arial"/>
                <a:cs typeface="Arial"/>
              </a:rPr>
              <a:t>DATA ENGINEERING METRICS</a:t>
            </a:r>
          </a:p>
        </p:txBody>
      </p:sp>
      <p:sp>
        <p:nvSpPr>
          <p:cNvPr id="2" name="slide-title">
            <a:extLst>
              <a:ext uri="{FF2B5EF4-FFF2-40B4-BE49-F238E27FC236}">
                <a16:creationId xmlns:a16="http://schemas.microsoft.com/office/drawing/2014/main" id="{391915B9-727F-4D2B-9DCC-CBCE13690964}"/>
              </a:ext>
            </a:extLst>
          </p:cNvPr>
          <p:cNvSpPr>
            <a:spLocks noGrp="1"/>
          </p:cNvSpPr>
          <p:nvPr/>
        </p:nvSpPr>
        <p:spPr>
          <a:xfrm>
            <a:off x="533400" y="628650"/>
            <a:ext cx="11125200" cy="685800"/>
          </a:xfrm>
          <a:prstGeom prst="rect">
            <a:avLst/>
          </a:prstGeom>
          <a:noFill/>
          <a:ln w="0">
            <a:noFill/>
            <a:prstDash val="solid"/>
          </a:ln>
        </p:spPr>
        <p:txBody>
          <a:bodyPr anchor="t"/>
          <a:lstStyle/>
          <a:p>
            <a:pPr algn="l">
              <a:defRPr sz="2850" b="1">
                <a:solidFill>
                  <a:srgbClr val="111111"/>
                </a:solidFill>
                <a:latin typeface="Arial"/>
                <a:ea typeface="Arial"/>
                <a:cs typeface="Arial"/>
              </a:defRPr>
            </a:pPr>
            <a:r>
              <a:rPr sz="2850" b="1">
                <a:solidFill>
                  <a:srgbClr val="111111"/>
                </a:solidFill>
                <a:latin typeface="Arial"/>
                <a:ea typeface="Arial"/>
                <a:cs typeface="Arial"/>
              </a:rPr>
              <a:t>Quality rules turn ambiguity into measurable exceptions</a:t>
            </a:r>
          </a:p>
        </p:txBody>
      </p:sp>
      <p:sp>
        <p:nvSpPr>
          <p:cNvPr id="3" name="rule-143">
            <a:extLst>
              <a:ext uri="{FF2B5EF4-FFF2-40B4-BE49-F238E27FC236}">
                <a16:creationId xmlns:a16="http://schemas.microsoft.com/office/drawing/2014/main" id="{81D5D833-65F9-44F0-ACDE-D60A9D519B40}"/>
              </a:ext>
            </a:extLst>
          </p:cNvPr>
          <p:cNvSpPr>
            <a:spLocks noGrp="1"/>
          </p:cNvSpPr>
          <p:nvPr/>
        </p:nvSpPr>
        <p:spPr>
          <a:xfrm>
            <a:off x="533400" y="1362075"/>
            <a:ext cx="11125200" cy="9525"/>
          </a:xfrm>
          <a:prstGeom prst="rect">
            <a:avLst/>
          </a:prstGeom>
          <a:solidFill>
            <a:srgbClr val="B8BCC4"/>
          </a:solidFill>
          <a:ln w="0">
            <a:solidFill>
              <a:srgbClr val="B8BCC4"/>
            </a:solidFill>
            <a:prstDash val="solid"/>
          </a:ln>
        </p:spPr>
        <p:txBody>
          <a:bodyPr/>
          <a:lstStyle/>
          <a:p>
            <a:endParaRPr lang="en-GB"/>
          </a:p>
        </p:txBody>
      </p:sp>
      <p:sp>
        <p:nvSpPr>
          <p:cNvPr id="4" name="slide-number">
            <a:extLst>
              <a:ext uri="{FF2B5EF4-FFF2-40B4-BE49-F238E27FC236}">
                <a16:creationId xmlns:a16="http://schemas.microsoft.com/office/drawing/2014/main" id="{E3C8080F-97E4-4693-A7B7-7DD4177C9FDA}"/>
              </a:ext>
            </a:extLst>
          </p:cNvPr>
          <p:cNvSpPr>
            <a:spLocks noGrp="1"/>
          </p:cNvSpPr>
          <p:nvPr/>
        </p:nvSpPr>
        <p:spPr>
          <a:xfrm>
            <a:off x="11144250" y="6381750"/>
            <a:ext cx="514350" cy="209550"/>
          </a:xfrm>
          <a:prstGeom prst="rect">
            <a:avLst/>
          </a:prstGeom>
          <a:noFill/>
          <a:ln w="0">
            <a:noFill/>
            <a:prstDash val="solid"/>
          </a:ln>
        </p:spPr>
        <p:txBody>
          <a:bodyPr anchor="t"/>
          <a:lstStyle/>
          <a:p>
            <a:pPr algn="r">
              <a:defRPr sz="975" b="0">
                <a:solidFill>
                  <a:srgbClr val="5F6368"/>
                </a:solidFill>
                <a:latin typeface="Arial"/>
                <a:ea typeface="Arial"/>
                <a:cs typeface="Arial"/>
              </a:defRPr>
            </a:pPr>
            <a:r>
              <a:rPr sz="975" b="0">
                <a:solidFill>
                  <a:srgbClr val="5F6368"/>
                </a:solidFill>
                <a:latin typeface="Arial"/>
                <a:ea typeface="Arial"/>
                <a:cs typeface="Arial"/>
              </a:rPr>
              <a:t>05</a:t>
            </a:r>
          </a:p>
        </p:txBody>
      </p:sp>
      <p:sp>
        <p:nvSpPr>
          <p:cNvPr id="5" name="text-58-220">
            <a:extLst>
              <a:ext uri="{FF2B5EF4-FFF2-40B4-BE49-F238E27FC236}">
                <a16:creationId xmlns:a16="http://schemas.microsoft.com/office/drawing/2014/main" id="{F921FABC-2D20-481C-A759-9B21F9918E5C}"/>
              </a:ext>
            </a:extLst>
          </p:cNvPr>
          <p:cNvSpPr>
            <a:spLocks noGrp="1"/>
          </p:cNvSpPr>
          <p:nvPr/>
        </p:nvSpPr>
        <p:spPr>
          <a:xfrm>
            <a:off x="552450" y="2095500"/>
            <a:ext cx="2381250" cy="1143000"/>
          </a:xfrm>
          <a:prstGeom prst="rect">
            <a:avLst/>
          </a:prstGeom>
          <a:noFill/>
          <a:ln w="0">
            <a:noFill/>
            <a:prstDash val="solid"/>
          </a:ln>
        </p:spPr>
        <p:txBody>
          <a:bodyPr anchor="t"/>
          <a:lstStyle/>
          <a:p>
            <a:pPr algn="l">
              <a:defRPr sz="6900" b="1">
                <a:solidFill>
                  <a:srgbClr val="F2C811"/>
                </a:solidFill>
                <a:latin typeface="Arial"/>
                <a:ea typeface="Arial"/>
                <a:cs typeface="Arial"/>
              </a:defRPr>
            </a:pPr>
            <a:r>
              <a:rPr sz="6900" b="1">
                <a:solidFill>
                  <a:srgbClr val="F2C811"/>
                </a:solidFill>
                <a:latin typeface="Arial"/>
                <a:ea typeface="Arial"/>
                <a:cs typeface="Arial"/>
              </a:rPr>
              <a:t>5</a:t>
            </a:r>
          </a:p>
        </p:txBody>
      </p:sp>
      <p:sp>
        <p:nvSpPr>
          <p:cNvPr id="6" name="text-58-344">
            <a:extLst>
              <a:ext uri="{FF2B5EF4-FFF2-40B4-BE49-F238E27FC236}">
                <a16:creationId xmlns:a16="http://schemas.microsoft.com/office/drawing/2014/main" id="{237D9CD7-E56F-44D1-82B8-07B91A06E482}"/>
              </a:ext>
            </a:extLst>
          </p:cNvPr>
          <p:cNvSpPr>
            <a:spLocks noGrp="1"/>
          </p:cNvSpPr>
          <p:nvPr/>
        </p:nvSpPr>
        <p:spPr>
          <a:xfrm>
            <a:off x="552450" y="3276600"/>
            <a:ext cx="2857500" cy="361950"/>
          </a:xfrm>
          <a:prstGeom prst="rect">
            <a:avLst/>
          </a:prstGeom>
          <a:noFill/>
          <a:ln w="0">
            <a:noFill/>
            <a:prstDash val="solid"/>
          </a:ln>
        </p:spPr>
        <p:txBody>
          <a:bodyPr anchor="t"/>
          <a:lstStyle/>
          <a:p>
            <a:pPr algn="l">
              <a:defRPr sz="1950" b="1">
                <a:solidFill>
                  <a:srgbClr val="111111"/>
                </a:solidFill>
                <a:latin typeface="Arial"/>
                <a:ea typeface="Arial"/>
                <a:cs typeface="Arial"/>
              </a:defRPr>
            </a:pPr>
            <a:r>
              <a:rPr sz="1950" b="1">
                <a:solidFill>
                  <a:srgbClr val="111111"/>
                </a:solidFill>
                <a:latin typeface="Arial"/>
                <a:ea typeface="Arial"/>
                <a:cs typeface="Arial"/>
              </a:rPr>
              <a:t>validation lenses</a:t>
            </a:r>
          </a:p>
        </p:txBody>
      </p:sp>
      <p:sp>
        <p:nvSpPr>
          <p:cNvPr id="7" name="text-58-408">
            <a:extLst>
              <a:ext uri="{FF2B5EF4-FFF2-40B4-BE49-F238E27FC236}">
                <a16:creationId xmlns:a16="http://schemas.microsoft.com/office/drawing/2014/main" id="{2818F477-D6BB-4793-BA0C-8985B481CE65}"/>
              </a:ext>
            </a:extLst>
          </p:cNvPr>
          <p:cNvSpPr>
            <a:spLocks noGrp="1"/>
          </p:cNvSpPr>
          <p:nvPr/>
        </p:nvSpPr>
        <p:spPr>
          <a:xfrm>
            <a:off x="552450" y="3886200"/>
            <a:ext cx="3333750" cy="1143000"/>
          </a:xfrm>
          <a:prstGeom prst="rect">
            <a:avLst/>
          </a:prstGeom>
          <a:noFill/>
          <a:ln w="0">
            <a:noFill/>
            <a:prstDash val="solid"/>
          </a:ln>
        </p:spPr>
        <p:txBody>
          <a:bodyPr anchor="t"/>
          <a:lstStyle/>
          <a:p>
            <a:pPr algn="l">
              <a:defRPr sz="1575" b="0">
                <a:solidFill>
                  <a:srgbClr val="5F6368"/>
                </a:solidFill>
                <a:latin typeface="Arial"/>
                <a:ea typeface="Arial"/>
                <a:cs typeface="Arial"/>
              </a:defRPr>
            </a:pPr>
            <a:r>
              <a:rPr sz="1575" b="0">
                <a:solidFill>
                  <a:srgbClr val="5F6368"/>
                </a:solidFill>
                <a:latin typeface="Arial"/>
                <a:ea typeface="Arial"/>
                <a:cs typeface="Arial"/>
              </a:rPr>
              <a:t>The pipeline keeps questionable records and adds flags so they remain visible in Power BI.</a:t>
            </a:r>
          </a:p>
        </p:txBody>
      </p:sp>
      <p:sp>
        <p:nvSpPr>
          <p:cNvPr id="8" name="rule-254">
            <a:extLst>
              <a:ext uri="{FF2B5EF4-FFF2-40B4-BE49-F238E27FC236}">
                <a16:creationId xmlns:a16="http://schemas.microsoft.com/office/drawing/2014/main" id="{B8897F4F-D17E-44BB-88C8-4835F878B23E}"/>
              </a:ext>
            </a:extLst>
          </p:cNvPr>
          <p:cNvSpPr>
            <a:spLocks noGrp="1"/>
          </p:cNvSpPr>
          <p:nvPr/>
        </p:nvSpPr>
        <p:spPr>
          <a:xfrm>
            <a:off x="4762500" y="2419350"/>
            <a:ext cx="6667500" cy="9525"/>
          </a:xfrm>
          <a:prstGeom prst="rect">
            <a:avLst/>
          </a:prstGeom>
          <a:solidFill>
            <a:srgbClr val="E1E3E6"/>
          </a:solidFill>
          <a:ln w="0">
            <a:solidFill>
              <a:srgbClr val="E1E3E6"/>
            </a:solidFill>
            <a:prstDash val="solid"/>
          </a:ln>
        </p:spPr>
        <p:txBody>
          <a:bodyPr/>
          <a:lstStyle/>
          <a:p>
            <a:endParaRPr lang="en-GB"/>
          </a:p>
        </p:txBody>
      </p:sp>
      <p:sp>
        <p:nvSpPr>
          <p:cNvPr id="9" name="text-500-188">
            <a:extLst>
              <a:ext uri="{FF2B5EF4-FFF2-40B4-BE49-F238E27FC236}">
                <a16:creationId xmlns:a16="http://schemas.microsoft.com/office/drawing/2014/main" id="{34936B37-F78D-40B8-9F0B-7A274AC0EA31}"/>
              </a:ext>
            </a:extLst>
          </p:cNvPr>
          <p:cNvSpPr>
            <a:spLocks noGrp="1"/>
          </p:cNvSpPr>
          <p:nvPr/>
        </p:nvSpPr>
        <p:spPr>
          <a:xfrm>
            <a:off x="4762500" y="1790700"/>
            <a:ext cx="514350" cy="304800"/>
          </a:xfrm>
          <a:prstGeom prst="rect">
            <a:avLst/>
          </a:prstGeom>
          <a:noFill/>
          <a:ln w="0">
            <a:noFill/>
            <a:prstDash val="solid"/>
          </a:ln>
        </p:spPr>
        <p:txBody>
          <a:bodyPr anchor="t"/>
          <a:lstStyle/>
          <a:p>
            <a:pPr algn="l">
              <a:defRPr sz="1350" b="1">
                <a:solidFill>
                  <a:srgbClr val="3D8DFF"/>
                </a:solidFill>
                <a:latin typeface="Arial"/>
                <a:ea typeface="Arial"/>
                <a:cs typeface="Arial"/>
              </a:defRPr>
            </a:pPr>
            <a:r>
              <a:rPr sz="1350" b="1">
                <a:solidFill>
                  <a:srgbClr val="3D8DFF"/>
                </a:solidFill>
                <a:latin typeface="Arial"/>
                <a:ea typeface="Arial"/>
                <a:cs typeface="Arial"/>
              </a:rPr>
              <a:t>01</a:t>
            </a:r>
          </a:p>
        </p:txBody>
      </p:sp>
      <p:sp>
        <p:nvSpPr>
          <p:cNvPr id="10" name="text-570-188">
            <a:extLst>
              <a:ext uri="{FF2B5EF4-FFF2-40B4-BE49-F238E27FC236}">
                <a16:creationId xmlns:a16="http://schemas.microsoft.com/office/drawing/2014/main" id="{F581EA09-AC38-4AE4-AAFE-BDC81C28AB9F}"/>
              </a:ext>
            </a:extLst>
          </p:cNvPr>
          <p:cNvSpPr>
            <a:spLocks noGrp="1"/>
          </p:cNvSpPr>
          <p:nvPr/>
        </p:nvSpPr>
        <p:spPr>
          <a:xfrm>
            <a:off x="5429250" y="1790700"/>
            <a:ext cx="2381250" cy="323850"/>
          </a:xfrm>
          <a:prstGeom prst="rect">
            <a:avLst/>
          </a:prstGeom>
          <a:noFill/>
          <a:ln w="0">
            <a:noFill/>
            <a:prstDash val="solid"/>
          </a:ln>
        </p:spPr>
        <p:txBody>
          <a:bodyPr anchor="t"/>
          <a:lstStyle/>
          <a:p>
            <a:pPr algn="l">
              <a:defRPr sz="1725" b="1">
                <a:solidFill>
                  <a:srgbClr val="111111"/>
                </a:solidFill>
                <a:latin typeface="Arial"/>
                <a:ea typeface="Arial"/>
                <a:cs typeface="Arial"/>
              </a:defRPr>
            </a:pPr>
            <a:r>
              <a:rPr sz="1725" b="1">
                <a:solidFill>
                  <a:srgbClr val="111111"/>
                </a:solidFill>
                <a:latin typeface="Arial"/>
                <a:ea typeface="Arial"/>
                <a:cs typeface="Arial"/>
              </a:rPr>
              <a:t>Required fields</a:t>
            </a:r>
          </a:p>
        </p:txBody>
      </p:sp>
      <p:sp>
        <p:nvSpPr>
          <p:cNvPr id="11" name="text-835-188">
            <a:extLst>
              <a:ext uri="{FF2B5EF4-FFF2-40B4-BE49-F238E27FC236}">
                <a16:creationId xmlns:a16="http://schemas.microsoft.com/office/drawing/2014/main" id="{0449057A-BF5A-48D1-9F9A-AFAED35A3A1F}"/>
              </a:ext>
            </a:extLst>
          </p:cNvPr>
          <p:cNvSpPr>
            <a:spLocks noGrp="1"/>
          </p:cNvSpPr>
          <p:nvPr/>
        </p:nvSpPr>
        <p:spPr>
          <a:xfrm>
            <a:off x="7953375" y="1790700"/>
            <a:ext cx="3476625" cy="400050"/>
          </a:xfrm>
          <a:prstGeom prst="rect">
            <a:avLst/>
          </a:prstGeom>
          <a:noFill/>
          <a:ln w="0">
            <a:noFill/>
            <a:prstDash val="solid"/>
          </a:ln>
        </p:spPr>
        <p:txBody>
          <a:bodyPr anchor="t"/>
          <a:lstStyle/>
          <a:p>
            <a:pPr algn="l">
              <a:defRPr sz="1425" b="0">
                <a:solidFill>
                  <a:srgbClr val="5F6368"/>
                </a:solidFill>
                <a:latin typeface="Arial"/>
                <a:ea typeface="Arial"/>
                <a:cs typeface="Arial"/>
              </a:defRPr>
            </a:pPr>
            <a:r>
              <a:rPr sz="1425" b="0">
                <a:solidFill>
                  <a:srgbClr val="5F6368"/>
                </a:solidFill>
                <a:latin typeface="Arial"/>
                <a:ea typeface="Arial"/>
                <a:cs typeface="Arial"/>
              </a:rPr>
              <a:t>IDs, title and customer name</a:t>
            </a:r>
          </a:p>
        </p:txBody>
      </p:sp>
      <p:sp>
        <p:nvSpPr>
          <p:cNvPr id="12" name="rule-342">
            <a:extLst>
              <a:ext uri="{FF2B5EF4-FFF2-40B4-BE49-F238E27FC236}">
                <a16:creationId xmlns:a16="http://schemas.microsoft.com/office/drawing/2014/main" id="{BB73F9AE-F2C7-49CF-A5E6-867FF992224E}"/>
              </a:ext>
            </a:extLst>
          </p:cNvPr>
          <p:cNvSpPr>
            <a:spLocks noGrp="1"/>
          </p:cNvSpPr>
          <p:nvPr/>
        </p:nvSpPr>
        <p:spPr>
          <a:xfrm>
            <a:off x="4762500" y="3257550"/>
            <a:ext cx="6667500" cy="9525"/>
          </a:xfrm>
          <a:prstGeom prst="rect">
            <a:avLst/>
          </a:prstGeom>
          <a:solidFill>
            <a:srgbClr val="E1E3E6"/>
          </a:solidFill>
          <a:ln w="0">
            <a:solidFill>
              <a:srgbClr val="E1E3E6"/>
            </a:solidFill>
            <a:prstDash val="solid"/>
          </a:ln>
        </p:spPr>
        <p:txBody>
          <a:bodyPr/>
          <a:lstStyle/>
          <a:p>
            <a:endParaRPr lang="en-GB"/>
          </a:p>
        </p:txBody>
      </p:sp>
      <p:sp>
        <p:nvSpPr>
          <p:cNvPr id="13" name="text-500-276">
            <a:extLst>
              <a:ext uri="{FF2B5EF4-FFF2-40B4-BE49-F238E27FC236}">
                <a16:creationId xmlns:a16="http://schemas.microsoft.com/office/drawing/2014/main" id="{6A42754F-3FD9-4EB4-A453-CD6D772546C4}"/>
              </a:ext>
            </a:extLst>
          </p:cNvPr>
          <p:cNvSpPr>
            <a:spLocks noGrp="1"/>
          </p:cNvSpPr>
          <p:nvPr/>
        </p:nvSpPr>
        <p:spPr>
          <a:xfrm>
            <a:off x="4762500" y="2628900"/>
            <a:ext cx="514350" cy="304800"/>
          </a:xfrm>
          <a:prstGeom prst="rect">
            <a:avLst/>
          </a:prstGeom>
          <a:noFill/>
          <a:ln w="0">
            <a:noFill/>
            <a:prstDash val="solid"/>
          </a:ln>
        </p:spPr>
        <p:txBody>
          <a:bodyPr anchor="t"/>
          <a:lstStyle/>
          <a:p>
            <a:pPr algn="l">
              <a:defRPr sz="1350" b="1">
                <a:solidFill>
                  <a:srgbClr val="3D8DFF"/>
                </a:solidFill>
                <a:latin typeface="Arial"/>
                <a:ea typeface="Arial"/>
                <a:cs typeface="Arial"/>
              </a:defRPr>
            </a:pPr>
            <a:r>
              <a:rPr sz="1350" b="1">
                <a:solidFill>
                  <a:srgbClr val="3D8DFF"/>
                </a:solidFill>
                <a:latin typeface="Arial"/>
                <a:ea typeface="Arial"/>
                <a:cs typeface="Arial"/>
              </a:rPr>
              <a:t>02</a:t>
            </a:r>
          </a:p>
        </p:txBody>
      </p:sp>
      <p:sp>
        <p:nvSpPr>
          <p:cNvPr id="14" name="text-570-276">
            <a:extLst>
              <a:ext uri="{FF2B5EF4-FFF2-40B4-BE49-F238E27FC236}">
                <a16:creationId xmlns:a16="http://schemas.microsoft.com/office/drawing/2014/main" id="{A9F259D9-7848-48D3-AB16-26B0B955ECDE}"/>
              </a:ext>
            </a:extLst>
          </p:cNvPr>
          <p:cNvSpPr>
            <a:spLocks noGrp="1"/>
          </p:cNvSpPr>
          <p:nvPr/>
        </p:nvSpPr>
        <p:spPr>
          <a:xfrm>
            <a:off x="5429250" y="2628900"/>
            <a:ext cx="2381250" cy="323850"/>
          </a:xfrm>
          <a:prstGeom prst="rect">
            <a:avLst/>
          </a:prstGeom>
          <a:noFill/>
          <a:ln w="0">
            <a:noFill/>
            <a:prstDash val="solid"/>
          </a:ln>
        </p:spPr>
        <p:txBody>
          <a:bodyPr anchor="t"/>
          <a:lstStyle/>
          <a:p>
            <a:pPr algn="l">
              <a:defRPr sz="1725" b="1">
                <a:solidFill>
                  <a:srgbClr val="111111"/>
                </a:solidFill>
                <a:latin typeface="Arial"/>
                <a:ea typeface="Arial"/>
                <a:cs typeface="Arial"/>
              </a:defRPr>
            </a:pPr>
            <a:r>
              <a:rPr sz="1725" b="1">
                <a:solidFill>
                  <a:srgbClr val="111111"/>
                </a:solidFill>
                <a:latin typeface="Arial"/>
                <a:ea typeface="Arial"/>
                <a:cs typeface="Arial"/>
              </a:rPr>
              <a:t>Valid dates</a:t>
            </a:r>
          </a:p>
        </p:txBody>
      </p:sp>
      <p:sp>
        <p:nvSpPr>
          <p:cNvPr id="15" name="text-835-276">
            <a:extLst>
              <a:ext uri="{FF2B5EF4-FFF2-40B4-BE49-F238E27FC236}">
                <a16:creationId xmlns:a16="http://schemas.microsoft.com/office/drawing/2014/main" id="{260BA79F-87DB-4EA9-A7CB-84A27B90196C}"/>
              </a:ext>
            </a:extLst>
          </p:cNvPr>
          <p:cNvSpPr>
            <a:spLocks noGrp="1"/>
          </p:cNvSpPr>
          <p:nvPr/>
        </p:nvSpPr>
        <p:spPr>
          <a:xfrm>
            <a:off x="7953375" y="2628900"/>
            <a:ext cx="3476625" cy="400050"/>
          </a:xfrm>
          <a:prstGeom prst="rect">
            <a:avLst/>
          </a:prstGeom>
          <a:noFill/>
          <a:ln w="0">
            <a:noFill/>
            <a:prstDash val="solid"/>
          </a:ln>
        </p:spPr>
        <p:txBody>
          <a:bodyPr anchor="t"/>
          <a:lstStyle/>
          <a:p>
            <a:pPr algn="l">
              <a:defRPr sz="1425" b="0">
                <a:solidFill>
                  <a:srgbClr val="5F6368"/>
                </a:solidFill>
                <a:latin typeface="Arial"/>
                <a:ea typeface="Arial"/>
                <a:cs typeface="Arial"/>
              </a:defRPr>
            </a:pPr>
            <a:r>
              <a:rPr sz="1425" b="0">
                <a:solidFill>
                  <a:srgbClr val="5F6368"/>
                </a:solidFill>
                <a:latin typeface="Arial"/>
                <a:ea typeface="Arial"/>
                <a:cs typeface="Arial"/>
              </a:rPr>
              <a:t>UK format and real calendar values</a:t>
            </a:r>
          </a:p>
        </p:txBody>
      </p:sp>
      <p:sp>
        <p:nvSpPr>
          <p:cNvPr id="16" name="rule-430">
            <a:extLst>
              <a:ext uri="{FF2B5EF4-FFF2-40B4-BE49-F238E27FC236}">
                <a16:creationId xmlns:a16="http://schemas.microsoft.com/office/drawing/2014/main" id="{6CA715C7-AB75-49CA-A8D4-F3E09F9340DA}"/>
              </a:ext>
            </a:extLst>
          </p:cNvPr>
          <p:cNvSpPr>
            <a:spLocks noGrp="1"/>
          </p:cNvSpPr>
          <p:nvPr/>
        </p:nvSpPr>
        <p:spPr>
          <a:xfrm>
            <a:off x="4762500" y="4095750"/>
            <a:ext cx="6667500" cy="9525"/>
          </a:xfrm>
          <a:prstGeom prst="rect">
            <a:avLst/>
          </a:prstGeom>
          <a:solidFill>
            <a:srgbClr val="E1E3E6"/>
          </a:solidFill>
          <a:ln w="0">
            <a:solidFill>
              <a:srgbClr val="E1E3E6"/>
            </a:solidFill>
            <a:prstDash val="solid"/>
          </a:ln>
        </p:spPr>
        <p:txBody>
          <a:bodyPr/>
          <a:lstStyle/>
          <a:p>
            <a:endParaRPr lang="en-GB"/>
          </a:p>
        </p:txBody>
      </p:sp>
      <p:sp>
        <p:nvSpPr>
          <p:cNvPr id="17" name="text-500-364">
            <a:extLst>
              <a:ext uri="{FF2B5EF4-FFF2-40B4-BE49-F238E27FC236}">
                <a16:creationId xmlns:a16="http://schemas.microsoft.com/office/drawing/2014/main" id="{DCA51972-5337-408F-B69A-4BA7BB8DAD29}"/>
              </a:ext>
            </a:extLst>
          </p:cNvPr>
          <p:cNvSpPr>
            <a:spLocks noGrp="1"/>
          </p:cNvSpPr>
          <p:nvPr/>
        </p:nvSpPr>
        <p:spPr>
          <a:xfrm>
            <a:off x="4762500" y="3467100"/>
            <a:ext cx="514350" cy="304800"/>
          </a:xfrm>
          <a:prstGeom prst="rect">
            <a:avLst/>
          </a:prstGeom>
          <a:noFill/>
          <a:ln w="0">
            <a:noFill/>
            <a:prstDash val="solid"/>
          </a:ln>
        </p:spPr>
        <p:txBody>
          <a:bodyPr anchor="t"/>
          <a:lstStyle/>
          <a:p>
            <a:pPr algn="l">
              <a:defRPr sz="1350" b="1">
                <a:solidFill>
                  <a:srgbClr val="3D8DFF"/>
                </a:solidFill>
                <a:latin typeface="Arial"/>
                <a:ea typeface="Arial"/>
                <a:cs typeface="Arial"/>
              </a:defRPr>
            </a:pPr>
            <a:r>
              <a:rPr sz="1350" b="1">
                <a:solidFill>
                  <a:srgbClr val="3D8DFF"/>
                </a:solidFill>
                <a:latin typeface="Arial"/>
                <a:ea typeface="Arial"/>
                <a:cs typeface="Arial"/>
              </a:rPr>
              <a:t>03</a:t>
            </a:r>
          </a:p>
        </p:txBody>
      </p:sp>
      <p:sp>
        <p:nvSpPr>
          <p:cNvPr id="18" name="text-570-364">
            <a:extLst>
              <a:ext uri="{FF2B5EF4-FFF2-40B4-BE49-F238E27FC236}">
                <a16:creationId xmlns:a16="http://schemas.microsoft.com/office/drawing/2014/main" id="{B447EB47-AA04-4F85-B3D2-F95B54F8013B}"/>
              </a:ext>
            </a:extLst>
          </p:cNvPr>
          <p:cNvSpPr>
            <a:spLocks noGrp="1"/>
          </p:cNvSpPr>
          <p:nvPr/>
        </p:nvSpPr>
        <p:spPr>
          <a:xfrm>
            <a:off x="5429250" y="3467100"/>
            <a:ext cx="2381250" cy="323850"/>
          </a:xfrm>
          <a:prstGeom prst="rect">
            <a:avLst/>
          </a:prstGeom>
          <a:noFill/>
          <a:ln w="0">
            <a:noFill/>
            <a:prstDash val="solid"/>
          </a:ln>
        </p:spPr>
        <p:txBody>
          <a:bodyPr anchor="t"/>
          <a:lstStyle/>
          <a:p>
            <a:pPr algn="l">
              <a:defRPr sz="1725" b="1">
                <a:solidFill>
                  <a:srgbClr val="111111"/>
                </a:solidFill>
                <a:latin typeface="Arial"/>
                <a:ea typeface="Arial"/>
                <a:cs typeface="Arial"/>
              </a:defRPr>
            </a:pPr>
            <a:r>
              <a:rPr sz="1725" b="1">
                <a:solidFill>
                  <a:srgbClr val="111111"/>
                </a:solidFill>
                <a:latin typeface="Arial"/>
                <a:ea typeface="Arial"/>
                <a:cs typeface="Arial"/>
              </a:rPr>
              <a:t>Logical sequence</a:t>
            </a:r>
          </a:p>
        </p:txBody>
      </p:sp>
      <p:sp>
        <p:nvSpPr>
          <p:cNvPr id="19" name="text-835-364">
            <a:extLst>
              <a:ext uri="{FF2B5EF4-FFF2-40B4-BE49-F238E27FC236}">
                <a16:creationId xmlns:a16="http://schemas.microsoft.com/office/drawing/2014/main" id="{707BFD89-CB25-4C18-A5B7-77DB716AB388}"/>
              </a:ext>
            </a:extLst>
          </p:cNvPr>
          <p:cNvSpPr>
            <a:spLocks noGrp="1"/>
          </p:cNvSpPr>
          <p:nvPr/>
        </p:nvSpPr>
        <p:spPr>
          <a:xfrm>
            <a:off x="7953375" y="3467100"/>
            <a:ext cx="3476625" cy="400050"/>
          </a:xfrm>
          <a:prstGeom prst="rect">
            <a:avLst/>
          </a:prstGeom>
          <a:noFill/>
          <a:ln w="0">
            <a:noFill/>
            <a:prstDash val="solid"/>
          </a:ln>
        </p:spPr>
        <p:txBody>
          <a:bodyPr anchor="t"/>
          <a:lstStyle/>
          <a:p>
            <a:pPr algn="l">
              <a:defRPr sz="1425" b="0">
                <a:solidFill>
                  <a:srgbClr val="5F6368"/>
                </a:solidFill>
                <a:latin typeface="Arial"/>
                <a:ea typeface="Arial"/>
                <a:cs typeface="Arial"/>
              </a:defRPr>
            </a:pPr>
            <a:r>
              <a:rPr sz="1425" b="0">
                <a:solidFill>
                  <a:srgbClr val="5F6368"/>
                </a:solidFill>
                <a:latin typeface="Arial"/>
                <a:ea typeface="Arial"/>
                <a:cs typeface="Arial"/>
              </a:rPr>
              <a:t>Return must not precede checkout</a:t>
            </a:r>
          </a:p>
        </p:txBody>
      </p:sp>
      <p:sp>
        <p:nvSpPr>
          <p:cNvPr id="20" name="rule-518">
            <a:extLst>
              <a:ext uri="{FF2B5EF4-FFF2-40B4-BE49-F238E27FC236}">
                <a16:creationId xmlns:a16="http://schemas.microsoft.com/office/drawing/2014/main" id="{C8AD7E60-2CA0-42E8-948E-4DB5FF475028}"/>
              </a:ext>
            </a:extLst>
          </p:cNvPr>
          <p:cNvSpPr>
            <a:spLocks noGrp="1"/>
          </p:cNvSpPr>
          <p:nvPr/>
        </p:nvSpPr>
        <p:spPr>
          <a:xfrm>
            <a:off x="4762500" y="4933950"/>
            <a:ext cx="6667500" cy="9525"/>
          </a:xfrm>
          <a:prstGeom prst="rect">
            <a:avLst/>
          </a:prstGeom>
          <a:solidFill>
            <a:srgbClr val="E1E3E6"/>
          </a:solidFill>
          <a:ln w="0">
            <a:solidFill>
              <a:srgbClr val="E1E3E6"/>
            </a:solidFill>
            <a:prstDash val="solid"/>
          </a:ln>
        </p:spPr>
        <p:txBody>
          <a:bodyPr/>
          <a:lstStyle/>
          <a:p>
            <a:endParaRPr lang="en-GB"/>
          </a:p>
        </p:txBody>
      </p:sp>
      <p:sp>
        <p:nvSpPr>
          <p:cNvPr id="21" name="text-500-452">
            <a:extLst>
              <a:ext uri="{FF2B5EF4-FFF2-40B4-BE49-F238E27FC236}">
                <a16:creationId xmlns:a16="http://schemas.microsoft.com/office/drawing/2014/main" id="{EEBC959E-CF8D-456B-9026-16E4C9CA7375}"/>
              </a:ext>
            </a:extLst>
          </p:cNvPr>
          <p:cNvSpPr>
            <a:spLocks noGrp="1"/>
          </p:cNvSpPr>
          <p:nvPr/>
        </p:nvSpPr>
        <p:spPr>
          <a:xfrm>
            <a:off x="4762500" y="4305300"/>
            <a:ext cx="514350" cy="304800"/>
          </a:xfrm>
          <a:prstGeom prst="rect">
            <a:avLst/>
          </a:prstGeom>
          <a:noFill/>
          <a:ln w="0">
            <a:noFill/>
            <a:prstDash val="solid"/>
          </a:ln>
        </p:spPr>
        <p:txBody>
          <a:bodyPr anchor="t"/>
          <a:lstStyle/>
          <a:p>
            <a:pPr algn="l">
              <a:defRPr sz="1350" b="1">
                <a:solidFill>
                  <a:srgbClr val="3D8DFF"/>
                </a:solidFill>
                <a:latin typeface="Arial"/>
                <a:ea typeface="Arial"/>
                <a:cs typeface="Arial"/>
              </a:defRPr>
            </a:pPr>
            <a:r>
              <a:rPr sz="1350" b="1">
                <a:solidFill>
                  <a:srgbClr val="3D8DFF"/>
                </a:solidFill>
                <a:latin typeface="Arial"/>
                <a:ea typeface="Arial"/>
                <a:cs typeface="Arial"/>
              </a:rPr>
              <a:t>04</a:t>
            </a:r>
          </a:p>
        </p:txBody>
      </p:sp>
      <p:sp>
        <p:nvSpPr>
          <p:cNvPr id="22" name="text-570-452">
            <a:extLst>
              <a:ext uri="{FF2B5EF4-FFF2-40B4-BE49-F238E27FC236}">
                <a16:creationId xmlns:a16="http://schemas.microsoft.com/office/drawing/2014/main" id="{E28A1EB0-6065-45C2-99EA-F3AE5A97A69E}"/>
              </a:ext>
            </a:extLst>
          </p:cNvPr>
          <p:cNvSpPr>
            <a:spLocks noGrp="1"/>
          </p:cNvSpPr>
          <p:nvPr/>
        </p:nvSpPr>
        <p:spPr>
          <a:xfrm>
            <a:off x="5429250" y="4305300"/>
            <a:ext cx="2381250" cy="323850"/>
          </a:xfrm>
          <a:prstGeom prst="rect">
            <a:avLst/>
          </a:prstGeom>
          <a:noFill/>
          <a:ln w="0">
            <a:noFill/>
            <a:prstDash val="solid"/>
          </a:ln>
        </p:spPr>
        <p:txBody>
          <a:bodyPr anchor="t"/>
          <a:lstStyle/>
          <a:p>
            <a:pPr algn="l">
              <a:defRPr sz="1725" b="1">
                <a:solidFill>
                  <a:srgbClr val="111111"/>
                </a:solidFill>
                <a:latin typeface="Arial"/>
                <a:ea typeface="Arial"/>
                <a:cs typeface="Arial"/>
              </a:defRPr>
            </a:pPr>
            <a:r>
              <a:rPr sz="1725" b="1">
                <a:solidFill>
                  <a:srgbClr val="111111"/>
                </a:solidFill>
                <a:latin typeface="Arial"/>
                <a:ea typeface="Arial"/>
                <a:cs typeface="Arial"/>
              </a:rPr>
              <a:t>Loan allowance</a:t>
            </a:r>
          </a:p>
        </p:txBody>
      </p:sp>
      <p:sp>
        <p:nvSpPr>
          <p:cNvPr id="23" name="text-835-452">
            <a:extLst>
              <a:ext uri="{FF2B5EF4-FFF2-40B4-BE49-F238E27FC236}">
                <a16:creationId xmlns:a16="http://schemas.microsoft.com/office/drawing/2014/main" id="{21AAB80A-E0F8-4544-A04A-67CEFCE1307D}"/>
              </a:ext>
            </a:extLst>
          </p:cNvPr>
          <p:cNvSpPr>
            <a:spLocks noGrp="1"/>
          </p:cNvSpPr>
          <p:nvPr/>
        </p:nvSpPr>
        <p:spPr>
          <a:xfrm>
            <a:off x="7953375" y="4305300"/>
            <a:ext cx="3476625" cy="400050"/>
          </a:xfrm>
          <a:prstGeom prst="rect">
            <a:avLst/>
          </a:prstGeom>
          <a:noFill/>
          <a:ln w="0">
            <a:noFill/>
            <a:prstDash val="solid"/>
          </a:ln>
        </p:spPr>
        <p:txBody>
          <a:bodyPr anchor="t"/>
          <a:lstStyle/>
          <a:p>
            <a:pPr algn="l">
              <a:defRPr sz="1425" b="0">
                <a:solidFill>
                  <a:srgbClr val="5F6368"/>
                </a:solidFill>
                <a:latin typeface="Arial"/>
                <a:ea typeface="Arial"/>
                <a:cs typeface="Arial"/>
              </a:defRPr>
            </a:pPr>
            <a:r>
              <a:rPr sz="1425" b="0">
                <a:solidFill>
                  <a:srgbClr val="5F6368"/>
                </a:solidFill>
                <a:latin typeface="Arial"/>
                <a:ea typeface="Arial"/>
                <a:cs typeface="Arial"/>
              </a:rPr>
              <a:t>2 weeks becomes 14 days</a:t>
            </a:r>
          </a:p>
        </p:txBody>
      </p:sp>
      <p:sp>
        <p:nvSpPr>
          <p:cNvPr id="24" name="rule-606">
            <a:extLst>
              <a:ext uri="{FF2B5EF4-FFF2-40B4-BE49-F238E27FC236}">
                <a16:creationId xmlns:a16="http://schemas.microsoft.com/office/drawing/2014/main" id="{7BCEF33B-15C9-49A9-BE4E-A26E481DF483}"/>
              </a:ext>
            </a:extLst>
          </p:cNvPr>
          <p:cNvSpPr>
            <a:spLocks noGrp="1"/>
          </p:cNvSpPr>
          <p:nvPr/>
        </p:nvSpPr>
        <p:spPr>
          <a:xfrm>
            <a:off x="4762500" y="5772150"/>
            <a:ext cx="6667500" cy="9525"/>
          </a:xfrm>
          <a:prstGeom prst="rect">
            <a:avLst/>
          </a:prstGeom>
          <a:solidFill>
            <a:srgbClr val="E1E3E6"/>
          </a:solidFill>
          <a:ln w="0">
            <a:solidFill>
              <a:srgbClr val="E1E3E6"/>
            </a:solidFill>
            <a:prstDash val="solid"/>
          </a:ln>
        </p:spPr>
        <p:txBody>
          <a:bodyPr/>
          <a:lstStyle/>
          <a:p>
            <a:endParaRPr lang="en-GB"/>
          </a:p>
        </p:txBody>
      </p:sp>
      <p:sp>
        <p:nvSpPr>
          <p:cNvPr id="25" name="text-500-540">
            <a:extLst>
              <a:ext uri="{FF2B5EF4-FFF2-40B4-BE49-F238E27FC236}">
                <a16:creationId xmlns:a16="http://schemas.microsoft.com/office/drawing/2014/main" id="{D3A88980-C84B-4D26-BA3A-7932DB9F0536}"/>
              </a:ext>
            </a:extLst>
          </p:cNvPr>
          <p:cNvSpPr>
            <a:spLocks noGrp="1"/>
          </p:cNvSpPr>
          <p:nvPr/>
        </p:nvSpPr>
        <p:spPr>
          <a:xfrm>
            <a:off x="4762500" y="5143500"/>
            <a:ext cx="514350" cy="304800"/>
          </a:xfrm>
          <a:prstGeom prst="rect">
            <a:avLst/>
          </a:prstGeom>
          <a:noFill/>
          <a:ln w="0">
            <a:noFill/>
            <a:prstDash val="solid"/>
          </a:ln>
        </p:spPr>
        <p:txBody>
          <a:bodyPr anchor="t"/>
          <a:lstStyle/>
          <a:p>
            <a:pPr algn="l">
              <a:defRPr sz="1350" b="1">
                <a:solidFill>
                  <a:srgbClr val="3D8DFF"/>
                </a:solidFill>
                <a:latin typeface="Arial"/>
                <a:ea typeface="Arial"/>
                <a:cs typeface="Arial"/>
              </a:defRPr>
            </a:pPr>
            <a:r>
              <a:rPr sz="1350" b="1">
                <a:solidFill>
                  <a:srgbClr val="3D8DFF"/>
                </a:solidFill>
                <a:latin typeface="Arial"/>
                <a:ea typeface="Arial"/>
                <a:cs typeface="Arial"/>
              </a:rPr>
              <a:t>05</a:t>
            </a:r>
          </a:p>
        </p:txBody>
      </p:sp>
      <p:sp>
        <p:nvSpPr>
          <p:cNvPr id="26" name="text-570-540">
            <a:extLst>
              <a:ext uri="{FF2B5EF4-FFF2-40B4-BE49-F238E27FC236}">
                <a16:creationId xmlns:a16="http://schemas.microsoft.com/office/drawing/2014/main" id="{2310D3B6-C684-45A6-BA7A-39ADBDE2FEC6}"/>
              </a:ext>
            </a:extLst>
          </p:cNvPr>
          <p:cNvSpPr>
            <a:spLocks noGrp="1"/>
          </p:cNvSpPr>
          <p:nvPr/>
        </p:nvSpPr>
        <p:spPr>
          <a:xfrm>
            <a:off x="5429250" y="5143500"/>
            <a:ext cx="2381250" cy="323850"/>
          </a:xfrm>
          <a:prstGeom prst="rect">
            <a:avLst/>
          </a:prstGeom>
          <a:noFill/>
          <a:ln w="0">
            <a:noFill/>
            <a:prstDash val="solid"/>
          </a:ln>
        </p:spPr>
        <p:txBody>
          <a:bodyPr anchor="t"/>
          <a:lstStyle/>
          <a:p>
            <a:pPr algn="l">
              <a:defRPr sz="1725" b="1">
                <a:solidFill>
                  <a:srgbClr val="111111"/>
                </a:solidFill>
                <a:latin typeface="Arial"/>
                <a:ea typeface="Arial"/>
                <a:cs typeface="Arial"/>
              </a:defRPr>
            </a:pPr>
            <a:r>
              <a:rPr sz="1725" b="1">
                <a:solidFill>
                  <a:srgbClr val="111111"/>
                </a:solidFill>
                <a:latin typeface="Arial"/>
                <a:ea typeface="Arial"/>
                <a:cs typeface="Arial"/>
              </a:rPr>
              <a:t>Uniqueness</a:t>
            </a:r>
          </a:p>
        </p:txBody>
      </p:sp>
      <p:sp>
        <p:nvSpPr>
          <p:cNvPr id="27" name="text-835-540">
            <a:extLst>
              <a:ext uri="{FF2B5EF4-FFF2-40B4-BE49-F238E27FC236}">
                <a16:creationId xmlns:a16="http://schemas.microsoft.com/office/drawing/2014/main" id="{391159E6-BE36-4451-9253-6B5C3341450E}"/>
              </a:ext>
            </a:extLst>
          </p:cNvPr>
          <p:cNvSpPr>
            <a:spLocks noGrp="1"/>
          </p:cNvSpPr>
          <p:nvPr/>
        </p:nvSpPr>
        <p:spPr>
          <a:xfrm>
            <a:off x="7953375" y="5143500"/>
            <a:ext cx="3476625" cy="400050"/>
          </a:xfrm>
          <a:prstGeom prst="rect">
            <a:avLst/>
          </a:prstGeom>
          <a:noFill/>
          <a:ln w="0">
            <a:noFill/>
            <a:prstDash val="solid"/>
          </a:ln>
        </p:spPr>
        <p:txBody>
          <a:bodyPr anchor="t"/>
          <a:lstStyle/>
          <a:p>
            <a:pPr algn="l">
              <a:defRPr sz="1425" b="0">
                <a:solidFill>
                  <a:srgbClr val="5F6368"/>
                </a:solidFill>
                <a:latin typeface="Arial"/>
                <a:ea typeface="Arial"/>
                <a:cs typeface="Arial"/>
              </a:defRPr>
            </a:pPr>
            <a:r>
              <a:rPr sz="1425" b="0">
                <a:solidFill>
                  <a:srgbClr val="5F6368"/>
                </a:solidFill>
                <a:latin typeface="Arial"/>
                <a:ea typeface="Arial"/>
                <a:cs typeface="Arial"/>
              </a:rPr>
              <a:t>Complete duplicate rows are removed</a:t>
            </a:r>
          </a:p>
        </p:txBody>
      </p:sp>
    </p:spTree>
    <p:extLst>
      <p:ext uri="{BB962C8B-B14F-4D97-AF65-F5344CB8AC3E}">
        <p14:creationId xmlns:p14="http://schemas.microsoft.com/office/powerpoint/2010/main" val="4769981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eyebrow">
            <a:extLst>
              <a:ext uri="{FF2B5EF4-FFF2-40B4-BE49-F238E27FC236}">
                <a16:creationId xmlns:a16="http://schemas.microsoft.com/office/drawing/2014/main" id="{E52F3260-6D20-44AF-80A7-614286542A23}"/>
              </a:ext>
            </a:extLst>
          </p:cNvPr>
          <p:cNvSpPr>
            <a:spLocks noGrp="1"/>
          </p:cNvSpPr>
          <p:nvPr/>
        </p:nvSpPr>
        <p:spPr>
          <a:xfrm>
            <a:off x="533400" y="323850"/>
            <a:ext cx="4762500" cy="228600"/>
          </a:xfrm>
          <a:prstGeom prst="rect">
            <a:avLst/>
          </a:prstGeom>
          <a:noFill/>
          <a:ln w="0">
            <a:noFill/>
            <a:prstDash val="solid"/>
          </a:ln>
        </p:spPr>
        <p:txBody>
          <a:bodyPr anchor="t"/>
          <a:lstStyle/>
          <a:p>
            <a:pPr algn="l">
              <a:defRPr sz="1050" b="1">
                <a:solidFill>
                  <a:srgbClr val="3D8DFF"/>
                </a:solidFill>
                <a:latin typeface="Arial"/>
                <a:ea typeface="Arial"/>
                <a:cs typeface="Arial"/>
              </a:defRPr>
            </a:pPr>
            <a:r>
              <a:rPr sz="1050" b="1">
                <a:solidFill>
                  <a:srgbClr val="3D8DFF"/>
                </a:solidFill>
                <a:latin typeface="Arial"/>
                <a:ea typeface="Arial"/>
                <a:cs typeface="Arial"/>
              </a:rPr>
              <a:t>DATA ENGINEERING METRICS</a:t>
            </a:r>
          </a:p>
        </p:txBody>
      </p:sp>
      <p:sp>
        <p:nvSpPr>
          <p:cNvPr id="2" name="slide-title">
            <a:extLst>
              <a:ext uri="{FF2B5EF4-FFF2-40B4-BE49-F238E27FC236}">
                <a16:creationId xmlns:a16="http://schemas.microsoft.com/office/drawing/2014/main" id="{0B75D58B-B597-4157-98D6-3B89D72C7E0A}"/>
              </a:ext>
            </a:extLst>
          </p:cNvPr>
          <p:cNvSpPr>
            <a:spLocks noGrp="1"/>
          </p:cNvSpPr>
          <p:nvPr/>
        </p:nvSpPr>
        <p:spPr>
          <a:xfrm>
            <a:off x="533400" y="628650"/>
            <a:ext cx="11125200" cy="685800"/>
          </a:xfrm>
          <a:prstGeom prst="rect">
            <a:avLst/>
          </a:prstGeom>
          <a:noFill/>
          <a:ln w="0">
            <a:noFill/>
            <a:prstDash val="solid"/>
          </a:ln>
        </p:spPr>
        <p:txBody>
          <a:bodyPr anchor="t"/>
          <a:lstStyle/>
          <a:p>
            <a:pPr algn="l">
              <a:defRPr sz="2850" b="1">
                <a:solidFill>
                  <a:srgbClr val="111111"/>
                </a:solidFill>
                <a:latin typeface="Arial"/>
                <a:ea typeface="Arial"/>
                <a:cs typeface="Arial"/>
              </a:defRPr>
            </a:pPr>
            <a:r>
              <a:rPr sz="2850" b="1">
                <a:solidFill>
                  <a:srgbClr val="111111"/>
                </a:solidFill>
                <a:latin typeface="Arial"/>
                <a:ea typeface="Arial"/>
                <a:cs typeface="Arial"/>
              </a:rPr>
              <a:t>The first audited run created a complete evidence set</a:t>
            </a:r>
          </a:p>
        </p:txBody>
      </p:sp>
      <p:sp>
        <p:nvSpPr>
          <p:cNvPr id="3" name="rule-143">
            <a:extLst>
              <a:ext uri="{FF2B5EF4-FFF2-40B4-BE49-F238E27FC236}">
                <a16:creationId xmlns:a16="http://schemas.microsoft.com/office/drawing/2014/main" id="{E136A4FD-6D34-4324-B25A-FA67D9AA32F9}"/>
              </a:ext>
            </a:extLst>
          </p:cNvPr>
          <p:cNvSpPr>
            <a:spLocks noGrp="1"/>
          </p:cNvSpPr>
          <p:nvPr/>
        </p:nvSpPr>
        <p:spPr>
          <a:xfrm>
            <a:off x="533400" y="1362075"/>
            <a:ext cx="11125200" cy="9525"/>
          </a:xfrm>
          <a:prstGeom prst="rect">
            <a:avLst/>
          </a:prstGeom>
          <a:solidFill>
            <a:srgbClr val="B8BCC4"/>
          </a:solidFill>
          <a:ln w="0">
            <a:solidFill>
              <a:srgbClr val="B8BCC4"/>
            </a:solidFill>
            <a:prstDash val="solid"/>
          </a:ln>
        </p:spPr>
        <p:txBody>
          <a:bodyPr/>
          <a:lstStyle/>
          <a:p>
            <a:endParaRPr lang="en-GB"/>
          </a:p>
        </p:txBody>
      </p:sp>
      <p:sp>
        <p:nvSpPr>
          <p:cNvPr id="4" name="slide-number">
            <a:extLst>
              <a:ext uri="{FF2B5EF4-FFF2-40B4-BE49-F238E27FC236}">
                <a16:creationId xmlns:a16="http://schemas.microsoft.com/office/drawing/2014/main" id="{0C38D53F-AF59-4510-908B-D2B7D67F830F}"/>
              </a:ext>
            </a:extLst>
          </p:cNvPr>
          <p:cNvSpPr>
            <a:spLocks noGrp="1"/>
          </p:cNvSpPr>
          <p:nvPr/>
        </p:nvSpPr>
        <p:spPr>
          <a:xfrm>
            <a:off x="11144250" y="6381750"/>
            <a:ext cx="514350" cy="209550"/>
          </a:xfrm>
          <a:prstGeom prst="rect">
            <a:avLst/>
          </a:prstGeom>
          <a:noFill/>
          <a:ln w="0">
            <a:noFill/>
            <a:prstDash val="solid"/>
          </a:ln>
        </p:spPr>
        <p:txBody>
          <a:bodyPr anchor="t"/>
          <a:lstStyle/>
          <a:p>
            <a:pPr algn="r">
              <a:defRPr sz="975" b="0">
                <a:solidFill>
                  <a:srgbClr val="5F6368"/>
                </a:solidFill>
                <a:latin typeface="Arial"/>
                <a:ea typeface="Arial"/>
                <a:cs typeface="Arial"/>
              </a:defRPr>
            </a:pPr>
            <a:r>
              <a:rPr sz="975" b="0">
                <a:solidFill>
                  <a:srgbClr val="5F6368"/>
                </a:solidFill>
                <a:latin typeface="Arial"/>
                <a:ea typeface="Arial"/>
                <a:cs typeface="Arial"/>
              </a:rPr>
              <a:t>06</a:t>
            </a:r>
          </a:p>
        </p:txBody>
      </p:sp>
      <p:sp>
        <p:nvSpPr>
          <p:cNvPr id="5" name="text-58-170">
            <a:extLst>
              <a:ext uri="{FF2B5EF4-FFF2-40B4-BE49-F238E27FC236}">
                <a16:creationId xmlns:a16="http://schemas.microsoft.com/office/drawing/2014/main" id="{27FFA173-C8E8-452C-BD4E-D1C56C379506}"/>
              </a:ext>
            </a:extLst>
          </p:cNvPr>
          <p:cNvSpPr>
            <a:spLocks noGrp="1"/>
          </p:cNvSpPr>
          <p:nvPr/>
        </p:nvSpPr>
        <p:spPr>
          <a:xfrm>
            <a:off x="552450" y="1619250"/>
            <a:ext cx="10668000" cy="495300"/>
          </a:xfrm>
          <a:prstGeom prst="rect">
            <a:avLst/>
          </a:prstGeom>
          <a:noFill/>
          <a:ln w="0">
            <a:noFill/>
            <a:prstDash val="solid"/>
          </a:ln>
        </p:spPr>
        <p:txBody>
          <a:bodyPr anchor="t"/>
          <a:lstStyle/>
          <a:p>
            <a:pPr algn="l">
              <a:defRPr sz="1575" b="0">
                <a:solidFill>
                  <a:srgbClr val="5F6368"/>
                </a:solidFill>
                <a:latin typeface="Arial"/>
                <a:ea typeface="Arial"/>
                <a:cs typeface="Arial"/>
              </a:defRPr>
            </a:pPr>
            <a:r>
              <a:rPr sz="1575" b="0">
                <a:solidFill>
                  <a:srgbClr val="5F6368"/>
                </a:solidFill>
                <a:latin typeface="Arial"/>
                <a:ea typeface="Arial"/>
                <a:cs typeface="Arial"/>
              </a:rPr>
              <a:t>Every value below is taken from the generated metrics CSV. Processing time reflects this local sample run only.</a:t>
            </a:r>
          </a:p>
        </p:txBody>
      </p:sp>
      <p:sp>
        <p:nvSpPr>
          <p:cNvPr id="6" name="shape-58-285">
            <a:extLst>
              <a:ext uri="{FF2B5EF4-FFF2-40B4-BE49-F238E27FC236}">
                <a16:creationId xmlns:a16="http://schemas.microsoft.com/office/drawing/2014/main" id="{64926021-F8C6-4F24-A547-80BEC6DD1EA3}"/>
              </a:ext>
            </a:extLst>
          </p:cNvPr>
          <p:cNvSpPr>
            <a:spLocks noGrp="1"/>
          </p:cNvSpPr>
          <p:nvPr/>
        </p:nvSpPr>
        <p:spPr>
          <a:xfrm>
            <a:off x="552450" y="2714625"/>
            <a:ext cx="3333750" cy="2381250"/>
          </a:xfrm>
          <a:prstGeom prst="roundRect">
            <a:avLst>
              <a:gd name="adj" fmla="val 4800"/>
            </a:avLst>
          </a:prstGeom>
          <a:solidFill>
            <a:srgbClr val="F1F2F4"/>
          </a:solidFill>
          <a:ln w="9525">
            <a:solidFill>
              <a:srgbClr val="E1E3E6"/>
            </a:solidFill>
            <a:prstDash val="solid"/>
          </a:ln>
        </p:spPr>
        <p:txBody>
          <a:bodyPr/>
          <a:lstStyle/>
          <a:p>
            <a:endParaRPr lang="en-GB"/>
          </a:p>
        </p:txBody>
      </p:sp>
      <p:sp>
        <p:nvSpPr>
          <p:cNvPr id="7" name="shape-58-285">
            <a:extLst>
              <a:ext uri="{FF2B5EF4-FFF2-40B4-BE49-F238E27FC236}">
                <a16:creationId xmlns:a16="http://schemas.microsoft.com/office/drawing/2014/main" id="{C3EA6AC8-BA13-41CB-9234-786860B329E3}"/>
              </a:ext>
            </a:extLst>
          </p:cNvPr>
          <p:cNvSpPr>
            <a:spLocks noGrp="1"/>
          </p:cNvSpPr>
          <p:nvPr/>
        </p:nvSpPr>
        <p:spPr>
          <a:xfrm>
            <a:off x="552450" y="2714625"/>
            <a:ext cx="76200" cy="2381250"/>
          </a:xfrm>
          <a:prstGeom prst="rect">
            <a:avLst/>
          </a:prstGeom>
          <a:solidFill>
            <a:srgbClr val="3D8DFF"/>
          </a:solidFill>
          <a:ln w="0">
            <a:solidFill>
              <a:srgbClr val="3D8DFF"/>
            </a:solidFill>
            <a:prstDash val="solid"/>
          </a:ln>
        </p:spPr>
        <p:txBody>
          <a:bodyPr/>
          <a:lstStyle/>
          <a:p>
            <a:endParaRPr lang="en-GB"/>
          </a:p>
        </p:txBody>
      </p:sp>
      <p:sp>
        <p:nvSpPr>
          <p:cNvPr id="8" name="text-86-309">
            <a:extLst>
              <a:ext uri="{FF2B5EF4-FFF2-40B4-BE49-F238E27FC236}">
                <a16:creationId xmlns:a16="http://schemas.microsoft.com/office/drawing/2014/main" id="{117F66E3-E9E2-4A15-B7B8-36C8CC5403BF}"/>
              </a:ext>
            </a:extLst>
          </p:cNvPr>
          <p:cNvSpPr>
            <a:spLocks noGrp="1"/>
          </p:cNvSpPr>
          <p:nvPr/>
        </p:nvSpPr>
        <p:spPr>
          <a:xfrm>
            <a:off x="819150" y="2943225"/>
            <a:ext cx="2838450" cy="685800"/>
          </a:xfrm>
          <a:prstGeom prst="rect">
            <a:avLst/>
          </a:prstGeom>
          <a:noFill/>
          <a:ln w="0">
            <a:noFill/>
            <a:prstDash val="solid"/>
          </a:ln>
        </p:spPr>
        <p:txBody>
          <a:bodyPr anchor="t"/>
          <a:lstStyle/>
          <a:p>
            <a:pPr algn="l">
              <a:defRPr sz="3450" b="1">
                <a:solidFill>
                  <a:srgbClr val="111111"/>
                </a:solidFill>
                <a:latin typeface="Arial"/>
                <a:ea typeface="Arial"/>
                <a:cs typeface="Arial"/>
              </a:defRPr>
            </a:pPr>
            <a:r>
              <a:rPr sz="3450" b="1">
                <a:solidFill>
                  <a:srgbClr val="111111"/>
                </a:solidFill>
                <a:latin typeface="Arial"/>
                <a:ea typeface="Arial"/>
                <a:cs typeface="Arial"/>
              </a:rPr>
              <a:t>20</a:t>
            </a:r>
          </a:p>
        </p:txBody>
      </p:sp>
      <p:sp>
        <p:nvSpPr>
          <p:cNvPr id="9" name="text-86-387">
            <a:extLst>
              <a:ext uri="{FF2B5EF4-FFF2-40B4-BE49-F238E27FC236}">
                <a16:creationId xmlns:a16="http://schemas.microsoft.com/office/drawing/2014/main" id="{3E0F4D79-FBA9-4FA2-A136-2F0D1AAFBA27}"/>
              </a:ext>
            </a:extLst>
          </p:cNvPr>
          <p:cNvSpPr>
            <a:spLocks noGrp="1"/>
          </p:cNvSpPr>
          <p:nvPr/>
        </p:nvSpPr>
        <p:spPr>
          <a:xfrm>
            <a:off x="819150" y="3686175"/>
            <a:ext cx="2838450" cy="1257300"/>
          </a:xfrm>
          <a:prstGeom prst="rect">
            <a:avLst/>
          </a:prstGeom>
          <a:noFill/>
          <a:ln w="0">
            <a:noFill/>
            <a:prstDash val="solid"/>
          </a:ln>
        </p:spPr>
        <p:txBody>
          <a:bodyPr anchor="t"/>
          <a:lstStyle/>
          <a:p>
            <a:pPr algn="l">
              <a:defRPr sz="1350" b="0">
                <a:solidFill>
                  <a:srgbClr val="5F6368"/>
                </a:solidFill>
                <a:latin typeface="Arial"/>
                <a:ea typeface="Arial"/>
                <a:cs typeface="Arial"/>
              </a:defRPr>
            </a:pPr>
            <a:r>
              <a:rPr sz="1350" b="0">
                <a:solidFill>
                  <a:srgbClr val="5F6368"/>
                </a:solidFill>
                <a:latin typeface="Arial"/>
                <a:ea typeface="Arial"/>
                <a:cs typeface="Arial"/>
              </a:rPr>
              <a:t>step-level audit events</a:t>
            </a:r>
          </a:p>
        </p:txBody>
      </p:sp>
      <p:sp>
        <p:nvSpPr>
          <p:cNvPr id="10" name="shape-465-285">
            <a:extLst>
              <a:ext uri="{FF2B5EF4-FFF2-40B4-BE49-F238E27FC236}">
                <a16:creationId xmlns:a16="http://schemas.microsoft.com/office/drawing/2014/main" id="{DFF43446-B3CC-462D-8EAB-BAFED9487E47}"/>
              </a:ext>
            </a:extLst>
          </p:cNvPr>
          <p:cNvSpPr>
            <a:spLocks noGrp="1"/>
          </p:cNvSpPr>
          <p:nvPr/>
        </p:nvSpPr>
        <p:spPr>
          <a:xfrm>
            <a:off x="4429125" y="2714625"/>
            <a:ext cx="3333750" cy="2381250"/>
          </a:xfrm>
          <a:prstGeom prst="roundRect">
            <a:avLst>
              <a:gd name="adj" fmla="val 4800"/>
            </a:avLst>
          </a:prstGeom>
          <a:solidFill>
            <a:srgbClr val="F1F2F4"/>
          </a:solidFill>
          <a:ln w="9525">
            <a:solidFill>
              <a:srgbClr val="E1E3E6"/>
            </a:solidFill>
            <a:prstDash val="solid"/>
          </a:ln>
        </p:spPr>
        <p:txBody>
          <a:bodyPr/>
          <a:lstStyle/>
          <a:p>
            <a:endParaRPr lang="en-GB"/>
          </a:p>
        </p:txBody>
      </p:sp>
      <p:sp>
        <p:nvSpPr>
          <p:cNvPr id="11" name="shape-465-285">
            <a:extLst>
              <a:ext uri="{FF2B5EF4-FFF2-40B4-BE49-F238E27FC236}">
                <a16:creationId xmlns:a16="http://schemas.microsoft.com/office/drawing/2014/main" id="{6F708990-9365-41EE-A25C-A6E6CD5AAE7E}"/>
              </a:ext>
            </a:extLst>
          </p:cNvPr>
          <p:cNvSpPr>
            <a:spLocks noGrp="1"/>
          </p:cNvSpPr>
          <p:nvPr/>
        </p:nvSpPr>
        <p:spPr>
          <a:xfrm>
            <a:off x="4429125" y="2714625"/>
            <a:ext cx="76200" cy="2381250"/>
          </a:xfrm>
          <a:prstGeom prst="rect">
            <a:avLst/>
          </a:prstGeom>
          <a:solidFill>
            <a:srgbClr val="F2C811"/>
          </a:solidFill>
          <a:ln w="0">
            <a:solidFill>
              <a:srgbClr val="F2C811"/>
            </a:solidFill>
            <a:prstDash val="solid"/>
          </a:ln>
        </p:spPr>
        <p:txBody>
          <a:bodyPr/>
          <a:lstStyle/>
          <a:p>
            <a:endParaRPr lang="en-GB"/>
          </a:p>
        </p:txBody>
      </p:sp>
      <p:sp>
        <p:nvSpPr>
          <p:cNvPr id="12" name="text-493-309">
            <a:extLst>
              <a:ext uri="{FF2B5EF4-FFF2-40B4-BE49-F238E27FC236}">
                <a16:creationId xmlns:a16="http://schemas.microsoft.com/office/drawing/2014/main" id="{76474331-A59F-4672-92C7-A6F0A604CB58}"/>
              </a:ext>
            </a:extLst>
          </p:cNvPr>
          <p:cNvSpPr>
            <a:spLocks noGrp="1"/>
          </p:cNvSpPr>
          <p:nvPr/>
        </p:nvSpPr>
        <p:spPr>
          <a:xfrm>
            <a:off x="4695825" y="2943225"/>
            <a:ext cx="2838450" cy="685800"/>
          </a:xfrm>
          <a:prstGeom prst="rect">
            <a:avLst/>
          </a:prstGeom>
          <a:noFill/>
          <a:ln w="0">
            <a:noFill/>
            <a:prstDash val="solid"/>
          </a:ln>
        </p:spPr>
        <p:txBody>
          <a:bodyPr anchor="t"/>
          <a:lstStyle/>
          <a:p>
            <a:pPr algn="l">
              <a:defRPr sz="3450" b="1">
                <a:solidFill>
                  <a:srgbClr val="111111"/>
                </a:solidFill>
                <a:latin typeface="Arial"/>
                <a:ea typeface="Arial"/>
                <a:cs typeface="Arial"/>
              </a:defRPr>
            </a:pPr>
            <a:r>
              <a:rPr sz="3450" b="1">
                <a:solidFill>
                  <a:srgbClr val="111111"/>
                </a:solidFill>
                <a:latin typeface="Arial"/>
                <a:ea typeface="Arial"/>
                <a:cs typeface="Arial"/>
              </a:rPr>
              <a:t>38</a:t>
            </a:r>
          </a:p>
        </p:txBody>
      </p:sp>
      <p:sp>
        <p:nvSpPr>
          <p:cNvPr id="13" name="text-493-387">
            <a:extLst>
              <a:ext uri="{FF2B5EF4-FFF2-40B4-BE49-F238E27FC236}">
                <a16:creationId xmlns:a16="http://schemas.microsoft.com/office/drawing/2014/main" id="{16DC4EAC-FA5E-49C2-AC35-8770B28AE1CE}"/>
              </a:ext>
            </a:extLst>
          </p:cNvPr>
          <p:cNvSpPr>
            <a:spLocks noGrp="1"/>
          </p:cNvSpPr>
          <p:nvPr/>
        </p:nvSpPr>
        <p:spPr>
          <a:xfrm>
            <a:off x="4695825" y="3686175"/>
            <a:ext cx="2838450" cy="1257300"/>
          </a:xfrm>
          <a:prstGeom prst="rect">
            <a:avLst/>
          </a:prstGeom>
          <a:noFill/>
          <a:ln w="0">
            <a:noFill/>
            <a:prstDash val="solid"/>
          </a:ln>
        </p:spPr>
        <p:txBody>
          <a:bodyPr anchor="t"/>
          <a:lstStyle/>
          <a:p>
            <a:pPr algn="l">
              <a:defRPr sz="1350" b="0">
                <a:solidFill>
                  <a:srgbClr val="5F6368"/>
                </a:solidFill>
                <a:latin typeface="Arial"/>
                <a:ea typeface="Arial"/>
                <a:cs typeface="Arial"/>
              </a:defRPr>
            </a:pPr>
            <a:r>
              <a:rPr sz="1350" b="0">
                <a:solidFill>
                  <a:srgbClr val="5F6368"/>
                </a:solidFill>
                <a:latin typeface="Arial"/>
                <a:ea typeface="Arial"/>
                <a:cs typeface="Arial"/>
              </a:rPr>
              <a:t>Power BI-ready metric fields</a:t>
            </a:r>
          </a:p>
        </p:txBody>
      </p:sp>
      <p:sp>
        <p:nvSpPr>
          <p:cNvPr id="14" name="shape-872-285">
            <a:extLst>
              <a:ext uri="{FF2B5EF4-FFF2-40B4-BE49-F238E27FC236}">
                <a16:creationId xmlns:a16="http://schemas.microsoft.com/office/drawing/2014/main" id="{512D3555-A9D6-4DC6-B767-487F6372746C}"/>
              </a:ext>
            </a:extLst>
          </p:cNvPr>
          <p:cNvSpPr>
            <a:spLocks noGrp="1"/>
          </p:cNvSpPr>
          <p:nvPr/>
        </p:nvSpPr>
        <p:spPr>
          <a:xfrm>
            <a:off x="8305800" y="2714625"/>
            <a:ext cx="3333750" cy="2381250"/>
          </a:xfrm>
          <a:prstGeom prst="roundRect">
            <a:avLst>
              <a:gd name="adj" fmla="val 4800"/>
            </a:avLst>
          </a:prstGeom>
          <a:solidFill>
            <a:srgbClr val="F1F2F4"/>
          </a:solidFill>
          <a:ln w="9525">
            <a:solidFill>
              <a:srgbClr val="E1E3E6"/>
            </a:solidFill>
            <a:prstDash val="solid"/>
          </a:ln>
        </p:spPr>
        <p:txBody>
          <a:bodyPr/>
          <a:lstStyle/>
          <a:p>
            <a:endParaRPr lang="en-GB"/>
          </a:p>
        </p:txBody>
      </p:sp>
      <p:sp>
        <p:nvSpPr>
          <p:cNvPr id="15" name="shape-872-285">
            <a:extLst>
              <a:ext uri="{FF2B5EF4-FFF2-40B4-BE49-F238E27FC236}">
                <a16:creationId xmlns:a16="http://schemas.microsoft.com/office/drawing/2014/main" id="{87A6D387-AED1-4666-9AA2-036126100EB5}"/>
              </a:ext>
            </a:extLst>
          </p:cNvPr>
          <p:cNvSpPr>
            <a:spLocks noGrp="1"/>
          </p:cNvSpPr>
          <p:nvPr/>
        </p:nvSpPr>
        <p:spPr>
          <a:xfrm>
            <a:off x="8305800" y="2714625"/>
            <a:ext cx="76200" cy="2381250"/>
          </a:xfrm>
          <a:prstGeom prst="rect">
            <a:avLst/>
          </a:prstGeom>
          <a:solidFill>
            <a:srgbClr val="6DCBF4"/>
          </a:solidFill>
          <a:ln w="0">
            <a:solidFill>
              <a:srgbClr val="6DCBF4"/>
            </a:solidFill>
            <a:prstDash val="solid"/>
          </a:ln>
        </p:spPr>
        <p:txBody>
          <a:bodyPr/>
          <a:lstStyle/>
          <a:p>
            <a:endParaRPr lang="en-GB"/>
          </a:p>
        </p:txBody>
      </p:sp>
      <p:sp>
        <p:nvSpPr>
          <p:cNvPr id="16" name="text-900-309">
            <a:extLst>
              <a:ext uri="{FF2B5EF4-FFF2-40B4-BE49-F238E27FC236}">
                <a16:creationId xmlns:a16="http://schemas.microsoft.com/office/drawing/2014/main" id="{572F1431-52AF-4C0B-81A9-8F9DDEFF9D1A}"/>
              </a:ext>
            </a:extLst>
          </p:cNvPr>
          <p:cNvSpPr>
            <a:spLocks noGrp="1"/>
          </p:cNvSpPr>
          <p:nvPr/>
        </p:nvSpPr>
        <p:spPr>
          <a:xfrm>
            <a:off x="8572500" y="2943225"/>
            <a:ext cx="2838450" cy="685800"/>
          </a:xfrm>
          <a:prstGeom prst="rect">
            <a:avLst/>
          </a:prstGeom>
          <a:noFill/>
          <a:ln w="0">
            <a:noFill/>
            <a:prstDash val="solid"/>
          </a:ln>
        </p:spPr>
        <p:txBody>
          <a:bodyPr anchor="t"/>
          <a:lstStyle/>
          <a:p>
            <a:pPr algn="l">
              <a:defRPr sz="3450" b="1">
                <a:solidFill>
                  <a:srgbClr val="111111"/>
                </a:solidFill>
                <a:latin typeface="Arial"/>
                <a:ea typeface="Arial"/>
                <a:cs typeface="Arial"/>
              </a:defRPr>
            </a:pPr>
            <a:r>
              <a:rPr sz="3450" b="1">
                <a:solidFill>
                  <a:srgbClr val="111111"/>
                </a:solidFill>
                <a:latin typeface="Arial"/>
                <a:ea typeface="Arial"/>
                <a:cs typeface="Arial"/>
              </a:rPr>
              <a:t>22.5 ms</a:t>
            </a:r>
          </a:p>
        </p:txBody>
      </p:sp>
      <p:sp>
        <p:nvSpPr>
          <p:cNvPr id="17" name="text-900-387">
            <a:extLst>
              <a:ext uri="{FF2B5EF4-FFF2-40B4-BE49-F238E27FC236}">
                <a16:creationId xmlns:a16="http://schemas.microsoft.com/office/drawing/2014/main" id="{083A9C97-535E-4A2F-9EAF-15F9D3A90AF7}"/>
              </a:ext>
            </a:extLst>
          </p:cNvPr>
          <p:cNvSpPr>
            <a:spLocks noGrp="1"/>
          </p:cNvSpPr>
          <p:nvPr/>
        </p:nvSpPr>
        <p:spPr>
          <a:xfrm>
            <a:off x="8572500" y="3686175"/>
            <a:ext cx="2838450" cy="1257300"/>
          </a:xfrm>
          <a:prstGeom prst="rect">
            <a:avLst/>
          </a:prstGeom>
          <a:noFill/>
          <a:ln w="0">
            <a:noFill/>
            <a:prstDash val="solid"/>
          </a:ln>
        </p:spPr>
        <p:txBody>
          <a:bodyPr anchor="t"/>
          <a:lstStyle/>
          <a:p>
            <a:pPr algn="l">
              <a:defRPr sz="1350" b="0">
                <a:solidFill>
                  <a:srgbClr val="5F6368"/>
                </a:solidFill>
                <a:latin typeface="Arial"/>
                <a:ea typeface="Arial"/>
                <a:cs typeface="Arial"/>
              </a:defRPr>
            </a:pPr>
            <a:r>
              <a:rPr sz="1350" b="0">
                <a:solidFill>
                  <a:srgbClr val="5F6368"/>
                </a:solidFill>
                <a:latin typeface="Arial"/>
                <a:ea typeface="Arial"/>
                <a:cs typeface="Arial"/>
              </a:rPr>
              <a:t>total tracked processing time</a:t>
            </a:r>
          </a:p>
        </p:txBody>
      </p:sp>
      <p:sp>
        <p:nvSpPr>
          <p:cNvPr id="18" name="text-58-590">
            <a:extLst>
              <a:ext uri="{FF2B5EF4-FFF2-40B4-BE49-F238E27FC236}">
                <a16:creationId xmlns:a16="http://schemas.microsoft.com/office/drawing/2014/main" id="{57394856-683C-4255-99B5-FA424A476651}"/>
              </a:ext>
            </a:extLst>
          </p:cNvPr>
          <p:cNvSpPr>
            <a:spLocks noGrp="1"/>
          </p:cNvSpPr>
          <p:nvPr/>
        </p:nvSpPr>
        <p:spPr>
          <a:xfrm>
            <a:off x="552450" y="5619750"/>
            <a:ext cx="11049000" cy="323850"/>
          </a:xfrm>
          <a:prstGeom prst="rect">
            <a:avLst/>
          </a:prstGeom>
          <a:noFill/>
          <a:ln w="0">
            <a:noFill/>
            <a:prstDash val="solid"/>
          </a:ln>
        </p:spPr>
        <p:txBody>
          <a:bodyPr anchor="t"/>
          <a:lstStyle/>
          <a:p>
            <a:pPr algn="l">
              <a:defRPr sz="1575" b="1">
                <a:solidFill>
                  <a:srgbClr val="111111"/>
                </a:solidFill>
                <a:latin typeface="Arial"/>
                <a:ea typeface="Arial"/>
                <a:cs typeface="Arial"/>
              </a:defRPr>
            </a:pPr>
            <a:r>
              <a:rPr sz="1575" b="1">
                <a:solidFill>
                  <a:srgbClr val="111111"/>
                </a:solidFill>
                <a:latin typeface="Arial"/>
                <a:ea typeface="Arial"/>
                <a:cs typeface="Arial"/>
              </a:rPr>
              <a:t>2 datasets  •  1 unique run ID  •  historical append enabled</a:t>
            </a:r>
          </a:p>
        </p:txBody>
      </p:sp>
    </p:spTree>
    <p:extLst>
      <p:ext uri="{BB962C8B-B14F-4D97-AF65-F5344CB8AC3E}">
        <p14:creationId xmlns:p14="http://schemas.microsoft.com/office/powerpoint/2010/main" val="670358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eyebrow">
            <a:extLst>
              <a:ext uri="{FF2B5EF4-FFF2-40B4-BE49-F238E27FC236}">
                <a16:creationId xmlns:a16="http://schemas.microsoft.com/office/drawing/2014/main" id="{F4DE1E6C-AB04-456B-BD70-64D349AE0042}"/>
              </a:ext>
            </a:extLst>
          </p:cNvPr>
          <p:cNvSpPr>
            <a:spLocks noGrp="1"/>
          </p:cNvSpPr>
          <p:nvPr/>
        </p:nvSpPr>
        <p:spPr>
          <a:xfrm>
            <a:off x="533400" y="323850"/>
            <a:ext cx="4762500" cy="228600"/>
          </a:xfrm>
          <a:prstGeom prst="rect">
            <a:avLst/>
          </a:prstGeom>
          <a:noFill/>
          <a:ln w="0">
            <a:noFill/>
            <a:prstDash val="solid"/>
          </a:ln>
        </p:spPr>
        <p:txBody>
          <a:bodyPr anchor="t"/>
          <a:lstStyle/>
          <a:p>
            <a:pPr algn="l">
              <a:defRPr sz="1050" b="1">
                <a:solidFill>
                  <a:srgbClr val="3D8DFF"/>
                </a:solidFill>
                <a:latin typeface="Arial"/>
                <a:ea typeface="Arial"/>
                <a:cs typeface="Arial"/>
              </a:defRPr>
            </a:pPr>
            <a:r>
              <a:rPr sz="1050" b="1">
                <a:solidFill>
                  <a:srgbClr val="3D8DFF"/>
                </a:solidFill>
                <a:latin typeface="Arial"/>
                <a:ea typeface="Arial"/>
                <a:cs typeface="Arial"/>
              </a:rPr>
              <a:t>DATA ENGINEERING METRICS</a:t>
            </a:r>
          </a:p>
        </p:txBody>
      </p:sp>
      <p:sp>
        <p:nvSpPr>
          <p:cNvPr id="2" name="slide-title">
            <a:extLst>
              <a:ext uri="{FF2B5EF4-FFF2-40B4-BE49-F238E27FC236}">
                <a16:creationId xmlns:a16="http://schemas.microsoft.com/office/drawing/2014/main" id="{D01349ED-6F9E-4372-A81F-FC37EE2E65CB}"/>
              </a:ext>
            </a:extLst>
          </p:cNvPr>
          <p:cNvSpPr>
            <a:spLocks noGrp="1"/>
          </p:cNvSpPr>
          <p:nvPr/>
        </p:nvSpPr>
        <p:spPr>
          <a:xfrm>
            <a:off x="533400" y="628650"/>
            <a:ext cx="11125200" cy="685800"/>
          </a:xfrm>
          <a:prstGeom prst="rect">
            <a:avLst/>
          </a:prstGeom>
          <a:noFill/>
          <a:ln w="0">
            <a:noFill/>
            <a:prstDash val="solid"/>
          </a:ln>
        </p:spPr>
        <p:txBody>
          <a:bodyPr anchor="t"/>
          <a:lstStyle/>
          <a:p>
            <a:pPr algn="l">
              <a:defRPr sz="2850" b="1">
                <a:solidFill>
                  <a:srgbClr val="111111"/>
                </a:solidFill>
                <a:latin typeface="Arial"/>
                <a:ea typeface="Arial"/>
                <a:cs typeface="Arial"/>
              </a:defRPr>
            </a:pPr>
            <a:r>
              <a:rPr sz="2850" b="1">
                <a:solidFill>
                  <a:srgbClr val="111111"/>
                </a:solidFill>
                <a:latin typeface="Arial"/>
                <a:ea typeface="Arial"/>
                <a:cs typeface="Arial"/>
              </a:rPr>
              <a:t>Empty rows explain the reduction in book records</a:t>
            </a:r>
          </a:p>
        </p:txBody>
      </p:sp>
      <p:sp>
        <p:nvSpPr>
          <p:cNvPr id="3" name="rule-143">
            <a:extLst>
              <a:ext uri="{FF2B5EF4-FFF2-40B4-BE49-F238E27FC236}">
                <a16:creationId xmlns:a16="http://schemas.microsoft.com/office/drawing/2014/main" id="{9D88556E-A867-425E-9418-58783FE1C9BE}"/>
              </a:ext>
            </a:extLst>
          </p:cNvPr>
          <p:cNvSpPr>
            <a:spLocks noGrp="1"/>
          </p:cNvSpPr>
          <p:nvPr/>
        </p:nvSpPr>
        <p:spPr>
          <a:xfrm>
            <a:off x="533400" y="1362075"/>
            <a:ext cx="11125200" cy="9525"/>
          </a:xfrm>
          <a:prstGeom prst="rect">
            <a:avLst/>
          </a:prstGeom>
          <a:solidFill>
            <a:srgbClr val="B8BCC4"/>
          </a:solidFill>
          <a:ln w="0">
            <a:solidFill>
              <a:srgbClr val="B8BCC4"/>
            </a:solidFill>
            <a:prstDash val="solid"/>
          </a:ln>
        </p:spPr>
        <p:txBody>
          <a:bodyPr/>
          <a:lstStyle/>
          <a:p>
            <a:endParaRPr lang="en-GB"/>
          </a:p>
        </p:txBody>
      </p:sp>
      <p:sp>
        <p:nvSpPr>
          <p:cNvPr id="4" name="slide-number">
            <a:extLst>
              <a:ext uri="{FF2B5EF4-FFF2-40B4-BE49-F238E27FC236}">
                <a16:creationId xmlns:a16="http://schemas.microsoft.com/office/drawing/2014/main" id="{9ED14E33-D64E-433D-8188-217EA1830EE9}"/>
              </a:ext>
            </a:extLst>
          </p:cNvPr>
          <p:cNvSpPr>
            <a:spLocks noGrp="1"/>
          </p:cNvSpPr>
          <p:nvPr/>
        </p:nvSpPr>
        <p:spPr>
          <a:xfrm>
            <a:off x="11144250" y="6381750"/>
            <a:ext cx="514350" cy="209550"/>
          </a:xfrm>
          <a:prstGeom prst="rect">
            <a:avLst/>
          </a:prstGeom>
          <a:noFill/>
          <a:ln w="0">
            <a:noFill/>
            <a:prstDash val="solid"/>
          </a:ln>
        </p:spPr>
        <p:txBody>
          <a:bodyPr anchor="t"/>
          <a:lstStyle/>
          <a:p>
            <a:pPr algn="r">
              <a:defRPr sz="975" b="0">
                <a:solidFill>
                  <a:srgbClr val="5F6368"/>
                </a:solidFill>
                <a:latin typeface="Arial"/>
                <a:ea typeface="Arial"/>
                <a:cs typeface="Arial"/>
              </a:defRPr>
            </a:pPr>
            <a:r>
              <a:rPr sz="975" b="0">
                <a:solidFill>
                  <a:srgbClr val="5F6368"/>
                </a:solidFill>
                <a:latin typeface="Arial"/>
                <a:ea typeface="Arial"/>
                <a:cs typeface="Arial"/>
              </a:rPr>
              <a:t>07</a:t>
            </a:r>
          </a:p>
        </p:txBody>
      </p:sp>
      <p:graphicFrame>
        <p:nvGraphicFramePr>
          <p:cNvPr id="16" name="Chart"/>
          <p:cNvGraphicFramePr/>
          <p:nvPr/>
        </p:nvGraphicFramePr>
        <p:xfrm>
          <a:off x="495300" y="1762125"/>
          <a:ext cx="6286500" cy="409575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790-212">
            <a:extLst>
              <a:ext uri="{FF2B5EF4-FFF2-40B4-BE49-F238E27FC236}">
                <a16:creationId xmlns:a16="http://schemas.microsoft.com/office/drawing/2014/main" id="{DA1F7A17-7D15-46B5-A324-347D45E18819}"/>
              </a:ext>
            </a:extLst>
          </p:cNvPr>
          <p:cNvSpPr>
            <a:spLocks noGrp="1"/>
          </p:cNvSpPr>
          <p:nvPr/>
        </p:nvSpPr>
        <p:spPr>
          <a:xfrm>
            <a:off x="7524750" y="2019300"/>
            <a:ext cx="1524000" cy="685800"/>
          </a:xfrm>
          <a:prstGeom prst="rect">
            <a:avLst/>
          </a:prstGeom>
          <a:noFill/>
          <a:ln w="0">
            <a:noFill/>
            <a:prstDash val="solid"/>
          </a:ln>
        </p:spPr>
        <p:txBody>
          <a:bodyPr anchor="t"/>
          <a:lstStyle/>
          <a:p>
            <a:pPr algn="l">
              <a:defRPr sz="3900" b="1">
                <a:solidFill>
                  <a:srgbClr val="111111"/>
                </a:solidFill>
                <a:latin typeface="Arial"/>
                <a:ea typeface="Arial"/>
                <a:cs typeface="Arial"/>
              </a:defRPr>
            </a:pPr>
            <a:r>
              <a:rPr sz="3900" b="1">
                <a:solidFill>
                  <a:srgbClr val="111111"/>
                </a:solidFill>
                <a:latin typeface="Arial"/>
                <a:ea typeface="Arial"/>
                <a:cs typeface="Arial"/>
              </a:rPr>
              <a:t>93</a:t>
            </a:r>
          </a:p>
        </p:txBody>
      </p:sp>
      <p:sp>
        <p:nvSpPr>
          <p:cNvPr id="7" name="text-790-286">
            <a:extLst>
              <a:ext uri="{FF2B5EF4-FFF2-40B4-BE49-F238E27FC236}">
                <a16:creationId xmlns:a16="http://schemas.microsoft.com/office/drawing/2014/main" id="{591A2BE7-567F-4151-A8AE-C3B5BE18DD96}"/>
              </a:ext>
            </a:extLst>
          </p:cNvPr>
          <p:cNvSpPr>
            <a:spLocks noGrp="1"/>
          </p:cNvSpPr>
          <p:nvPr/>
        </p:nvSpPr>
        <p:spPr>
          <a:xfrm>
            <a:off x="7524750" y="2724150"/>
            <a:ext cx="3333750" cy="590550"/>
          </a:xfrm>
          <a:prstGeom prst="rect">
            <a:avLst/>
          </a:prstGeom>
          <a:noFill/>
          <a:ln w="0">
            <a:noFill/>
            <a:prstDash val="solid"/>
          </a:ln>
        </p:spPr>
        <p:txBody>
          <a:bodyPr anchor="t"/>
          <a:lstStyle/>
          <a:p>
            <a:pPr algn="l">
              <a:defRPr sz="1575" b="0">
                <a:solidFill>
                  <a:srgbClr val="5F6368"/>
                </a:solidFill>
                <a:latin typeface="Arial"/>
                <a:ea typeface="Arial"/>
                <a:cs typeface="Arial"/>
              </a:defRPr>
            </a:pPr>
            <a:r>
              <a:rPr sz="1575" b="0">
                <a:solidFill>
                  <a:srgbClr val="5F6368"/>
                </a:solidFill>
                <a:latin typeface="Arial"/>
                <a:ea typeface="Arial"/>
                <a:cs typeface="Arial"/>
              </a:rPr>
              <a:t>fully empty book rows removed</a:t>
            </a:r>
          </a:p>
        </p:txBody>
      </p:sp>
      <p:sp>
        <p:nvSpPr>
          <p:cNvPr id="8" name="rule-370">
            <a:extLst>
              <a:ext uri="{FF2B5EF4-FFF2-40B4-BE49-F238E27FC236}">
                <a16:creationId xmlns:a16="http://schemas.microsoft.com/office/drawing/2014/main" id="{65B082B3-B216-40F5-B560-3EF58D3D8036}"/>
              </a:ext>
            </a:extLst>
          </p:cNvPr>
          <p:cNvSpPr>
            <a:spLocks noGrp="1"/>
          </p:cNvSpPr>
          <p:nvPr/>
        </p:nvSpPr>
        <p:spPr>
          <a:xfrm>
            <a:off x="7524750" y="3524250"/>
            <a:ext cx="3714750" cy="9525"/>
          </a:xfrm>
          <a:prstGeom prst="rect">
            <a:avLst/>
          </a:prstGeom>
          <a:solidFill>
            <a:srgbClr val="B8BCC4"/>
          </a:solidFill>
          <a:ln w="0">
            <a:solidFill>
              <a:srgbClr val="B8BCC4"/>
            </a:solidFill>
            <a:prstDash val="solid"/>
          </a:ln>
        </p:spPr>
        <p:txBody>
          <a:bodyPr/>
          <a:lstStyle/>
          <a:p>
            <a:endParaRPr lang="en-GB"/>
          </a:p>
        </p:txBody>
      </p:sp>
      <p:sp>
        <p:nvSpPr>
          <p:cNvPr id="9" name="text-790-404">
            <a:extLst>
              <a:ext uri="{FF2B5EF4-FFF2-40B4-BE49-F238E27FC236}">
                <a16:creationId xmlns:a16="http://schemas.microsoft.com/office/drawing/2014/main" id="{9BF1D2CE-FB2B-4873-B8D7-6B2F731F79E4}"/>
              </a:ext>
            </a:extLst>
          </p:cNvPr>
          <p:cNvSpPr>
            <a:spLocks noGrp="1"/>
          </p:cNvSpPr>
          <p:nvPr/>
        </p:nvSpPr>
        <p:spPr>
          <a:xfrm>
            <a:off x="7524750" y="3848100"/>
            <a:ext cx="1524000" cy="685800"/>
          </a:xfrm>
          <a:prstGeom prst="rect">
            <a:avLst/>
          </a:prstGeom>
          <a:noFill/>
          <a:ln w="0">
            <a:noFill/>
            <a:prstDash val="solid"/>
          </a:ln>
        </p:spPr>
        <p:txBody>
          <a:bodyPr anchor="t"/>
          <a:lstStyle/>
          <a:p>
            <a:pPr algn="l">
              <a:defRPr sz="3900" b="1">
                <a:solidFill>
                  <a:srgbClr val="111111"/>
                </a:solidFill>
                <a:latin typeface="Arial"/>
                <a:ea typeface="Arial"/>
                <a:cs typeface="Arial"/>
              </a:defRPr>
            </a:pPr>
            <a:r>
              <a:rPr sz="3900" b="1">
                <a:solidFill>
                  <a:srgbClr val="111111"/>
                </a:solidFill>
                <a:latin typeface="Arial"/>
                <a:ea typeface="Arial"/>
                <a:cs typeface="Arial"/>
              </a:rPr>
              <a:t>1</a:t>
            </a:r>
          </a:p>
        </p:txBody>
      </p:sp>
      <p:sp>
        <p:nvSpPr>
          <p:cNvPr id="10" name="text-790-478">
            <a:extLst>
              <a:ext uri="{FF2B5EF4-FFF2-40B4-BE49-F238E27FC236}">
                <a16:creationId xmlns:a16="http://schemas.microsoft.com/office/drawing/2014/main" id="{CDE81749-9561-476D-9721-6489581269E1}"/>
              </a:ext>
            </a:extLst>
          </p:cNvPr>
          <p:cNvSpPr>
            <a:spLocks noGrp="1"/>
          </p:cNvSpPr>
          <p:nvPr/>
        </p:nvSpPr>
        <p:spPr>
          <a:xfrm>
            <a:off x="7524750" y="4552950"/>
            <a:ext cx="3333750" cy="590550"/>
          </a:xfrm>
          <a:prstGeom prst="rect">
            <a:avLst/>
          </a:prstGeom>
          <a:noFill/>
          <a:ln w="0">
            <a:noFill/>
            <a:prstDash val="solid"/>
          </a:ln>
        </p:spPr>
        <p:txBody>
          <a:bodyPr anchor="t"/>
          <a:lstStyle/>
          <a:p>
            <a:pPr algn="l">
              <a:defRPr sz="1575" b="0">
                <a:solidFill>
                  <a:srgbClr val="5F6368"/>
                </a:solidFill>
                <a:latin typeface="Arial"/>
                <a:ea typeface="Arial"/>
                <a:cs typeface="Arial"/>
              </a:defRPr>
            </a:pPr>
            <a:r>
              <a:rPr sz="1575" b="0">
                <a:solidFill>
                  <a:srgbClr val="5F6368"/>
                </a:solidFill>
                <a:latin typeface="Arial"/>
                <a:ea typeface="Arial"/>
                <a:cs typeface="Arial"/>
              </a:rPr>
              <a:t>fully empty customer row removed</a:t>
            </a:r>
          </a:p>
        </p:txBody>
      </p:sp>
      <p:sp>
        <p:nvSpPr>
          <p:cNvPr id="11" name="text-790-582">
            <a:extLst>
              <a:ext uri="{FF2B5EF4-FFF2-40B4-BE49-F238E27FC236}">
                <a16:creationId xmlns:a16="http://schemas.microsoft.com/office/drawing/2014/main" id="{CE8652E4-13C2-485E-9D6C-AFB09594DF0D}"/>
              </a:ext>
            </a:extLst>
          </p:cNvPr>
          <p:cNvSpPr>
            <a:spLocks noGrp="1"/>
          </p:cNvSpPr>
          <p:nvPr/>
        </p:nvSpPr>
        <p:spPr>
          <a:xfrm>
            <a:off x="7524750" y="5543550"/>
            <a:ext cx="3714750" cy="304800"/>
          </a:xfrm>
          <a:prstGeom prst="rect">
            <a:avLst/>
          </a:prstGeom>
          <a:noFill/>
          <a:ln w="0">
            <a:noFill/>
            <a:prstDash val="solid"/>
          </a:ln>
        </p:spPr>
        <p:txBody>
          <a:bodyPr anchor="t"/>
          <a:lstStyle/>
          <a:p>
            <a:pPr algn="l">
              <a:defRPr sz="1650" b="1">
                <a:solidFill>
                  <a:srgbClr val="3D8DFF"/>
                </a:solidFill>
                <a:latin typeface="Arial"/>
                <a:ea typeface="Arial"/>
                <a:cs typeface="Arial"/>
              </a:defRPr>
            </a:pPr>
            <a:r>
              <a:rPr sz="1650" b="1">
                <a:solidFill>
                  <a:srgbClr val="3D8DFF"/>
                </a:solidFill>
                <a:latin typeface="Arial"/>
                <a:ea typeface="Arial"/>
                <a:cs typeface="Arial"/>
              </a:rPr>
              <a:t>Final analytical volume: 29 rows</a:t>
            </a:r>
          </a:p>
        </p:txBody>
      </p:sp>
    </p:spTree>
    <p:extLst>
      <p:ext uri="{BB962C8B-B14F-4D97-AF65-F5344CB8AC3E}">
        <p14:creationId xmlns:p14="http://schemas.microsoft.com/office/powerpoint/2010/main" val="16013190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eyebrow">
            <a:extLst>
              <a:ext uri="{FF2B5EF4-FFF2-40B4-BE49-F238E27FC236}">
                <a16:creationId xmlns:a16="http://schemas.microsoft.com/office/drawing/2014/main" id="{ACB01867-EE66-4C11-A162-3952B377F00D}"/>
              </a:ext>
            </a:extLst>
          </p:cNvPr>
          <p:cNvSpPr>
            <a:spLocks noGrp="1"/>
          </p:cNvSpPr>
          <p:nvPr/>
        </p:nvSpPr>
        <p:spPr>
          <a:xfrm>
            <a:off x="533400" y="323850"/>
            <a:ext cx="4762500" cy="228600"/>
          </a:xfrm>
          <a:prstGeom prst="rect">
            <a:avLst/>
          </a:prstGeom>
          <a:noFill/>
          <a:ln w="0">
            <a:noFill/>
            <a:prstDash val="solid"/>
          </a:ln>
        </p:spPr>
        <p:txBody>
          <a:bodyPr anchor="t"/>
          <a:lstStyle/>
          <a:p>
            <a:pPr algn="l">
              <a:defRPr sz="1050" b="1">
                <a:solidFill>
                  <a:srgbClr val="3D8DFF"/>
                </a:solidFill>
                <a:latin typeface="Arial"/>
                <a:ea typeface="Arial"/>
                <a:cs typeface="Arial"/>
              </a:defRPr>
            </a:pPr>
            <a:r>
              <a:rPr sz="1050" b="1">
                <a:solidFill>
                  <a:srgbClr val="3D8DFF"/>
                </a:solidFill>
                <a:latin typeface="Arial"/>
                <a:ea typeface="Arial"/>
                <a:cs typeface="Arial"/>
              </a:rPr>
              <a:t>DATA ENGINEERING METRICS</a:t>
            </a:r>
          </a:p>
        </p:txBody>
      </p:sp>
      <p:sp>
        <p:nvSpPr>
          <p:cNvPr id="2" name="slide-title">
            <a:extLst>
              <a:ext uri="{FF2B5EF4-FFF2-40B4-BE49-F238E27FC236}">
                <a16:creationId xmlns:a16="http://schemas.microsoft.com/office/drawing/2014/main" id="{D810E679-442F-4BF2-B5E6-94D1A22A0E90}"/>
              </a:ext>
            </a:extLst>
          </p:cNvPr>
          <p:cNvSpPr>
            <a:spLocks noGrp="1"/>
          </p:cNvSpPr>
          <p:nvPr/>
        </p:nvSpPr>
        <p:spPr>
          <a:xfrm>
            <a:off x="533400" y="628650"/>
            <a:ext cx="11125200" cy="685800"/>
          </a:xfrm>
          <a:prstGeom prst="rect">
            <a:avLst/>
          </a:prstGeom>
          <a:noFill/>
          <a:ln w="0">
            <a:noFill/>
            <a:prstDash val="solid"/>
          </a:ln>
        </p:spPr>
        <p:txBody>
          <a:bodyPr anchor="t"/>
          <a:lstStyle/>
          <a:p>
            <a:pPr algn="l">
              <a:defRPr sz="2850" b="1">
                <a:solidFill>
                  <a:srgbClr val="111111"/>
                </a:solidFill>
                <a:latin typeface="Arial"/>
                <a:ea typeface="Arial"/>
                <a:cs typeface="Arial"/>
              </a:defRPr>
            </a:pPr>
            <a:r>
              <a:rPr sz="2850" b="1">
                <a:solidFill>
                  <a:srgbClr val="111111"/>
                </a:solidFill>
                <a:latin typeface="Arial"/>
                <a:ea typeface="Arial"/>
                <a:cs typeface="Arial"/>
              </a:rPr>
              <a:t>Warnings expose source issues without blocking clean outputs</a:t>
            </a:r>
          </a:p>
        </p:txBody>
      </p:sp>
      <p:sp>
        <p:nvSpPr>
          <p:cNvPr id="3" name="rule-143">
            <a:extLst>
              <a:ext uri="{FF2B5EF4-FFF2-40B4-BE49-F238E27FC236}">
                <a16:creationId xmlns:a16="http://schemas.microsoft.com/office/drawing/2014/main" id="{B8A84A16-77B8-4141-8BF0-44108FF1BA05}"/>
              </a:ext>
            </a:extLst>
          </p:cNvPr>
          <p:cNvSpPr>
            <a:spLocks noGrp="1"/>
          </p:cNvSpPr>
          <p:nvPr/>
        </p:nvSpPr>
        <p:spPr>
          <a:xfrm>
            <a:off x="533400" y="1362075"/>
            <a:ext cx="11125200" cy="9525"/>
          </a:xfrm>
          <a:prstGeom prst="rect">
            <a:avLst/>
          </a:prstGeom>
          <a:solidFill>
            <a:srgbClr val="B8BCC4"/>
          </a:solidFill>
          <a:ln w="0">
            <a:solidFill>
              <a:srgbClr val="B8BCC4"/>
            </a:solidFill>
            <a:prstDash val="solid"/>
          </a:ln>
        </p:spPr>
        <p:txBody>
          <a:bodyPr/>
          <a:lstStyle/>
          <a:p>
            <a:endParaRPr lang="en-GB"/>
          </a:p>
        </p:txBody>
      </p:sp>
      <p:sp>
        <p:nvSpPr>
          <p:cNvPr id="4" name="slide-number">
            <a:extLst>
              <a:ext uri="{FF2B5EF4-FFF2-40B4-BE49-F238E27FC236}">
                <a16:creationId xmlns:a16="http://schemas.microsoft.com/office/drawing/2014/main" id="{BB8C82D2-8949-4536-8C32-08F1B854E531}"/>
              </a:ext>
            </a:extLst>
          </p:cNvPr>
          <p:cNvSpPr>
            <a:spLocks noGrp="1"/>
          </p:cNvSpPr>
          <p:nvPr/>
        </p:nvSpPr>
        <p:spPr>
          <a:xfrm>
            <a:off x="11144250" y="6381750"/>
            <a:ext cx="514350" cy="209550"/>
          </a:xfrm>
          <a:prstGeom prst="rect">
            <a:avLst/>
          </a:prstGeom>
          <a:noFill/>
          <a:ln w="0">
            <a:noFill/>
            <a:prstDash val="solid"/>
          </a:ln>
        </p:spPr>
        <p:txBody>
          <a:bodyPr anchor="t"/>
          <a:lstStyle/>
          <a:p>
            <a:pPr algn="r">
              <a:defRPr sz="975" b="0">
                <a:solidFill>
                  <a:srgbClr val="5F6368"/>
                </a:solidFill>
                <a:latin typeface="Arial"/>
                <a:ea typeface="Arial"/>
                <a:cs typeface="Arial"/>
              </a:defRPr>
            </a:pPr>
            <a:r>
              <a:rPr sz="975" b="0">
                <a:solidFill>
                  <a:srgbClr val="5F6368"/>
                </a:solidFill>
                <a:latin typeface="Arial"/>
                <a:ea typeface="Arial"/>
                <a:cs typeface="Arial"/>
              </a:rPr>
              <a:t>08</a:t>
            </a:r>
          </a:p>
        </p:txBody>
      </p:sp>
      <p:graphicFrame>
        <p:nvGraphicFramePr>
          <p:cNvPr id="15" name="Chart"/>
          <p:cNvGraphicFramePr/>
          <p:nvPr/>
        </p:nvGraphicFramePr>
        <p:xfrm>
          <a:off x="495300" y="1714500"/>
          <a:ext cx="6381750" cy="4333875"/>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790-205">
            <a:extLst>
              <a:ext uri="{FF2B5EF4-FFF2-40B4-BE49-F238E27FC236}">
                <a16:creationId xmlns:a16="http://schemas.microsoft.com/office/drawing/2014/main" id="{AE4A99A4-8EE3-4A5F-AF33-371B1BAC6C48}"/>
              </a:ext>
            </a:extLst>
          </p:cNvPr>
          <p:cNvSpPr>
            <a:spLocks noGrp="1"/>
          </p:cNvSpPr>
          <p:nvPr/>
        </p:nvSpPr>
        <p:spPr>
          <a:xfrm>
            <a:off x="7524750" y="1952625"/>
            <a:ext cx="1143000" cy="666750"/>
          </a:xfrm>
          <a:prstGeom prst="rect">
            <a:avLst/>
          </a:prstGeom>
          <a:noFill/>
          <a:ln w="0">
            <a:noFill/>
            <a:prstDash val="solid"/>
          </a:ln>
        </p:spPr>
        <p:txBody>
          <a:bodyPr anchor="t"/>
          <a:lstStyle/>
          <a:p>
            <a:pPr algn="l">
              <a:defRPr sz="3900" b="1">
                <a:solidFill>
                  <a:srgbClr val="D97706"/>
                </a:solidFill>
                <a:latin typeface="Arial"/>
                <a:ea typeface="Arial"/>
                <a:cs typeface="Arial"/>
              </a:defRPr>
            </a:pPr>
            <a:r>
              <a:rPr sz="3900" b="1">
                <a:solidFill>
                  <a:srgbClr val="D97706"/>
                </a:solidFill>
                <a:latin typeface="Arial"/>
                <a:ea typeface="Arial"/>
                <a:cs typeface="Arial"/>
              </a:rPr>
              <a:t>9</a:t>
            </a:r>
          </a:p>
        </p:txBody>
      </p:sp>
      <p:sp>
        <p:nvSpPr>
          <p:cNvPr id="7" name="text-920-222">
            <a:extLst>
              <a:ext uri="{FF2B5EF4-FFF2-40B4-BE49-F238E27FC236}">
                <a16:creationId xmlns:a16="http://schemas.microsoft.com/office/drawing/2014/main" id="{D25A00F0-0F95-4D66-B0A0-369E5A51EA5B}"/>
              </a:ext>
            </a:extLst>
          </p:cNvPr>
          <p:cNvSpPr>
            <a:spLocks noGrp="1"/>
          </p:cNvSpPr>
          <p:nvPr/>
        </p:nvSpPr>
        <p:spPr>
          <a:xfrm>
            <a:off x="8763000" y="2114550"/>
            <a:ext cx="2381250" cy="381000"/>
          </a:xfrm>
          <a:prstGeom prst="rect">
            <a:avLst/>
          </a:prstGeom>
          <a:noFill/>
          <a:ln w="0">
            <a:noFill/>
            <a:prstDash val="solid"/>
          </a:ln>
        </p:spPr>
        <p:txBody>
          <a:bodyPr anchor="t"/>
          <a:lstStyle/>
          <a:p>
            <a:pPr algn="l">
              <a:defRPr sz="1800" b="1">
                <a:solidFill>
                  <a:srgbClr val="111111"/>
                </a:solidFill>
                <a:latin typeface="Arial"/>
                <a:ea typeface="Arial"/>
                <a:cs typeface="Arial"/>
              </a:defRPr>
            </a:pPr>
            <a:r>
              <a:rPr sz="1800" b="1">
                <a:solidFill>
                  <a:srgbClr val="111111"/>
                </a:solidFill>
                <a:latin typeface="Arial"/>
                <a:ea typeface="Arial"/>
                <a:cs typeface="Arial"/>
              </a:rPr>
              <a:t>quality-rule hits</a:t>
            </a:r>
          </a:p>
        </p:txBody>
      </p:sp>
      <p:sp>
        <p:nvSpPr>
          <p:cNvPr id="8" name="text-790-300">
            <a:extLst>
              <a:ext uri="{FF2B5EF4-FFF2-40B4-BE49-F238E27FC236}">
                <a16:creationId xmlns:a16="http://schemas.microsoft.com/office/drawing/2014/main" id="{70D8F6BB-11C5-43F7-AF98-7BE6288E7B73}"/>
              </a:ext>
            </a:extLst>
          </p:cNvPr>
          <p:cNvSpPr>
            <a:spLocks noGrp="1"/>
          </p:cNvSpPr>
          <p:nvPr/>
        </p:nvSpPr>
        <p:spPr>
          <a:xfrm>
            <a:off x="7524750" y="2857500"/>
            <a:ext cx="3714750" cy="1238250"/>
          </a:xfrm>
          <a:prstGeom prst="rect">
            <a:avLst/>
          </a:prstGeom>
          <a:noFill/>
          <a:ln w="0">
            <a:noFill/>
            <a:prstDash val="solid"/>
          </a:ln>
        </p:spPr>
        <p:txBody>
          <a:bodyPr anchor="t"/>
          <a:lstStyle/>
          <a:p>
            <a:pPr algn="l">
              <a:defRPr sz="1500" b="0">
                <a:solidFill>
                  <a:srgbClr val="5F6368"/>
                </a:solidFill>
                <a:latin typeface="Arial"/>
                <a:ea typeface="Arial"/>
                <a:cs typeface="Arial"/>
              </a:defRPr>
            </a:pPr>
            <a:r>
              <a:rPr sz="1500" b="0">
                <a:solidFill>
                  <a:srgbClr val="5F6368"/>
                </a:solidFill>
                <a:latin typeface="Arial"/>
                <a:ea typeface="Arial"/>
                <a:cs typeface="Arial"/>
              </a:rPr>
              <a:t>These are validation exceptions. The five late returns are an operational finding and are not included in the nine quality-rule hits.</a:t>
            </a:r>
          </a:p>
        </p:txBody>
      </p:sp>
      <p:sp>
        <p:nvSpPr>
          <p:cNvPr id="9" name="rule-460">
            <a:extLst>
              <a:ext uri="{FF2B5EF4-FFF2-40B4-BE49-F238E27FC236}">
                <a16:creationId xmlns:a16="http://schemas.microsoft.com/office/drawing/2014/main" id="{593F38AE-AAE6-484D-A50E-ADA836CCAF69}"/>
              </a:ext>
            </a:extLst>
          </p:cNvPr>
          <p:cNvSpPr>
            <a:spLocks noGrp="1"/>
          </p:cNvSpPr>
          <p:nvPr/>
        </p:nvSpPr>
        <p:spPr>
          <a:xfrm>
            <a:off x="7524750" y="4381500"/>
            <a:ext cx="3714750" cy="9525"/>
          </a:xfrm>
          <a:prstGeom prst="rect">
            <a:avLst/>
          </a:prstGeom>
          <a:solidFill>
            <a:srgbClr val="B8BCC4"/>
          </a:solidFill>
          <a:ln w="0">
            <a:solidFill>
              <a:srgbClr val="B8BCC4"/>
            </a:solidFill>
            <a:prstDash val="solid"/>
          </a:ln>
        </p:spPr>
        <p:txBody>
          <a:bodyPr/>
          <a:lstStyle/>
          <a:p>
            <a:endParaRPr lang="en-GB"/>
          </a:p>
        </p:txBody>
      </p:sp>
      <p:sp>
        <p:nvSpPr>
          <p:cNvPr id="10" name="text-790-500">
            <a:extLst>
              <a:ext uri="{FF2B5EF4-FFF2-40B4-BE49-F238E27FC236}">
                <a16:creationId xmlns:a16="http://schemas.microsoft.com/office/drawing/2014/main" id="{35733828-177B-4137-8263-B1005C78EB28}"/>
              </a:ext>
            </a:extLst>
          </p:cNvPr>
          <p:cNvSpPr>
            <a:spLocks noGrp="1"/>
          </p:cNvSpPr>
          <p:nvPr/>
        </p:nvSpPr>
        <p:spPr>
          <a:xfrm>
            <a:off x="7524750" y="4762500"/>
            <a:ext cx="3714750" cy="723900"/>
          </a:xfrm>
          <a:prstGeom prst="rect">
            <a:avLst/>
          </a:prstGeom>
          <a:noFill/>
          <a:ln w="0">
            <a:noFill/>
            <a:prstDash val="solid"/>
          </a:ln>
        </p:spPr>
        <p:txBody>
          <a:bodyPr anchor="t"/>
          <a:lstStyle/>
          <a:p>
            <a:pPr algn="l">
              <a:defRPr sz="2025" b="1">
                <a:solidFill>
                  <a:srgbClr val="3D8DFF"/>
                </a:solidFill>
                <a:latin typeface="Arial"/>
                <a:ea typeface="Arial"/>
                <a:cs typeface="Arial"/>
              </a:defRPr>
            </a:pPr>
            <a:r>
              <a:rPr sz="2025" b="1">
                <a:solidFill>
                  <a:srgbClr val="3D8DFF"/>
                </a:solidFill>
                <a:latin typeface="Arial"/>
                <a:ea typeface="Arial"/>
                <a:cs typeface="Arial"/>
              </a:rPr>
              <a:t>A warning is evidence—not a failed pipeline.</a:t>
            </a:r>
          </a:p>
        </p:txBody>
      </p:sp>
    </p:spTree>
    <p:extLst>
      <p:ext uri="{BB962C8B-B14F-4D97-AF65-F5344CB8AC3E}">
        <p14:creationId xmlns:p14="http://schemas.microsoft.com/office/powerpoint/2010/main" val="2004683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eyebrow">
            <a:extLst>
              <a:ext uri="{FF2B5EF4-FFF2-40B4-BE49-F238E27FC236}">
                <a16:creationId xmlns:a16="http://schemas.microsoft.com/office/drawing/2014/main" id="{EB2B65C5-2A5D-4A04-9619-3B031AC10B56}"/>
              </a:ext>
            </a:extLst>
          </p:cNvPr>
          <p:cNvSpPr>
            <a:spLocks noGrp="1"/>
          </p:cNvSpPr>
          <p:nvPr/>
        </p:nvSpPr>
        <p:spPr>
          <a:xfrm>
            <a:off x="533400" y="323850"/>
            <a:ext cx="4762500" cy="228600"/>
          </a:xfrm>
          <a:prstGeom prst="rect">
            <a:avLst/>
          </a:prstGeom>
          <a:noFill/>
          <a:ln w="0">
            <a:noFill/>
            <a:prstDash val="solid"/>
          </a:ln>
        </p:spPr>
        <p:txBody>
          <a:bodyPr anchor="t"/>
          <a:lstStyle/>
          <a:p>
            <a:pPr algn="l">
              <a:defRPr sz="1050" b="1">
                <a:solidFill>
                  <a:srgbClr val="3D8DFF"/>
                </a:solidFill>
                <a:latin typeface="Arial"/>
                <a:ea typeface="Arial"/>
                <a:cs typeface="Arial"/>
              </a:defRPr>
            </a:pPr>
            <a:r>
              <a:rPr sz="1050" b="1">
                <a:solidFill>
                  <a:srgbClr val="3D8DFF"/>
                </a:solidFill>
                <a:latin typeface="Arial"/>
                <a:ea typeface="Arial"/>
                <a:cs typeface="Arial"/>
              </a:rPr>
              <a:t>DATA ENGINEERING METRICS</a:t>
            </a:r>
          </a:p>
        </p:txBody>
      </p:sp>
      <p:sp>
        <p:nvSpPr>
          <p:cNvPr id="2" name="slide-title">
            <a:extLst>
              <a:ext uri="{FF2B5EF4-FFF2-40B4-BE49-F238E27FC236}">
                <a16:creationId xmlns:a16="http://schemas.microsoft.com/office/drawing/2014/main" id="{F8CD0053-BD10-43CE-9872-45646B1C730D}"/>
              </a:ext>
            </a:extLst>
          </p:cNvPr>
          <p:cNvSpPr>
            <a:spLocks noGrp="1"/>
          </p:cNvSpPr>
          <p:nvPr/>
        </p:nvSpPr>
        <p:spPr>
          <a:xfrm>
            <a:off x="533400" y="628650"/>
            <a:ext cx="11125200" cy="685800"/>
          </a:xfrm>
          <a:prstGeom prst="rect">
            <a:avLst/>
          </a:prstGeom>
          <a:noFill/>
          <a:ln w="0">
            <a:noFill/>
            <a:prstDash val="solid"/>
          </a:ln>
        </p:spPr>
        <p:txBody>
          <a:bodyPr anchor="t"/>
          <a:lstStyle/>
          <a:p>
            <a:pPr algn="l">
              <a:defRPr sz="2850" b="1">
                <a:solidFill>
                  <a:srgbClr val="111111"/>
                </a:solidFill>
                <a:latin typeface="Arial"/>
                <a:ea typeface="Arial"/>
                <a:cs typeface="Arial"/>
              </a:defRPr>
            </a:pPr>
            <a:r>
              <a:rPr sz="2850" b="1">
                <a:solidFill>
                  <a:srgbClr val="111111"/>
                </a:solidFill>
                <a:latin typeface="Arial"/>
                <a:ea typeface="Arial"/>
                <a:cs typeface="Arial"/>
              </a:rPr>
              <a:t>The 38 fields answer five practical questions about each run</a:t>
            </a:r>
          </a:p>
        </p:txBody>
      </p:sp>
      <p:sp>
        <p:nvSpPr>
          <p:cNvPr id="3" name="rule-143">
            <a:extLst>
              <a:ext uri="{FF2B5EF4-FFF2-40B4-BE49-F238E27FC236}">
                <a16:creationId xmlns:a16="http://schemas.microsoft.com/office/drawing/2014/main" id="{FFE06AD3-7983-4A34-909A-A4A7A0CE825D}"/>
              </a:ext>
            </a:extLst>
          </p:cNvPr>
          <p:cNvSpPr>
            <a:spLocks noGrp="1"/>
          </p:cNvSpPr>
          <p:nvPr/>
        </p:nvSpPr>
        <p:spPr>
          <a:xfrm>
            <a:off x="533400" y="1362075"/>
            <a:ext cx="11125200" cy="9525"/>
          </a:xfrm>
          <a:prstGeom prst="rect">
            <a:avLst/>
          </a:prstGeom>
          <a:solidFill>
            <a:srgbClr val="B8BCC4"/>
          </a:solidFill>
          <a:ln w="0">
            <a:solidFill>
              <a:srgbClr val="B8BCC4"/>
            </a:solidFill>
            <a:prstDash val="solid"/>
          </a:ln>
        </p:spPr>
        <p:txBody>
          <a:bodyPr/>
          <a:lstStyle/>
          <a:p>
            <a:endParaRPr lang="en-GB"/>
          </a:p>
        </p:txBody>
      </p:sp>
      <p:sp>
        <p:nvSpPr>
          <p:cNvPr id="4" name="slide-number">
            <a:extLst>
              <a:ext uri="{FF2B5EF4-FFF2-40B4-BE49-F238E27FC236}">
                <a16:creationId xmlns:a16="http://schemas.microsoft.com/office/drawing/2014/main" id="{F9D2D5AE-85D9-4E1F-82E6-0B9344CDEC7A}"/>
              </a:ext>
            </a:extLst>
          </p:cNvPr>
          <p:cNvSpPr>
            <a:spLocks noGrp="1"/>
          </p:cNvSpPr>
          <p:nvPr/>
        </p:nvSpPr>
        <p:spPr>
          <a:xfrm>
            <a:off x="11144250" y="6381750"/>
            <a:ext cx="514350" cy="209550"/>
          </a:xfrm>
          <a:prstGeom prst="rect">
            <a:avLst/>
          </a:prstGeom>
          <a:noFill/>
          <a:ln w="0">
            <a:noFill/>
            <a:prstDash val="solid"/>
          </a:ln>
        </p:spPr>
        <p:txBody>
          <a:bodyPr anchor="t"/>
          <a:lstStyle/>
          <a:p>
            <a:pPr algn="r">
              <a:defRPr sz="975" b="0">
                <a:solidFill>
                  <a:srgbClr val="5F6368"/>
                </a:solidFill>
                <a:latin typeface="Arial"/>
                <a:ea typeface="Arial"/>
                <a:cs typeface="Arial"/>
              </a:defRPr>
            </a:pPr>
            <a:r>
              <a:rPr sz="975" b="0">
                <a:solidFill>
                  <a:srgbClr val="5F6368"/>
                </a:solidFill>
                <a:latin typeface="Arial"/>
                <a:ea typeface="Arial"/>
                <a:cs typeface="Arial"/>
              </a:rPr>
              <a:t>09</a:t>
            </a:r>
          </a:p>
        </p:txBody>
      </p:sp>
      <p:graphicFrame>
        <p:nvGraphicFramePr>
          <p:cNvPr id="11" name="Table 10"/>
          <p:cNvGraphicFramePr/>
          <p:nvPr/>
        </p:nvGraphicFramePr>
        <p:xfrm>
          <a:off x="552450" y="1733550"/>
          <a:ext cx="11087100" cy="3905250"/>
        </p:xfrm>
        <a:graphic>
          <a:graphicData uri="http://schemas.openxmlformats.org/drawingml/2006/table">
            <a:tbl>
              <a:tblPr/>
              <a:tblGrid>
                <a:gridCol w="2190750">
                  <a:extLst>
                    <a:ext uri="{9D8B030D-6E8A-4147-A177-3AD203B41FA5}">
                      <a16:colId xmlns:a16="http://schemas.microsoft.com/office/drawing/2014/main" val="20000"/>
                    </a:ext>
                  </a:extLst>
                </a:gridCol>
                <a:gridCol w="3143250">
                  <a:extLst>
                    <a:ext uri="{9D8B030D-6E8A-4147-A177-3AD203B41FA5}">
                      <a16:colId xmlns:a16="http://schemas.microsoft.com/office/drawing/2014/main" val="20001"/>
                    </a:ext>
                  </a:extLst>
                </a:gridCol>
                <a:gridCol w="5753100">
                  <a:extLst>
                    <a:ext uri="{9D8B030D-6E8A-4147-A177-3AD203B41FA5}">
                      <a16:colId xmlns:a16="http://schemas.microsoft.com/office/drawing/2014/main" val="20002"/>
                    </a:ext>
                  </a:extLst>
                </a:gridCol>
              </a:tblGrid>
              <a:tr h="650875">
                <a:tc>
                  <a:txBody>
                    <a:bodyPr/>
                    <a:lstStyle/>
                    <a:p>
                      <a:r>
                        <a:rPr sz="1275" b="1">
                          <a:solidFill>
                            <a:srgbClr val="FFFFFF"/>
                          </a:solidFill>
                          <a:latin typeface="Arial"/>
                          <a:ea typeface="Arial"/>
                          <a:cs typeface="Arial"/>
                        </a:rPr>
                        <a:t>Metric family</a:t>
                      </a:r>
                    </a:p>
                  </a:txBody>
                  <a:tcPr marL="95250" marR="95250" marT="95250" marB="95250">
                    <a:solidFill>
                      <a:srgbClr val="111111"/>
                    </a:solidFill>
                  </a:tcPr>
                </a:tc>
                <a:tc>
                  <a:txBody>
                    <a:bodyPr/>
                    <a:lstStyle/>
                    <a:p>
                      <a:r>
                        <a:rPr sz="1275" b="1">
                          <a:solidFill>
                            <a:srgbClr val="FFFFFF"/>
                          </a:solidFill>
                          <a:latin typeface="Arial"/>
                          <a:ea typeface="Arial"/>
                          <a:cs typeface="Arial"/>
                        </a:rPr>
                        <a:t>Question answered</a:t>
                      </a:r>
                    </a:p>
                  </a:txBody>
                  <a:tcPr marL="95250" marR="95250" marT="95250" marB="95250">
                    <a:solidFill>
                      <a:srgbClr val="111111"/>
                    </a:solidFill>
                  </a:tcPr>
                </a:tc>
                <a:tc>
                  <a:txBody>
                    <a:bodyPr/>
                    <a:lstStyle/>
                    <a:p>
                      <a:r>
                        <a:rPr sz="1275" b="1">
                          <a:solidFill>
                            <a:srgbClr val="FFFFFF"/>
                          </a:solidFill>
                          <a:latin typeface="Arial"/>
                          <a:ea typeface="Arial"/>
                          <a:cs typeface="Arial"/>
                        </a:rPr>
                        <a:t>Example fields</a:t>
                      </a:r>
                    </a:p>
                  </a:txBody>
                  <a:tcPr marL="95250" marR="95250" marT="95250" marB="95250">
                    <a:solidFill>
                      <a:srgbClr val="111111"/>
                    </a:solidFill>
                  </a:tcPr>
                </a:tc>
                <a:extLst>
                  <a:ext uri="{0D108BD9-81ED-4DB2-BD59-A6C34878D82A}">
                    <a16:rowId xmlns:a16="http://schemas.microsoft.com/office/drawing/2014/main" val="10000"/>
                  </a:ext>
                </a:extLst>
              </a:tr>
              <a:tr h="650875">
                <a:tc>
                  <a:txBody>
                    <a:bodyPr/>
                    <a:lstStyle/>
                    <a:p>
                      <a:r>
                        <a:rPr sz="1200">
                          <a:solidFill>
                            <a:srgbClr val="111111"/>
                          </a:solidFill>
                          <a:latin typeface="Arial"/>
                          <a:ea typeface="Arial"/>
                          <a:cs typeface="Arial"/>
                        </a:rPr>
                        <a:t>Traceability</a:t>
                      </a:r>
                    </a:p>
                  </a:txBody>
                  <a:tcPr marL="95250" marR="95250" marT="95250" marB="95250">
                    <a:solidFill>
                      <a:srgbClr val="F7F8F9"/>
                    </a:solidFill>
                  </a:tcPr>
                </a:tc>
                <a:tc>
                  <a:txBody>
                    <a:bodyPr/>
                    <a:lstStyle/>
                    <a:p>
                      <a:r>
                        <a:rPr sz="1200">
                          <a:solidFill>
                            <a:srgbClr val="111111"/>
                          </a:solidFill>
                          <a:latin typeface="Arial"/>
                          <a:ea typeface="Arial"/>
                          <a:cs typeface="Arial"/>
                        </a:rPr>
                        <a:t>Which execution and step?</a:t>
                      </a:r>
                    </a:p>
                  </a:txBody>
                  <a:tcPr marL="95250" marR="95250" marT="95250" marB="95250">
                    <a:solidFill>
                      <a:srgbClr val="F7F8F9"/>
                    </a:solidFill>
                  </a:tcPr>
                </a:tc>
                <a:tc>
                  <a:txBody>
                    <a:bodyPr/>
                    <a:lstStyle/>
                    <a:p>
                      <a:r>
                        <a:rPr sz="1200">
                          <a:solidFill>
                            <a:srgbClr val="111111"/>
                          </a:solidFill>
                          <a:latin typeface="Arial"/>
                          <a:ea typeface="Arial"/>
                          <a:cs typeface="Arial"/>
                        </a:rPr>
                        <a:t>run_id, timestamp, dataset, step_number</a:t>
                      </a:r>
                    </a:p>
                  </a:txBody>
                  <a:tcPr marL="95250" marR="95250" marT="95250" marB="95250">
                    <a:solidFill>
                      <a:srgbClr val="F7F8F9"/>
                    </a:solidFill>
                  </a:tcPr>
                </a:tc>
                <a:extLst>
                  <a:ext uri="{0D108BD9-81ED-4DB2-BD59-A6C34878D82A}">
                    <a16:rowId xmlns:a16="http://schemas.microsoft.com/office/drawing/2014/main" val="10001"/>
                  </a:ext>
                </a:extLst>
              </a:tr>
              <a:tr h="650875">
                <a:tc>
                  <a:txBody>
                    <a:bodyPr/>
                    <a:lstStyle/>
                    <a:p>
                      <a:r>
                        <a:rPr sz="1200">
                          <a:solidFill>
                            <a:srgbClr val="111111"/>
                          </a:solidFill>
                          <a:latin typeface="Arial"/>
                          <a:ea typeface="Arial"/>
                          <a:cs typeface="Arial"/>
                        </a:rPr>
                        <a:t>Volume</a:t>
                      </a:r>
                    </a:p>
                  </a:txBody>
                  <a:tcPr marL="95250" marR="95250" marT="95250" marB="95250"/>
                </a:tc>
                <a:tc>
                  <a:txBody>
                    <a:bodyPr/>
                    <a:lstStyle/>
                    <a:p>
                      <a:r>
                        <a:rPr sz="1200">
                          <a:solidFill>
                            <a:srgbClr val="111111"/>
                          </a:solidFill>
                          <a:latin typeface="Arial"/>
                          <a:ea typeface="Arial"/>
                          <a:cs typeface="Arial"/>
                        </a:rPr>
                        <a:t>How did the row shape change?</a:t>
                      </a:r>
                    </a:p>
                  </a:txBody>
                  <a:tcPr marL="95250" marR="95250" marT="95250" marB="95250"/>
                </a:tc>
                <a:tc>
                  <a:txBody>
                    <a:bodyPr/>
                    <a:lstStyle/>
                    <a:p>
                      <a:r>
                        <a:rPr sz="1200">
                          <a:solidFill>
                            <a:srgbClr val="111111"/>
                          </a:solidFill>
                          <a:latin typeface="Arial"/>
                          <a:ea typeface="Arial"/>
                          <a:cs typeface="Arial"/>
                        </a:rPr>
                        <a:t>rows_before, rows_after, rows_removed</a:t>
                      </a:r>
                    </a:p>
                  </a:txBody>
                  <a:tcPr marL="95250" marR="95250" marT="95250" marB="95250"/>
                </a:tc>
                <a:extLst>
                  <a:ext uri="{0D108BD9-81ED-4DB2-BD59-A6C34878D82A}">
                    <a16:rowId xmlns:a16="http://schemas.microsoft.com/office/drawing/2014/main" val="10002"/>
                  </a:ext>
                </a:extLst>
              </a:tr>
              <a:tr h="650875">
                <a:tc>
                  <a:txBody>
                    <a:bodyPr/>
                    <a:lstStyle/>
                    <a:p>
                      <a:r>
                        <a:rPr sz="1200">
                          <a:solidFill>
                            <a:srgbClr val="111111"/>
                          </a:solidFill>
                          <a:latin typeface="Arial"/>
                          <a:ea typeface="Arial"/>
                          <a:cs typeface="Arial"/>
                        </a:rPr>
                        <a:t>Completeness</a:t>
                      </a:r>
                    </a:p>
                  </a:txBody>
                  <a:tcPr marL="95250" marR="95250" marT="95250" marB="95250">
                    <a:solidFill>
                      <a:srgbClr val="F7F8F9"/>
                    </a:solidFill>
                  </a:tcPr>
                </a:tc>
                <a:tc>
                  <a:txBody>
                    <a:bodyPr/>
                    <a:lstStyle/>
                    <a:p>
                      <a:r>
                        <a:rPr sz="1200">
                          <a:solidFill>
                            <a:srgbClr val="111111"/>
                          </a:solidFill>
                          <a:latin typeface="Arial"/>
                          <a:ea typeface="Arial"/>
                          <a:cs typeface="Arial"/>
                        </a:rPr>
                        <a:t>Did missing data improve?</a:t>
                      </a:r>
                    </a:p>
                  </a:txBody>
                  <a:tcPr marL="95250" marR="95250" marT="95250" marB="95250">
                    <a:solidFill>
                      <a:srgbClr val="F7F8F9"/>
                    </a:solidFill>
                  </a:tcPr>
                </a:tc>
                <a:tc>
                  <a:txBody>
                    <a:bodyPr/>
                    <a:lstStyle/>
                    <a:p>
                      <a:r>
                        <a:rPr sz="1200">
                          <a:solidFill>
                            <a:srgbClr val="111111"/>
                          </a:solidFill>
                          <a:latin typeface="Arial"/>
                          <a:ea typeface="Arial"/>
                          <a:cs typeface="Arial"/>
                        </a:rPr>
                        <a:t>missing_values, completeness_pct</a:t>
                      </a:r>
                    </a:p>
                  </a:txBody>
                  <a:tcPr marL="95250" marR="95250" marT="95250" marB="95250">
                    <a:solidFill>
                      <a:srgbClr val="F7F8F9"/>
                    </a:solidFill>
                  </a:tcPr>
                </a:tc>
                <a:extLst>
                  <a:ext uri="{0D108BD9-81ED-4DB2-BD59-A6C34878D82A}">
                    <a16:rowId xmlns:a16="http://schemas.microsoft.com/office/drawing/2014/main" val="10003"/>
                  </a:ext>
                </a:extLst>
              </a:tr>
              <a:tr h="650875">
                <a:tc>
                  <a:txBody>
                    <a:bodyPr/>
                    <a:lstStyle/>
                    <a:p>
                      <a:r>
                        <a:rPr sz="1200">
                          <a:solidFill>
                            <a:srgbClr val="111111"/>
                          </a:solidFill>
                          <a:latin typeface="Arial"/>
                          <a:ea typeface="Arial"/>
                          <a:cs typeface="Arial"/>
                        </a:rPr>
                        <a:t>Quality</a:t>
                      </a:r>
                    </a:p>
                  </a:txBody>
                  <a:tcPr marL="95250" marR="95250" marT="95250" marB="95250"/>
                </a:tc>
                <a:tc>
                  <a:txBody>
                    <a:bodyPr/>
                    <a:lstStyle/>
                    <a:p>
                      <a:r>
                        <a:rPr sz="1200">
                          <a:solidFill>
                            <a:srgbClr val="111111"/>
                          </a:solidFill>
                          <a:latin typeface="Arial"/>
                          <a:ea typeface="Arial"/>
                          <a:cs typeface="Arial"/>
                        </a:rPr>
                        <a:t>What needs investigation?</a:t>
                      </a:r>
                    </a:p>
                  </a:txBody>
                  <a:tcPr marL="95250" marR="95250" marT="95250" marB="95250"/>
                </a:tc>
                <a:tc>
                  <a:txBody>
                    <a:bodyPr/>
                    <a:lstStyle/>
                    <a:p>
                      <a:r>
                        <a:rPr sz="1200">
                          <a:solidFill>
                            <a:srgbClr val="111111"/>
                          </a:solidFill>
                          <a:latin typeface="Arial"/>
                          <a:ea typeface="Arial"/>
                          <a:cs typeface="Arial"/>
                        </a:rPr>
                        <a:t>status, quality_issue_count, invalid_date_rows</a:t>
                      </a:r>
                    </a:p>
                  </a:txBody>
                  <a:tcPr marL="95250" marR="95250" marT="95250" marB="95250"/>
                </a:tc>
                <a:extLst>
                  <a:ext uri="{0D108BD9-81ED-4DB2-BD59-A6C34878D82A}">
                    <a16:rowId xmlns:a16="http://schemas.microsoft.com/office/drawing/2014/main" val="10004"/>
                  </a:ext>
                </a:extLst>
              </a:tr>
              <a:tr h="650875">
                <a:tc>
                  <a:txBody>
                    <a:bodyPr/>
                    <a:lstStyle/>
                    <a:p>
                      <a:r>
                        <a:rPr sz="1200">
                          <a:solidFill>
                            <a:srgbClr val="111111"/>
                          </a:solidFill>
                          <a:latin typeface="Arial"/>
                          <a:ea typeface="Arial"/>
                          <a:cs typeface="Arial"/>
                        </a:rPr>
                        <a:t>Performance &amp; lineage</a:t>
                      </a:r>
                    </a:p>
                  </a:txBody>
                  <a:tcPr marL="95250" marR="95250" marT="95250" marB="95250">
                    <a:solidFill>
                      <a:srgbClr val="F7F8F9"/>
                    </a:solidFill>
                  </a:tcPr>
                </a:tc>
                <a:tc>
                  <a:txBody>
                    <a:bodyPr/>
                    <a:lstStyle/>
                    <a:p>
                      <a:r>
                        <a:rPr sz="1200">
                          <a:solidFill>
                            <a:srgbClr val="111111"/>
                          </a:solidFill>
                          <a:latin typeface="Arial"/>
                          <a:ea typeface="Arial"/>
                          <a:cs typeface="Arial"/>
                        </a:rPr>
                        <a:t>How long, and where did data move?</a:t>
                      </a:r>
                    </a:p>
                  </a:txBody>
                  <a:tcPr marL="95250" marR="95250" marT="95250" marB="95250">
                    <a:solidFill>
                      <a:srgbClr val="F7F8F9"/>
                    </a:solidFill>
                  </a:tcPr>
                </a:tc>
                <a:tc>
                  <a:txBody>
                    <a:bodyPr/>
                    <a:lstStyle/>
                    <a:p>
                      <a:r>
                        <a:rPr sz="1200">
                          <a:solidFill>
                            <a:srgbClr val="111111"/>
                          </a:solidFill>
                          <a:latin typeface="Arial"/>
                          <a:ea typeface="Arial"/>
                          <a:cs typeface="Arial"/>
                        </a:rPr>
                        <a:t>processing_time_ms, source_file, output_file</a:t>
                      </a:r>
                    </a:p>
                  </a:txBody>
                  <a:tcPr marL="95250" marR="95250" marT="95250" marB="95250">
                    <a:solidFill>
                      <a:srgbClr val="F7F8F9"/>
                    </a:solidFill>
                  </a:tcPr>
                </a:tc>
                <a:extLst>
                  <a:ext uri="{0D108BD9-81ED-4DB2-BD59-A6C34878D82A}">
                    <a16:rowId xmlns:a16="http://schemas.microsoft.com/office/drawing/2014/main" val="10005"/>
                  </a:ext>
                </a:extLst>
              </a:tr>
            </a:tbl>
          </a:graphicData>
        </a:graphic>
      </p:graphicFrame>
      <p:sp>
        <p:nvSpPr>
          <p:cNvPr id="6" name="text-58-620">
            <a:extLst>
              <a:ext uri="{FF2B5EF4-FFF2-40B4-BE49-F238E27FC236}">
                <a16:creationId xmlns:a16="http://schemas.microsoft.com/office/drawing/2014/main" id="{18498612-C660-4BE6-BA6C-5465DA97649E}"/>
              </a:ext>
            </a:extLst>
          </p:cNvPr>
          <p:cNvSpPr>
            <a:spLocks noGrp="1"/>
          </p:cNvSpPr>
          <p:nvPr/>
        </p:nvSpPr>
        <p:spPr>
          <a:xfrm>
            <a:off x="552450" y="5905500"/>
            <a:ext cx="11049000" cy="304800"/>
          </a:xfrm>
          <a:prstGeom prst="rect">
            <a:avLst/>
          </a:prstGeom>
          <a:noFill/>
          <a:ln w="0">
            <a:noFill/>
            <a:prstDash val="solid"/>
          </a:ln>
        </p:spPr>
        <p:txBody>
          <a:bodyPr anchor="t"/>
          <a:lstStyle/>
          <a:p>
            <a:pPr algn="l">
              <a:defRPr sz="1575" b="1">
                <a:solidFill>
                  <a:srgbClr val="3D8DFF"/>
                </a:solidFill>
                <a:latin typeface="Arial"/>
                <a:ea typeface="Arial"/>
                <a:cs typeface="Arial"/>
              </a:defRPr>
            </a:pPr>
            <a:r>
              <a:rPr sz="1575" b="1">
                <a:solidFill>
                  <a:srgbClr val="3D8DFF"/>
                </a:solidFill>
                <a:latin typeface="Arial"/>
                <a:ea typeface="Arial"/>
                <a:cs typeface="Arial"/>
              </a:rPr>
              <a:t>Power BI can filter these measures by run, dataset, step and status.</a:t>
            </a:r>
          </a:p>
        </p:txBody>
      </p:sp>
    </p:spTree>
    <p:extLst>
      <p:ext uri="{BB962C8B-B14F-4D97-AF65-F5344CB8AC3E}">
        <p14:creationId xmlns:p14="http://schemas.microsoft.com/office/powerpoint/2010/main" val="12366697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2" name="shape-0-0">
            <a:extLst>
              <a:ext uri="{FF2B5EF4-FFF2-40B4-BE49-F238E27FC236}">
                <a16:creationId xmlns:a16="http://schemas.microsoft.com/office/drawing/2014/main" id="{B3989536-573B-408F-8443-895C642A0DED}"/>
              </a:ext>
            </a:extLst>
          </p:cNvPr>
          <p:cNvSpPr>
            <a:spLocks noGrp="1"/>
          </p:cNvSpPr>
          <p:nvPr/>
        </p:nvSpPr>
        <p:spPr>
          <a:xfrm>
            <a:off x="0" y="0"/>
            <a:ext cx="12192000" cy="133350"/>
          </a:xfrm>
          <a:prstGeom prst="rect">
            <a:avLst/>
          </a:prstGeom>
          <a:solidFill>
            <a:srgbClr val="F2C811"/>
          </a:solidFill>
          <a:ln w="0">
            <a:solidFill>
              <a:srgbClr val="F2C811"/>
            </a:solidFill>
            <a:prstDash val="solid"/>
          </a:ln>
        </p:spPr>
        <p:txBody>
          <a:bodyPr/>
          <a:lstStyle/>
          <a:p>
            <a:endParaRPr lang="en-GB"/>
          </a:p>
        </p:txBody>
      </p:sp>
      <p:sp>
        <p:nvSpPr>
          <p:cNvPr id="2" name="text-36-35">
            <a:extLst>
              <a:ext uri="{FF2B5EF4-FFF2-40B4-BE49-F238E27FC236}">
                <a16:creationId xmlns:a16="http://schemas.microsoft.com/office/drawing/2014/main" id="{C7DB6654-C07C-4F76-B4C8-15E515F8721F}"/>
              </a:ext>
            </a:extLst>
          </p:cNvPr>
          <p:cNvSpPr>
            <a:spLocks noGrp="1"/>
          </p:cNvSpPr>
          <p:nvPr/>
        </p:nvSpPr>
        <p:spPr>
          <a:xfrm>
            <a:off x="342900" y="333375"/>
            <a:ext cx="6191250" cy="419100"/>
          </a:xfrm>
          <a:prstGeom prst="rect">
            <a:avLst/>
          </a:prstGeom>
          <a:noFill/>
          <a:ln w="0">
            <a:noFill/>
            <a:prstDash val="solid"/>
          </a:ln>
        </p:spPr>
        <p:txBody>
          <a:bodyPr anchor="t"/>
          <a:lstStyle/>
          <a:p>
            <a:pPr algn="l">
              <a:defRPr sz="2625" b="1">
                <a:solidFill>
                  <a:srgbClr val="111111"/>
                </a:solidFill>
                <a:latin typeface="Arial"/>
                <a:ea typeface="Arial"/>
                <a:cs typeface="Arial"/>
              </a:defRPr>
            </a:pPr>
            <a:r>
              <a:rPr sz="2625" b="1">
                <a:solidFill>
                  <a:srgbClr val="111111"/>
                </a:solidFill>
                <a:latin typeface="Arial"/>
                <a:ea typeface="Arial"/>
                <a:cs typeface="Arial"/>
              </a:rPr>
              <a:t>Library Data Engineering Metrics</a:t>
            </a:r>
          </a:p>
        </p:txBody>
      </p:sp>
      <p:sp>
        <p:nvSpPr>
          <p:cNvPr id="3" name="text-820-47">
            <a:extLst>
              <a:ext uri="{FF2B5EF4-FFF2-40B4-BE49-F238E27FC236}">
                <a16:creationId xmlns:a16="http://schemas.microsoft.com/office/drawing/2014/main" id="{55EE9B42-DF0B-4B07-AA0C-263F43A6B31E}"/>
              </a:ext>
            </a:extLst>
          </p:cNvPr>
          <p:cNvSpPr>
            <a:spLocks noGrp="1"/>
          </p:cNvSpPr>
          <p:nvPr/>
        </p:nvSpPr>
        <p:spPr>
          <a:xfrm>
            <a:off x="7810500" y="447675"/>
            <a:ext cx="4000500" cy="228600"/>
          </a:xfrm>
          <a:prstGeom prst="rect">
            <a:avLst/>
          </a:prstGeom>
          <a:noFill/>
          <a:ln w="0">
            <a:noFill/>
            <a:prstDash val="solid"/>
          </a:ln>
        </p:spPr>
        <p:txBody>
          <a:bodyPr anchor="t"/>
          <a:lstStyle/>
          <a:p>
            <a:pPr algn="r">
              <a:defRPr sz="1125" b="0">
                <a:solidFill>
                  <a:srgbClr val="5F6368"/>
                </a:solidFill>
                <a:latin typeface="Arial"/>
                <a:ea typeface="Arial"/>
                <a:cs typeface="Arial"/>
              </a:defRPr>
            </a:pPr>
            <a:r>
              <a:rPr sz="1125" b="0">
                <a:solidFill>
                  <a:srgbClr val="5F6368"/>
                </a:solidFill>
                <a:latin typeface="Arial"/>
                <a:ea typeface="Arial"/>
                <a:cs typeface="Arial"/>
              </a:rPr>
              <a:t>Run: latest  |  Dataset: all  |  Status: all</a:t>
            </a:r>
          </a:p>
        </p:txBody>
      </p:sp>
      <p:sp>
        <p:nvSpPr>
          <p:cNvPr id="4" name="shape-36-104">
            <a:extLst>
              <a:ext uri="{FF2B5EF4-FFF2-40B4-BE49-F238E27FC236}">
                <a16:creationId xmlns:a16="http://schemas.microsoft.com/office/drawing/2014/main" id="{FD5458B9-3A43-4B9F-89C0-8B3494385C4F}"/>
              </a:ext>
            </a:extLst>
          </p:cNvPr>
          <p:cNvSpPr>
            <a:spLocks noGrp="1"/>
          </p:cNvSpPr>
          <p:nvPr/>
        </p:nvSpPr>
        <p:spPr>
          <a:xfrm>
            <a:off x="342900" y="990600"/>
            <a:ext cx="2686050" cy="876300"/>
          </a:xfrm>
          <a:prstGeom prst="rect">
            <a:avLst/>
          </a:prstGeom>
          <a:solidFill>
            <a:srgbClr val="FFFFFF"/>
          </a:solidFill>
          <a:ln w="9525">
            <a:solidFill>
              <a:srgbClr val="E0E0E0"/>
            </a:solidFill>
            <a:prstDash val="solid"/>
          </a:ln>
        </p:spPr>
        <p:txBody>
          <a:bodyPr/>
          <a:lstStyle/>
          <a:p>
            <a:endParaRPr lang="en-GB"/>
          </a:p>
        </p:txBody>
      </p:sp>
      <p:sp>
        <p:nvSpPr>
          <p:cNvPr id="5" name="text-54-118">
            <a:extLst>
              <a:ext uri="{FF2B5EF4-FFF2-40B4-BE49-F238E27FC236}">
                <a16:creationId xmlns:a16="http://schemas.microsoft.com/office/drawing/2014/main" id="{A26E6A4B-8187-4550-AC7B-7279711FBE34}"/>
              </a:ext>
            </a:extLst>
          </p:cNvPr>
          <p:cNvSpPr>
            <a:spLocks noGrp="1"/>
          </p:cNvSpPr>
          <p:nvPr/>
        </p:nvSpPr>
        <p:spPr>
          <a:xfrm>
            <a:off x="514350" y="1123950"/>
            <a:ext cx="1809750" cy="400050"/>
          </a:xfrm>
          <a:prstGeom prst="rect">
            <a:avLst/>
          </a:prstGeom>
          <a:noFill/>
          <a:ln w="0">
            <a:noFill/>
            <a:prstDash val="solid"/>
          </a:ln>
        </p:spPr>
        <p:txBody>
          <a:bodyPr anchor="t"/>
          <a:lstStyle/>
          <a:p>
            <a:pPr algn="l">
              <a:defRPr sz="2400" b="1">
                <a:solidFill>
                  <a:srgbClr val="111111"/>
                </a:solidFill>
                <a:latin typeface="Arial"/>
                <a:ea typeface="Arial"/>
                <a:cs typeface="Arial"/>
              </a:defRPr>
            </a:pPr>
            <a:r>
              <a:rPr sz="2400" b="1">
                <a:solidFill>
                  <a:srgbClr val="111111"/>
                </a:solidFill>
                <a:latin typeface="Arial"/>
                <a:ea typeface="Arial"/>
                <a:cs typeface="Arial"/>
              </a:rPr>
              <a:t>29</a:t>
            </a:r>
          </a:p>
        </p:txBody>
      </p:sp>
      <p:sp>
        <p:nvSpPr>
          <p:cNvPr id="6" name="text-54-162">
            <a:extLst>
              <a:ext uri="{FF2B5EF4-FFF2-40B4-BE49-F238E27FC236}">
                <a16:creationId xmlns:a16="http://schemas.microsoft.com/office/drawing/2014/main" id="{768FDD68-489E-4900-9205-12920FFDCBD1}"/>
              </a:ext>
            </a:extLst>
          </p:cNvPr>
          <p:cNvSpPr>
            <a:spLocks noGrp="1"/>
          </p:cNvSpPr>
          <p:nvPr/>
        </p:nvSpPr>
        <p:spPr>
          <a:xfrm>
            <a:off x="514350" y="1543050"/>
            <a:ext cx="2343150" cy="228600"/>
          </a:xfrm>
          <a:prstGeom prst="rect">
            <a:avLst/>
          </a:prstGeom>
          <a:noFill/>
          <a:ln w="0">
            <a:noFill/>
            <a:prstDash val="solid"/>
          </a:ln>
        </p:spPr>
        <p:txBody>
          <a:bodyPr anchor="t"/>
          <a:lstStyle/>
          <a:p>
            <a:pPr algn="l">
              <a:defRPr sz="1125" b="0">
                <a:solidFill>
                  <a:srgbClr val="5F6368"/>
                </a:solidFill>
                <a:latin typeface="Arial"/>
                <a:ea typeface="Arial"/>
                <a:cs typeface="Arial"/>
              </a:defRPr>
            </a:pPr>
            <a:r>
              <a:rPr sz="1125" b="0">
                <a:solidFill>
                  <a:srgbClr val="5F6368"/>
                </a:solidFill>
                <a:latin typeface="Arial"/>
                <a:ea typeface="Arial"/>
                <a:cs typeface="Arial"/>
              </a:rPr>
              <a:t>final clean rows</a:t>
            </a:r>
          </a:p>
        </p:txBody>
      </p:sp>
      <p:sp>
        <p:nvSpPr>
          <p:cNvPr id="7" name="shape-342-104">
            <a:extLst>
              <a:ext uri="{FF2B5EF4-FFF2-40B4-BE49-F238E27FC236}">
                <a16:creationId xmlns:a16="http://schemas.microsoft.com/office/drawing/2014/main" id="{4EEB1730-B0E5-40D9-A7FA-AA7369B8B63E}"/>
              </a:ext>
            </a:extLst>
          </p:cNvPr>
          <p:cNvSpPr>
            <a:spLocks noGrp="1"/>
          </p:cNvSpPr>
          <p:nvPr/>
        </p:nvSpPr>
        <p:spPr>
          <a:xfrm>
            <a:off x="3257550" y="990600"/>
            <a:ext cx="2686050" cy="876300"/>
          </a:xfrm>
          <a:prstGeom prst="rect">
            <a:avLst/>
          </a:prstGeom>
          <a:solidFill>
            <a:srgbClr val="FFFFFF"/>
          </a:solidFill>
          <a:ln w="9525">
            <a:solidFill>
              <a:srgbClr val="E0E0E0"/>
            </a:solidFill>
            <a:prstDash val="solid"/>
          </a:ln>
        </p:spPr>
        <p:txBody>
          <a:bodyPr/>
          <a:lstStyle/>
          <a:p>
            <a:endParaRPr lang="en-GB"/>
          </a:p>
        </p:txBody>
      </p:sp>
      <p:sp>
        <p:nvSpPr>
          <p:cNvPr id="8" name="text-360-118">
            <a:extLst>
              <a:ext uri="{FF2B5EF4-FFF2-40B4-BE49-F238E27FC236}">
                <a16:creationId xmlns:a16="http://schemas.microsoft.com/office/drawing/2014/main" id="{D33C3086-CE41-4965-AB34-FDC9D03E2F8E}"/>
              </a:ext>
            </a:extLst>
          </p:cNvPr>
          <p:cNvSpPr>
            <a:spLocks noGrp="1"/>
          </p:cNvSpPr>
          <p:nvPr/>
        </p:nvSpPr>
        <p:spPr>
          <a:xfrm>
            <a:off x="3429000" y="1123950"/>
            <a:ext cx="1809750" cy="400050"/>
          </a:xfrm>
          <a:prstGeom prst="rect">
            <a:avLst/>
          </a:prstGeom>
          <a:noFill/>
          <a:ln w="0">
            <a:noFill/>
            <a:prstDash val="solid"/>
          </a:ln>
        </p:spPr>
        <p:txBody>
          <a:bodyPr anchor="t"/>
          <a:lstStyle/>
          <a:p>
            <a:pPr algn="l">
              <a:defRPr sz="2400" b="1">
                <a:solidFill>
                  <a:srgbClr val="111111"/>
                </a:solidFill>
                <a:latin typeface="Arial"/>
                <a:ea typeface="Arial"/>
                <a:cs typeface="Arial"/>
              </a:defRPr>
            </a:pPr>
            <a:r>
              <a:rPr sz="2400" b="1">
                <a:solidFill>
                  <a:srgbClr val="111111"/>
                </a:solidFill>
                <a:latin typeface="Arial"/>
                <a:ea typeface="Arial"/>
                <a:cs typeface="Arial"/>
              </a:rPr>
              <a:t>94</a:t>
            </a:r>
          </a:p>
        </p:txBody>
      </p:sp>
      <p:sp>
        <p:nvSpPr>
          <p:cNvPr id="9" name="text-360-162">
            <a:extLst>
              <a:ext uri="{FF2B5EF4-FFF2-40B4-BE49-F238E27FC236}">
                <a16:creationId xmlns:a16="http://schemas.microsoft.com/office/drawing/2014/main" id="{CC3E940A-3A66-434F-A718-BC9D2B3599DA}"/>
              </a:ext>
            </a:extLst>
          </p:cNvPr>
          <p:cNvSpPr>
            <a:spLocks noGrp="1"/>
          </p:cNvSpPr>
          <p:nvPr/>
        </p:nvSpPr>
        <p:spPr>
          <a:xfrm>
            <a:off x="3429000" y="1543050"/>
            <a:ext cx="2343150" cy="228600"/>
          </a:xfrm>
          <a:prstGeom prst="rect">
            <a:avLst/>
          </a:prstGeom>
          <a:noFill/>
          <a:ln w="0">
            <a:noFill/>
            <a:prstDash val="solid"/>
          </a:ln>
        </p:spPr>
        <p:txBody>
          <a:bodyPr anchor="t"/>
          <a:lstStyle/>
          <a:p>
            <a:pPr algn="l">
              <a:defRPr sz="1125" b="0">
                <a:solidFill>
                  <a:srgbClr val="5F6368"/>
                </a:solidFill>
                <a:latin typeface="Arial"/>
                <a:ea typeface="Arial"/>
                <a:cs typeface="Arial"/>
              </a:defRPr>
            </a:pPr>
            <a:r>
              <a:rPr sz="1125" b="0">
                <a:solidFill>
                  <a:srgbClr val="5F6368"/>
                </a:solidFill>
                <a:latin typeface="Arial"/>
                <a:ea typeface="Arial"/>
                <a:cs typeface="Arial"/>
              </a:rPr>
              <a:t>empty rows removed</a:t>
            </a:r>
          </a:p>
        </p:txBody>
      </p:sp>
      <p:sp>
        <p:nvSpPr>
          <p:cNvPr id="10" name="shape-648-104">
            <a:extLst>
              <a:ext uri="{FF2B5EF4-FFF2-40B4-BE49-F238E27FC236}">
                <a16:creationId xmlns:a16="http://schemas.microsoft.com/office/drawing/2014/main" id="{FFAD34EA-1048-4316-82B8-35911043E1D9}"/>
              </a:ext>
            </a:extLst>
          </p:cNvPr>
          <p:cNvSpPr>
            <a:spLocks noGrp="1"/>
          </p:cNvSpPr>
          <p:nvPr/>
        </p:nvSpPr>
        <p:spPr>
          <a:xfrm>
            <a:off x="6172200" y="990600"/>
            <a:ext cx="2686050" cy="876300"/>
          </a:xfrm>
          <a:prstGeom prst="rect">
            <a:avLst/>
          </a:prstGeom>
          <a:solidFill>
            <a:srgbClr val="FFFFFF"/>
          </a:solidFill>
          <a:ln w="9525">
            <a:solidFill>
              <a:srgbClr val="E0E0E0"/>
            </a:solidFill>
            <a:prstDash val="solid"/>
          </a:ln>
        </p:spPr>
        <p:txBody>
          <a:bodyPr/>
          <a:lstStyle/>
          <a:p>
            <a:endParaRPr lang="en-GB"/>
          </a:p>
        </p:txBody>
      </p:sp>
      <p:sp>
        <p:nvSpPr>
          <p:cNvPr id="11" name="text-666-118">
            <a:extLst>
              <a:ext uri="{FF2B5EF4-FFF2-40B4-BE49-F238E27FC236}">
                <a16:creationId xmlns:a16="http://schemas.microsoft.com/office/drawing/2014/main" id="{294ABB84-9EAB-4EEF-83B7-81B901D1771E}"/>
              </a:ext>
            </a:extLst>
          </p:cNvPr>
          <p:cNvSpPr>
            <a:spLocks noGrp="1"/>
          </p:cNvSpPr>
          <p:nvPr/>
        </p:nvSpPr>
        <p:spPr>
          <a:xfrm>
            <a:off x="6343650" y="1123950"/>
            <a:ext cx="1809750" cy="400050"/>
          </a:xfrm>
          <a:prstGeom prst="rect">
            <a:avLst/>
          </a:prstGeom>
          <a:noFill/>
          <a:ln w="0">
            <a:noFill/>
            <a:prstDash val="solid"/>
          </a:ln>
        </p:spPr>
        <p:txBody>
          <a:bodyPr anchor="t"/>
          <a:lstStyle/>
          <a:p>
            <a:pPr algn="l">
              <a:defRPr sz="2400" b="1">
                <a:solidFill>
                  <a:srgbClr val="111111"/>
                </a:solidFill>
                <a:latin typeface="Arial"/>
                <a:ea typeface="Arial"/>
                <a:cs typeface="Arial"/>
              </a:defRPr>
            </a:pPr>
            <a:r>
              <a:rPr sz="2400" b="1">
                <a:solidFill>
                  <a:srgbClr val="111111"/>
                </a:solidFill>
                <a:latin typeface="Arial"/>
                <a:ea typeface="Arial"/>
                <a:cs typeface="Arial"/>
              </a:rPr>
              <a:t>9</a:t>
            </a:r>
          </a:p>
        </p:txBody>
      </p:sp>
      <p:sp>
        <p:nvSpPr>
          <p:cNvPr id="12" name="text-666-162">
            <a:extLst>
              <a:ext uri="{FF2B5EF4-FFF2-40B4-BE49-F238E27FC236}">
                <a16:creationId xmlns:a16="http://schemas.microsoft.com/office/drawing/2014/main" id="{9E0D9D9C-5F8A-4701-A2CB-CE01D5486B28}"/>
              </a:ext>
            </a:extLst>
          </p:cNvPr>
          <p:cNvSpPr>
            <a:spLocks noGrp="1"/>
          </p:cNvSpPr>
          <p:nvPr/>
        </p:nvSpPr>
        <p:spPr>
          <a:xfrm>
            <a:off x="6343650" y="1543050"/>
            <a:ext cx="2343150" cy="228600"/>
          </a:xfrm>
          <a:prstGeom prst="rect">
            <a:avLst/>
          </a:prstGeom>
          <a:noFill/>
          <a:ln w="0">
            <a:noFill/>
            <a:prstDash val="solid"/>
          </a:ln>
        </p:spPr>
        <p:txBody>
          <a:bodyPr anchor="t"/>
          <a:lstStyle/>
          <a:p>
            <a:pPr algn="l">
              <a:defRPr sz="1125" b="0">
                <a:solidFill>
                  <a:srgbClr val="5F6368"/>
                </a:solidFill>
                <a:latin typeface="Arial"/>
                <a:ea typeface="Arial"/>
                <a:cs typeface="Arial"/>
              </a:defRPr>
            </a:pPr>
            <a:r>
              <a:rPr sz="1125" b="0">
                <a:solidFill>
                  <a:srgbClr val="5F6368"/>
                </a:solidFill>
                <a:latin typeface="Arial"/>
                <a:ea typeface="Arial"/>
                <a:cs typeface="Arial"/>
              </a:rPr>
              <a:t>quality-rule hits</a:t>
            </a:r>
          </a:p>
        </p:txBody>
      </p:sp>
      <p:sp>
        <p:nvSpPr>
          <p:cNvPr id="13" name="shape-954-104">
            <a:extLst>
              <a:ext uri="{FF2B5EF4-FFF2-40B4-BE49-F238E27FC236}">
                <a16:creationId xmlns:a16="http://schemas.microsoft.com/office/drawing/2014/main" id="{EB90E4C5-0227-4BA1-829B-F7EAD903AF1D}"/>
              </a:ext>
            </a:extLst>
          </p:cNvPr>
          <p:cNvSpPr>
            <a:spLocks noGrp="1"/>
          </p:cNvSpPr>
          <p:nvPr/>
        </p:nvSpPr>
        <p:spPr>
          <a:xfrm>
            <a:off x="9086850" y="990600"/>
            <a:ext cx="2686050" cy="876300"/>
          </a:xfrm>
          <a:prstGeom prst="rect">
            <a:avLst/>
          </a:prstGeom>
          <a:solidFill>
            <a:srgbClr val="FFFFFF"/>
          </a:solidFill>
          <a:ln w="9525">
            <a:solidFill>
              <a:srgbClr val="E0E0E0"/>
            </a:solidFill>
            <a:prstDash val="solid"/>
          </a:ln>
        </p:spPr>
        <p:txBody>
          <a:bodyPr/>
          <a:lstStyle/>
          <a:p>
            <a:endParaRPr lang="en-GB"/>
          </a:p>
        </p:txBody>
      </p:sp>
      <p:sp>
        <p:nvSpPr>
          <p:cNvPr id="14" name="text-972-118">
            <a:extLst>
              <a:ext uri="{FF2B5EF4-FFF2-40B4-BE49-F238E27FC236}">
                <a16:creationId xmlns:a16="http://schemas.microsoft.com/office/drawing/2014/main" id="{D1DBC0A9-80A3-40F9-97E0-A88548BE738A}"/>
              </a:ext>
            </a:extLst>
          </p:cNvPr>
          <p:cNvSpPr>
            <a:spLocks noGrp="1"/>
          </p:cNvSpPr>
          <p:nvPr/>
        </p:nvSpPr>
        <p:spPr>
          <a:xfrm>
            <a:off x="9258300" y="1123950"/>
            <a:ext cx="1809750" cy="400050"/>
          </a:xfrm>
          <a:prstGeom prst="rect">
            <a:avLst/>
          </a:prstGeom>
          <a:noFill/>
          <a:ln w="0">
            <a:noFill/>
            <a:prstDash val="solid"/>
          </a:ln>
        </p:spPr>
        <p:txBody>
          <a:bodyPr anchor="t"/>
          <a:lstStyle/>
          <a:p>
            <a:pPr algn="l">
              <a:defRPr sz="2400" b="1">
                <a:solidFill>
                  <a:srgbClr val="111111"/>
                </a:solidFill>
                <a:latin typeface="Arial"/>
                <a:ea typeface="Arial"/>
                <a:cs typeface="Arial"/>
              </a:defRPr>
            </a:pPr>
            <a:r>
              <a:rPr sz="2400" b="1">
                <a:solidFill>
                  <a:srgbClr val="111111"/>
                </a:solidFill>
                <a:latin typeface="Arial"/>
                <a:ea typeface="Arial"/>
                <a:cs typeface="Arial"/>
              </a:rPr>
              <a:t>22.5 ms</a:t>
            </a:r>
          </a:p>
        </p:txBody>
      </p:sp>
      <p:sp>
        <p:nvSpPr>
          <p:cNvPr id="15" name="text-972-162">
            <a:extLst>
              <a:ext uri="{FF2B5EF4-FFF2-40B4-BE49-F238E27FC236}">
                <a16:creationId xmlns:a16="http://schemas.microsoft.com/office/drawing/2014/main" id="{8E67AAD5-611D-4848-B896-71021284B9F4}"/>
              </a:ext>
            </a:extLst>
          </p:cNvPr>
          <p:cNvSpPr>
            <a:spLocks noGrp="1"/>
          </p:cNvSpPr>
          <p:nvPr/>
        </p:nvSpPr>
        <p:spPr>
          <a:xfrm>
            <a:off x="9258300" y="1543050"/>
            <a:ext cx="2343150" cy="228600"/>
          </a:xfrm>
          <a:prstGeom prst="rect">
            <a:avLst/>
          </a:prstGeom>
          <a:noFill/>
          <a:ln w="0">
            <a:noFill/>
            <a:prstDash val="solid"/>
          </a:ln>
        </p:spPr>
        <p:txBody>
          <a:bodyPr anchor="t"/>
          <a:lstStyle/>
          <a:p>
            <a:pPr algn="l">
              <a:defRPr sz="1125" b="0">
                <a:solidFill>
                  <a:srgbClr val="5F6368"/>
                </a:solidFill>
                <a:latin typeface="Arial"/>
                <a:ea typeface="Arial"/>
                <a:cs typeface="Arial"/>
              </a:defRPr>
            </a:pPr>
            <a:r>
              <a:rPr sz="1125" b="0">
                <a:solidFill>
                  <a:srgbClr val="5F6368"/>
                </a:solidFill>
                <a:latin typeface="Arial"/>
                <a:ea typeface="Arial"/>
                <a:cs typeface="Arial"/>
              </a:rPr>
              <a:t>tracked processing</a:t>
            </a:r>
          </a:p>
        </p:txBody>
      </p:sp>
      <p:sp>
        <p:nvSpPr>
          <p:cNvPr id="16" name="shape-36-220">
            <a:extLst>
              <a:ext uri="{FF2B5EF4-FFF2-40B4-BE49-F238E27FC236}">
                <a16:creationId xmlns:a16="http://schemas.microsoft.com/office/drawing/2014/main" id="{6274FE6E-17C2-44C5-AA49-70E4B017DF3D}"/>
              </a:ext>
            </a:extLst>
          </p:cNvPr>
          <p:cNvSpPr>
            <a:spLocks noGrp="1"/>
          </p:cNvSpPr>
          <p:nvPr/>
        </p:nvSpPr>
        <p:spPr>
          <a:xfrm>
            <a:off x="342900" y="2095500"/>
            <a:ext cx="5619750" cy="4286250"/>
          </a:xfrm>
          <a:prstGeom prst="rect">
            <a:avLst/>
          </a:prstGeom>
          <a:solidFill>
            <a:srgbClr val="FFFFFF"/>
          </a:solidFill>
          <a:ln w="9525">
            <a:solidFill>
              <a:srgbClr val="E0E0E0"/>
            </a:solidFill>
            <a:prstDash val="solid"/>
          </a:ln>
        </p:spPr>
        <p:txBody>
          <a:bodyPr/>
          <a:lstStyle/>
          <a:p>
            <a:endParaRPr lang="en-GB"/>
          </a:p>
        </p:txBody>
      </p:sp>
      <p:sp>
        <p:nvSpPr>
          <p:cNvPr id="17" name="text-56-238">
            <a:extLst>
              <a:ext uri="{FF2B5EF4-FFF2-40B4-BE49-F238E27FC236}">
                <a16:creationId xmlns:a16="http://schemas.microsoft.com/office/drawing/2014/main" id="{512217B1-5444-4261-8490-51943279E2EE}"/>
              </a:ext>
            </a:extLst>
          </p:cNvPr>
          <p:cNvSpPr>
            <a:spLocks noGrp="1"/>
          </p:cNvSpPr>
          <p:nvPr/>
        </p:nvSpPr>
        <p:spPr>
          <a:xfrm>
            <a:off x="533400" y="2266950"/>
            <a:ext cx="3333750" cy="304800"/>
          </a:xfrm>
          <a:prstGeom prst="rect">
            <a:avLst/>
          </a:prstGeom>
          <a:noFill/>
          <a:ln w="0">
            <a:noFill/>
            <a:prstDash val="solid"/>
          </a:ln>
        </p:spPr>
        <p:txBody>
          <a:bodyPr anchor="t"/>
          <a:lstStyle/>
          <a:p>
            <a:pPr algn="l">
              <a:defRPr sz="1500" b="1">
                <a:solidFill>
                  <a:srgbClr val="111111"/>
                </a:solidFill>
                <a:latin typeface="Arial"/>
                <a:ea typeface="Arial"/>
                <a:cs typeface="Arial"/>
              </a:defRPr>
            </a:pPr>
            <a:r>
              <a:rPr sz="1500" b="1">
                <a:solidFill>
                  <a:srgbClr val="111111"/>
                </a:solidFill>
                <a:latin typeface="Arial"/>
                <a:ea typeface="Arial"/>
                <a:cs typeface="Arial"/>
              </a:rPr>
              <a:t>Raw and clean row counts</a:t>
            </a:r>
          </a:p>
        </p:txBody>
      </p:sp>
      <p:graphicFrame>
        <p:nvGraphicFramePr>
          <p:cNvPr id="39" name="Chart"/>
          <p:cNvGraphicFramePr/>
          <p:nvPr/>
        </p:nvGraphicFramePr>
        <p:xfrm>
          <a:off x="552450" y="2686050"/>
          <a:ext cx="5143500" cy="3238500"/>
        </p:xfrm>
        <a:graphic>
          <a:graphicData uri="http://schemas.openxmlformats.org/drawingml/2006/chart">
            <c:chart xmlns:c="http://schemas.openxmlformats.org/drawingml/2006/chart" xmlns:r="http://schemas.openxmlformats.org/officeDocument/2006/relationships" r:id="rId3"/>
          </a:graphicData>
        </a:graphic>
      </p:graphicFrame>
      <p:sp>
        <p:nvSpPr>
          <p:cNvPr id="19" name="shape-650-220">
            <a:extLst>
              <a:ext uri="{FF2B5EF4-FFF2-40B4-BE49-F238E27FC236}">
                <a16:creationId xmlns:a16="http://schemas.microsoft.com/office/drawing/2014/main" id="{13E91C9E-B317-4D34-9B3A-C731E570C7E3}"/>
              </a:ext>
            </a:extLst>
          </p:cNvPr>
          <p:cNvSpPr>
            <a:spLocks noGrp="1"/>
          </p:cNvSpPr>
          <p:nvPr/>
        </p:nvSpPr>
        <p:spPr>
          <a:xfrm>
            <a:off x="6191250" y="2095500"/>
            <a:ext cx="5657850" cy="4286250"/>
          </a:xfrm>
          <a:prstGeom prst="rect">
            <a:avLst/>
          </a:prstGeom>
          <a:solidFill>
            <a:srgbClr val="FFFFFF"/>
          </a:solidFill>
          <a:ln w="9525">
            <a:solidFill>
              <a:srgbClr val="E0E0E0"/>
            </a:solidFill>
            <a:prstDash val="solid"/>
          </a:ln>
        </p:spPr>
        <p:txBody>
          <a:bodyPr/>
          <a:lstStyle/>
          <a:p>
            <a:endParaRPr lang="en-GB"/>
          </a:p>
        </p:txBody>
      </p:sp>
      <p:sp>
        <p:nvSpPr>
          <p:cNvPr id="20" name="text-670-238">
            <a:extLst>
              <a:ext uri="{FF2B5EF4-FFF2-40B4-BE49-F238E27FC236}">
                <a16:creationId xmlns:a16="http://schemas.microsoft.com/office/drawing/2014/main" id="{D2313654-5B8B-4CE8-BFB8-99D7C39ADF9F}"/>
              </a:ext>
            </a:extLst>
          </p:cNvPr>
          <p:cNvSpPr>
            <a:spLocks noGrp="1"/>
          </p:cNvSpPr>
          <p:nvPr/>
        </p:nvSpPr>
        <p:spPr>
          <a:xfrm>
            <a:off x="6381750" y="2266950"/>
            <a:ext cx="4095750" cy="304800"/>
          </a:xfrm>
          <a:prstGeom prst="rect">
            <a:avLst/>
          </a:prstGeom>
          <a:noFill/>
          <a:ln w="0">
            <a:noFill/>
            <a:prstDash val="solid"/>
          </a:ln>
        </p:spPr>
        <p:txBody>
          <a:bodyPr anchor="t"/>
          <a:lstStyle/>
          <a:p>
            <a:pPr algn="l">
              <a:defRPr sz="1500" b="1">
                <a:solidFill>
                  <a:srgbClr val="111111"/>
                </a:solidFill>
                <a:latin typeface="Arial"/>
                <a:ea typeface="Arial"/>
                <a:cs typeface="Arial"/>
              </a:defRPr>
            </a:pPr>
            <a:r>
              <a:rPr sz="1500" b="1">
                <a:solidFill>
                  <a:srgbClr val="111111"/>
                </a:solidFill>
                <a:latin typeface="Arial"/>
                <a:ea typeface="Arial"/>
                <a:cs typeface="Arial"/>
              </a:rPr>
              <a:t>Exceptions and operational findings</a:t>
            </a:r>
          </a:p>
        </p:txBody>
      </p:sp>
      <p:graphicFrame>
        <p:nvGraphicFramePr>
          <p:cNvPr id="42" name="Chart"/>
          <p:cNvGraphicFramePr/>
          <p:nvPr/>
        </p:nvGraphicFramePr>
        <p:xfrm>
          <a:off x="6429375" y="2686050"/>
          <a:ext cx="5095875" cy="32385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8383641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eyebrow">
            <a:extLst>
              <a:ext uri="{FF2B5EF4-FFF2-40B4-BE49-F238E27FC236}">
                <a16:creationId xmlns:a16="http://schemas.microsoft.com/office/drawing/2014/main" id="{B77028BC-17D8-426A-9C90-96B8DA2CFE02}"/>
              </a:ext>
            </a:extLst>
          </p:cNvPr>
          <p:cNvSpPr>
            <a:spLocks noGrp="1"/>
          </p:cNvSpPr>
          <p:nvPr/>
        </p:nvSpPr>
        <p:spPr>
          <a:xfrm>
            <a:off x="533400" y="323850"/>
            <a:ext cx="4762500" cy="228600"/>
          </a:xfrm>
          <a:prstGeom prst="rect">
            <a:avLst/>
          </a:prstGeom>
          <a:noFill/>
          <a:ln w="0">
            <a:noFill/>
            <a:prstDash val="solid"/>
          </a:ln>
        </p:spPr>
        <p:txBody>
          <a:bodyPr anchor="t"/>
          <a:lstStyle/>
          <a:p>
            <a:pPr algn="l">
              <a:defRPr sz="1050" b="1">
                <a:solidFill>
                  <a:srgbClr val="3D8DFF"/>
                </a:solidFill>
                <a:latin typeface="Arial"/>
                <a:ea typeface="Arial"/>
                <a:cs typeface="Arial"/>
              </a:defRPr>
            </a:pPr>
            <a:r>
              <a:rPr sz="1050" b="1">
                <a:solidFill>
                  <a:srgbClr val="3D8DFF"/>
                </a:solidFill>
                <a:latin typeface="Arial"/>
                <a:ea typeface="Arial"/>
                <a:cs typeface="Arial"/>
              </a:rPr>
              <a:t>POWER BI PRESENTATION FLOW</a:t>
            </a:r>
          </a:p>
        </p:txBody>
      </p:sp>
      <p:sp>
        <p:nvSpPr>
          <p:cNvPr id="2" name="slide-title">
            <a:extLst>
              <a:ext uri="{FF2B5EF4-FFF2-40B4-BE49-F238E27FC236}">
                <a16:creationId xmlns:a16="http://schemas.microsoft.com/office/drawing/2014/main" id="{B9D46812-B155-4527-BBC8-85DFE3A70E10}"/>
              </a:ext>
            </a:extLst>
          </p:cNvPr>
          <p:cNvSpPr>
            <a:spLocks noGrp="1"/>
          </p:cNvSpPr>
          <p:nvPr/>
        </p:nvSpPr>
        <p:spPr>
          <a:xfrm>
            <a:off x="533400" y="628650"/>
            <a:ext cx="11125200" cy="685800"/>
          </a:xfrm>
          <a:prstGeom prst="rect">
            <a:avLst/>
          </a:prstGeom>
          <a:noFill/>
          <a:ln w="0">
            <a:noFill/>
            <a:prstDash val="solid"/>
          </a:ln>
        </p:spPr>
        <p:txBody>
          <a:bodyPr anchor="t"/>
          <a:lstStyle/>
          <a:p>
            <a:pPr algn="l">
              <a:defRPr sz="2850" b="1">
                <a:solidFill>
                  <a:srgbClr val="111111"/>
                </a:solidFill>
                <a:latin typeface="Arial"/>
                <a:ea typeface="Arial"/>
                <a:cs typeface="Arial"/>
              </a:defRPr>
            </a:pPr>
            <a:r>
              <a:rPr sz="2850" b="1">
                <a:solidFill>
                  <a:srgbClr val="111111"/>
                </a:solidFill>
                <a:latin typeface="Arial"/>
                <a:ea typeface="Arial"/>
                <a:cs typeface="Arial"/>
              </a:rPr>
              <a:t>A clear Power BI story answers three questions</a:t>
            </a:r>
          </a:p>
        </p:txBody>
      </p:sp>
      <p:sp>
        <p:nvSpPr>
          <p:cNvPr id="3" name="rule-143">
            <a:extLst>
              <a:ext uri="{FF2B5EF4-FFF2-40B4-BE49-F238E27FC236}">
                <a16:creationId xmlns:a16="http://schemas.microsoft.com/office/drawing/2014/main" id="{8EA1444A-B70C-4786-90A6-A20A0CB60BCF}"/>
              </a:ext>
            </a:extLst>
          </p:cNvPr>
          <p:cNvSpPr>
            <a:spLocks noGrp="1"/>
          </p:cNvSpPr>
          <p:nvPr/>
        </p:nvSpPr>
        <p:spPr>
          <a:xfrm>
            <a:off x="533400" y="1362075"/>
            <a:ext cx="11125200" cy="9525"/>
          </a:xfrm>
          <a:prstGeom prst="rect">
            <a:avLst/>
          </a:prstGeom>
          <a:solidFill>
            <a:srgbClr val="B8BCC4"/>
          </a:solidFill>
          <a:ln w="0">
            <a:solidFill>
              <a:srgbClr val="B8BCC4"/>
            </a:solidFill>
            <a:prstDash val="solid"/>
          </a:ln>
        </p:spPr>
        <p:txBody>
          <a:bodyPr/>
          <a:lstStyle/>
          <a:p>
            <a:endParaRPr lang="en-GB"/>
          </a:p>
        </p:txBody>
      </p:sp>
      <p:sp>
        <p:nvSpPr>
          <p:cNvPr id="4" name="slide-number">
            <a:extLst>
              <a:ext uri="{FF2B5EF4-FFF2-40B4-BE49-F238E27FC236}">
                <a16:creationId xmlns:a16="http://schemas.microsoft.com/office/drawing/2014/main" id="{6B6F9B96-D68A-458B-90FC-096E89FC97A7}"/>
              </a:ext>
            </a:extLst>
          </p:cNvPr>
          <p:cNvSpPr>
            <a:spLocks noGrp="1"/>
          </p:cNvSpPr>
          <p:nvPr/>
        </p:nvSpPr>
        <p:spPr>
          <a:xfrm>
            <a:off x="11144250" y="6381750"/>
            <a:ext cx="514350" cy="209550"/>
          </a:xfrm>
          <a:prstGeom prst="rect">
            <a:avLst/>
          </a:prstGeom>
          <a:noFill/>
          <a:ln w="0">
            <a:noFill/>
            <a:prstDash val="solid"/>
          </a:ln>
        </p:spPr>
        <p:txBody>
          <a:bodyPr anchor="t"/>
          <a:lstStyle/>
          <a:p>
            <a:pPr algn="r">
              <a:defRPr sz="975" b="0">
                <a:solidFill>
                  <a:srgbClr val="5F6368"/>
                </a:solidFill>
                <a:latin typeface="Arial"/>
                <a:ea typeface="Arial"/>
                <a:cs typeface="Arial"/>
              </a:defRPr>
            </a:pPr>
            <a:r>
              <a:rPr sz="975" b="0">
                <a:solidFill>
                  <a:srgbClr val="5F6368"/>
                </a:solidFill>
                <a:latin typeface="Arial"/>
                <a:ea typeface="Arial"/>
                <a:cs typeface="Arial"/>
              </a:rPr>
              <a:t>11</a:t>
            </a:r>
          </a:p>
        </p:txBody>
      </p:sp>
      <p:sp>
        <p:nvSpPr>
          <p:cNvPr id="5" name="shape-60-340">
            <a:extLst>
              <a:ext uri="{FF2B5EF4-FFF2-40B4-BE49-F238E27FC236}">
                <a16:creationId xmlns:a16="http://schemas.microsoft.com/office/drawing/2014/main" id="{CF01FAA7-EC03-4F2A-9E92-29E065D9B858}"/>
              </a:ext>
            </a:extLst>
          </p:cNvPr>
          <p:cNvSpPr>
            <a:spLocks noGrp="1"/>
          </p:cNvSpPr>
          <p:nvPr/>
        </p:nvSpPr>
        <p:spPr>
          <a:xfrm>
            <a:off x="571500" y="3238500"/>
            <a:ext cx="10763250" cy="19050"/>
          </a:xfrm>
          <a:prstGeom prst="rect">
            <a:avLst/>
          </a:prstGeom>
          <a:solidFill>
            <a:srgbClr val="111111"/>
          </a:solidFill>
          <a:ln w="0">
            <a:solidFill>
              <a:srgbClr val="111111"/>
            </a:solidFill>
            <a:prstDash val="solid"/>
          </a:ln>
        </p:spPr>
        <p:txBody>
          <a:bodyPr/>
          <a:lstStyle/>
          <a:p>
            <a:endParaRPr lang="en-GB"/>
          </a:p>
        </p:txBody>
      </p:sp>
      <p:sp>
        <p:nvSpPr>
          <p:cNvPr id="6" name="shape-125-332">
            <a:extLst>
              <a:ext uri="{FF2B5EF4-FFF2-40B4-BE49-F238E27FC236}">
                <a16:creationId xmlns:a16="http://schemas.microsoft.com/office/drawing/2014/main" id="{3F3ED3B4-2195-4E29-A509-5FA79AD54924}"/>
              </a:ext>
            </a:extLst>
          </p:cNvPr>
          <p:cNvSpPr>
            <a:spLocks noGrp="1"/>
          </p:cNvSpPr>
          <p:nvPr/>
        </p:nvSpPr>
        <p:spPr>
          <a:xfrm>
            <a:off x="1190625" y="3162300"/>
            <a:ext cx="171450" cy="171450"/>
          </a:xfrm>
          <a:prstGeom prst="ellipse">
            <a:avLst/>
          </a:prstGeom>
          <a:solidFill>
            <a:srgbClr val="F2C811"/>
          </a:solidFill>
          <a:ln w="0">
            <a:solidFill>
              <a:srgbClr val="F2C811"/>
            </a:solidFill>
            <a:prstDash val="solid"/>
          </a:ln>
        </p:spPr>
        <p:txBody>
          <a:bodyPr/>
          <a:lstStyle/>
          <a:p>
            <a:endParaRPr lang="en-GB"/>
          </a:p>
        </p:txBody>
      </p:sp>
      <p:sp>
        <p:nvSpPr>
          <p:cNvPr id="7" name="shape-510-332">
            <a:extLst>
              <a:ext uri="{FF2B5EF4-FFF2-40B4-BE49-F238E27FC236}">
                <a16:creationId xmlns:a16="http://schemas.microsoft.com/office/drawing/2014/main" id="{4BB1A667-509F-4724-A96B-583371BB7816}"/>
              </a:ext>
            </a:extLst>
          </p:cNvPr>
          <p:cNvSpPr>
            <a:spLocks noGrp="1"/>
          </p:cNvSpPr>
          <p:nvPr/>
        </p:nvSpPr>
        <p:spPr>
          <a:xfrm>
            <a:off x="4857750" y="3162300"/>
            <a:ext cx="171450" cy="171450"/>
          </a:xfrm>
          <a:prstGeom prst="ellipse">
            <a:avLst/>
          </a:prstGeom>
          <a:solidFill>
            <a:srgbClr val="F2C811"/>
          </a:solidFill>
          <a:ln w="0">
            <a:solidFill>
              <a:srgbClr val="F2C811"/>
            </a:solidFill>
            <a:prstDash val="solid"/>
          </a:ln>
        </p:spPr>
        <p:txBody>
          <a:bodyPr/>
          <a:lstStyle/>
          <a:p>
            <a:endParaRPr lang="en-GB"/>
          </a:p>
        </p:txBody>
      </p:sp>
      <p:sp>
        <p:nvSpPr>
          <p:cNvPr id="8" name="shape-895-332">
            <a:extLst>
              <a:ext uri="{FF2B5EF4-FFF2-40B4-BE49-F238E27FC236}">
                <a16:creationId xmlns:a16="http://schemas.microsoft.com/office/drawing/2014/main" id="{F3822D17-5231-4391-9958-B5CF5D282E51}"/>
              </a:ext>
            </a:extLst>
          </p:cNvPr>
          <p:cNvSpPr>
            <a:spLocks noGrp="1"/>
          </p:cNvSpPr>
          <p:nvPr/>
        </p:nvSpPr>
        <p:spPr>
          <a:xfrm>
            <a:off x="8524875" y="3162300"/>
            <a:ext cx="171450" cy="171450"/>
          </a:xfrm>
          <a:prstGeom prst="ellipse">
            <a:avLst/>
          </a:prstGeom>
          <a:solidFill>
            <a:srgbClr val="F2C811"/>
          </a:solidFill>
          <a:ln w="0">
            <a:solidFill>
              <a:srgbClr val="F2C811"/>
            </a:solidFill>
            <a:prstDash val="solid"/>
          </a:ln>
        </p:spPr>
        <p:txBody>
          <a:bodyPr/>
          <a:lstStyle/>
          <a:p>
            <a:endParaRPr lang="en-GB"/>
          </a:p>
        </p:txBody>
      </p:sp>
      <p:sp>
        <p:nvSpPr>
          <p:cNvPr id="9" name="text-60-232">
            <a:extLst>
              <a:ext uri="{FF2B5EF4-FFF2-40B4-BE49-F238E27FC236}">
                <a16:creationId xmlns:a16="http://schemas.microsoft.com/office/drawing/2014/main" id="{954FA550-8EB0-4089-BDBE-508771BD2FFD}"/>
              </a:ext>
            </a:extLst>
          </p:cNvPr>
          <p:cNvSpPr>
            <a:spLocks noGrp="1"/>
          </p:cNvSpPr>
          <p:nvPr/>
        </p:nvSpPr>
        <p:spPr>
          <a:xfrm>
            <a:off x="571500" y="2209800"/>
            <a:ext cx="2762250" cy="400050"/>
          </a:xfrm>
          <a:prstGeom prst="rect">
            <a:avLst/>
          </a:prstGeom>
          <a:noFill/>
          <a:ln w="0">
            <a:noFill/>
            <a:prstDash val="solid"/>
          </a:ln>
        </p:spPr>
        <p:txBody>
          <a:bodyPr anchor="t"/>
          <a:lstStyle/>
          <a:p>
            <a:pPr algn="l">
              <a:defRPr sz="1800" b="1">
                <a:solidFill>
                  <a:srgbClr val="3D8DFF"/>
                </a:solidFill>
                <a:latin typeface="Arial"/>
                <a:ea typeface="Arial"/>
                <a:cs typeface="Arial"/>
              </a:defRPr>
            </a:pPr>
            <a:r>
              <a:rPr sz="1800" b="1">
                <a:solidFill>
                  <a:srgbClr val="3D8DFF"/>
                </a:solidFill>
                <a:latin typeface="Arial"/>
                <a:ea typeface="Arial"/>
                <a:cs typeface="Arial"/>
              </a:rPr>
              <a:t>1  SCOPE</a:t>
            </a:r>
          </a:p>
        </p:txBody>
      </p:sp>
      <p:sp>
        <p:nvSpPr>
          <p:cNvPr id="10" name="text-60-282">
            <a:extLst>
              <a:ext uri="{FF2B5EF4-FFF2-40B4-BE49-F238E27FC236}">
                <a16:creationId xmlns:a16="http://schemas.microsoft.com/office/drawing/2014/main" id="{C9547941-D4D2-4175-946B-F9B793B968CD}"/>
              </a:ext>
            </a:extLst>
          </p:cNvPr>
          <p:cNvSpPr>
            <a:spLocks noGrp="1"/>
          </p:cNvSpPr>
          <p:nvPr/>
        </p:nvSpPr>
        <p:spPr>
          <a:xfrm>
            <a:off x="571500" y="2686050"/>
            <a:ext cx="2762250" cy="400050"/>
          </a:xfrm>
          <a:prstGeom prst="rect">
            <a:avLst/>
          </a:prstGeom>
          <a:noFill/>
          <a:ln w="0">
            <a:noFill/>
            <a:prstDash val="solid"/>
          </a:ln>
        </p:spPr>
        <p:txBody>
          <a:bodyPr anchor="t"/>
          <a:lstStyle/>
          <a:p>
            <a:pPr algn="l">
              <a:defRPr sz="2325" b="1">
                <a:solidFill>
                  <a:srgbClr val="111111"/>
                </a:solidFill>
                <a:latin typeface="Arial"/>
                <a:ea typeface="Arial"/>
                <a:cs typeface="Arial"/>
              </a:defRPr>
            </a:pPr>
            <a:r>
              <a:rPr sz="2325" b="1">
                <a:solidFill>
                  <a:srgbClr val="111111"/>
                </a:solidFill>
                <a:latin typeface="Arial"/>
                <a:ea typeface="Arial"/>
                <a:cs typeface="Arial"/>
              </a:rPr>
              <a:t>What ran?</a:t>
            </a:r>
          </a:p>
        </p:txBody>
      </p:sp>
      <p:sp>
        <p:nvSpPr>
          <p:cNvPr id="11" name="text-60-390">
            <a:extLst>
              <a:ext uri="{FF2B5EF4-FFF2-40B4-BE49-F238E27FC236}">
                <a16:creationId xmlns:a16="http://schemas.microsoft.com/office/drawing/2014/main" id="{4029A8C2-8799-404F-AD5F-08EC21EB3DC4}"/>
              </a:ext>
            </a:extLst>
          </p:cNvPr>
          <p:cNvSpPr>
            <a:spLocks noGrp="1"/>
          </p:cNvSpPr>
          <p:nvPr/>
        </p:nvSpPr>
        <p:spPr>
          <a:xfrm>
            <a:off x="571500" y="3714750"/>
            <a:ext cx="2857500" cy="1219200"/>
          </a:xfrm>
          <a:prstGeom prst="rect">
            <a:avLst/>
          </a:prstGeom>
          <a:noFill/>
          <a:ln w="0">
            <a:noFill/>
            <a:prstDash val="solid"/>
          </a:ln>
        </p:spPr>
        <p:txBody>
          <a:bodyPr anchor="t"/>
          <a:lstStyle/>
          <a:p>
            <a:pPr algn="l">
              <a:defRPr sz="1575" b="0">
                <a:solidFill>
                  <a:srgbClr val="5F6368"/>
                </a:solidFill>
                <a:latin typeface="Arial"/>
                <a:ea typeface="Arial"/>
                <a:cs typeface="Arial"/>
              </a:defRPr>
            </a:pPr>
            <a:r>
              <a:rPr sz="1575" b="0">
                <a:solidFill>
                  <a:srgbClr val="5F6368"/>
                </a:solidFill>
                <a:latin typeface="Arial"/>
                <a:ea typeface="Arial"/>
                <a:cs typeface="Arial"/>
              </a:rPr>
              <a:t>Select the latest run ID and confirm both datasets and all expected steps are present.</a:t>
            </a:r>
          </a:p>
        </p:txBody>
      </p:sp>
      <p:sp>
        <p:nvSpPr>
          <p:cNvPr id="12" name="text-445-232">
            <a:extLst>
              <a:ext uri="{FF2B5EF4-FFF2-40B4-BE49-F238E27FC236}">
                <a16:creationId xmlns:a16="http://schemas.microsoft.com/office/drawing/2014/main" id="{D1C86ED0-532D-4DC2-93A9-2BFFF42B9474}"/>
              </a:ext>
            </a:extLst>
          </p:cNvPr>
          <p:cNvSpPr>
            <a:spLocks noGrp="1"/>
          </p:cNvSpPr>
          <p:nvPr/>
        </p:nvSpPr>
        <p:spPr>
          <a:xfrm>
            <a:off x="4238625" y="2209800"/>
            <a:ext cx="2762250" cy="400050"/>
          </a:xfrm>
          <a:prstGeom prst="rect">
            <a:avLst/>
          </a:prstGeom>
          <a:noFill/>
          <a:ln w="0">
            <a:noFill/>
            <a:prstDash val="solid"/>
          </a:ln>
        </p:spPr>
        <p:txBody>
          <a:bodyPr anchor="t"/>
          <a:lstStyle/>
          <a:p>
            <a:pPr algn="l">
              <a:defRPr sz="1800" b="1">
                <a:solidFill>
                  <a:srgbClr val="3D8DFF"/>
                </a:solidFill>
                <a:latin typeface="Arial"/>
                <a:ea typeface="Arial"/>
                <a:cs typeface="Arial"/>
              </a:defRPr>
            </a:pPr>
            <a:r>
              <a:rPr sz="1800" b="1">
                <a:solidFill>
                  <a:srgbClr val="3D8DFF"/>
                </a:solidFill>
                <a:latin typeface="Arial"/>
                <a:ea typeface="Arial"/>
                <a:cs typeface="Arial"/>
              </a:rPr>
              <a:t>2  OUTCOME</a:t>
            </a:r>
          </a:p>
        </p:txBody>
      </p:sp>
      <p:sp>
        <p:nvSpPr>
          <p:cNvPr id="13" name="text-445-282">
            <a:extLst>
              <a:ext uri="{FF2B5EF4-FFF2-40B4-BE49-F238E27FC236}">
                <a16:creationId xmlns:a16="http://schemas.microsoft.com/office/drawing/2014/main" id="{28863646-3E74-4D0D-8AAC-0D7CFAFDB854}"/>
              </a:ext>
            </a:extLst>
          </p:cNvPr>
          <p:cNvSpPr>
            <a:spLocks noGrp="1"/>
          </p:cNvSpPr>
          <p:nvPr/>
        </p:nvSpPr>
        <p:spPr>
          <a:xfrm>
            <a:off x="4238625" y="2686050"/>
            <a:ext cx="2857500" cy="400050"/>
          </a:xfrm>
          <a:prstGeom prst="rect">
            <a:avLst/>
          </a:prstGeom>
          <a:noFill/>
          <a:ln w="0">
            <a:noFill/>
            <a:prstDash val="solid"/>
          </a:ln>
        </p:spPr>
        <p:txBody>
          <a:bodyPr anchor="t"/>
          <a:lstStyle/>
          <a:p>
            <a:pPr algn="l">
              <a:defRPr sz="2325" b="1">
                <a:solidFill>
                  <a:srgbClr val="111111"/>
                </a:solidFill>
                <a:latin typeface="Arial"/>
                <a:ea typeface="Arial"/>
                <a:cs typeface="Arial"/>
              </a:defRPr>
            </a:pPr>
            <a:r>
              <a:rPr sz="2325" b="1">
                <a:solidFill>
                  <a:srgbClr val="111111"/>
                </a:solidFill>
                <a:latin typeface="Arial"/>
                <a:ea typeface="Arial"/>
                <a:cs typeface="Arial"/>
              </a:rPr>
              <a:t>What changed?</a:t>
            </a:r>
          </a:p>
        </p:txBody>
      </p:sp>
      <p:sp>
        <p:nvSpPr>
          <p:cNvPr id="14" name="text-445-390">
            <a:extLst>
              <a:ext uri="{FF2B5EF4-FFF2-40B4-BE49-F238E27FC236}">
                <a16:creationId xmlns:a16="http://schemas.microsoft.com/office/drawing/2014/main" id="{E75BF210-D78E-4BE5-95FE-BBF76E33F47F}"/>
              </a:ext>
            </a:extLst>
          </p:cNvPr>
          <p:cNvSpPr>
            <a:spLocks noGrp="1"/>
          </p:cNvSpPr>
          <p:nvPr/>
        </p:nvSpPr>
        <p:spPr>
          <a:xfrm>
            <a:off x="4238625" y="3714750"/>
            <a:ext cx="2857500" cy="1219200"/>
          </a:xfrm>
          <a:prstGeom prst="rect">
            <a:avLst/>
          </a:prstGeom>
          <a:noFill/>
          <a:ln w="0">
            <a:noFill/>
            <a:prstDash val="solid"/>
          </a:ln>
        </p:spPr>
        <p:txBody>
          <a:bodyPr anchor="t"/>
          <a:lstStyle/>
          <a:p>
            <a:pPr algn="l">
              <a:defRPr sz="1575" b="0">
                <a:solidFill>
                  <a:srgbClr val="5F6368"/>
                </a:solidFill>
                <a:latin typeface="Arial"/>
                <a:ea typeface="Arial"/>
                <a:cs typeface="Arial"/>
              </a:defRPr>
            </a:pPr>
            <a:r>
              <a:rPr sz="1575" b="0">
                <a:solidFill>
                  <a:srgbClr val="5F6368"/>
                </a:solidFill>
                <a:latin typeface="Arial"/>
                <a:ea typeface="Arial"/>
                <a:cs typeface="Arial"/>
              </a:rPr>
              <a:t>Show final rows, rows removed, completeness and the enrichment fields created.</a:t>
            </a:r>
          </a:p>
        </p:txBody>
      </p:sp>
      <p:sp>
        <p:nvSpPr>
          <p:cNvPr id="15" name="text-830-232">
            <a:extLst>
              <a:ext uri="{FF2B5EF4-FFF2-40B4-BE49-F238E27FC236}">
                <a16:creationId xmlns:a16="http://schemas.microsoft.com/office/drawing/2014/main" id="{BFBD7715-CDFB-40D5-926F-DF7B84E81BC9}"/>
              </a:ext>
            </a:extLst>
          </p:cNvPr>
          <p:cNvSpPr>
            <a:spLocks noGrp="1"/>
          </p:cNvSpPr>
          <p:nvPr/>
        </p:nvSpPr>
        <p:spPr>
          <a:xfrm>
            <a:off x="7905750" y="2209800"/>
            <a:ext cx="3048000" cy="400050"/>
          </a:xfrm>
          <a:prstGeom prst="rect">
            <a:avLst/>
          </a:prstGeom>
          <a:noFill/>
          <a:ln w="0">
            <a:noFill/>
            <a:prstDash val="solid"/>
          </a:ln>
        </p:spPr>
        <p:txBody>
          <a:bodyPr anchor="t"/>
          <a:lstStyle/>
          <a:p>
            <a:pPr algn="l">
              <a:defRPr sz="1800" b="1">
                <a:solidFill>
                  <a:srgbClr val="3D8DFF"/>
                </a:solidFill>
                <a:latin typeface="Arial"/>
                <a:ea typeface="Arial"/>
                <a:cs typeface="Arial"/>
              </a:defRPr>
            </a:pPr>
            <a:r>
              <a:rPr sz="1800" b="1">
                <a:solidFill>
                  <a:srgbClr val="3D8DFF"/>
                </a:solidFill>
                <a:latin typeface="Arial"/>
                <a:ea typeface="Arial"/>
                <a:cs typeface="Arial"/>
              </a:rPr>
              <a:t>3  EXCEPTION</a:t>
            </a:r>
          </a:p>
        </p:txBody>
      </p:sp>
      <p:sp>
        <p:nvSpPr>
          <p:cNvPr id="16" name="text-830-282">
            <a:extLst>
              <a:ext uri="{FF2B5EF4-FFF2-40B4-BE49-F238E27FC236}">
                <a16:creationId xmlns:a16="http://schemas.microsoft.com/office/drawing/2014/main" id="{FD56ACEC-8BDA-4618-81F0-FF38BC7B49C4}"/>
              </a:ext>
            </a:extLst>
          </p:cNvPr>
          <p:cNvSpPr>
            <a:spLocks noGrp="1"/>
          </p:cNvSpPr>
          <p:nvPr/>
        </p:nvSpPr>
        <p:spPr>
          <a:xfrm>
            <a:off x="7905750" y="2686050"/>
            <a:ext cx="3238500" cy="400050"/>
          </a:xfrm>
          <a:prstGeom prst="rect">
            <a:avLst/>
          </a:prstGeom>
          <a:noFill/>
          <a:ln w="0">
            <a:noFill/>
            <a:prstDash val="solid"/>
          </a:ln>
        </p:spPr>
        <p:txBody>
          <a:bodyPr anchor="t"/>
          <a:lstStyle/>
          <a:p>
            <a:pPr algn="l">
              <a:defRPr sz="2325" b="1">
                <a:solidFill>
                  <a:srgbClr val="111111"/>
                </a:solidFill>
                <a:latin typeface="Arial"/>
                <a:ea typeface="Arial"/>
                <a:cs typeface="Arial"/>
              </a:defRPr>
            </a:pPr>
            <a:r>
              <a:rPr sz="2325" b="1">
                <a:solidFill>
                  <a:srgbClr val="111111"/>
                </a:solidFill>
                <a:latin typeface="Arial"/>
                <a:ea typeface="Arial"/>
                <a:cs typeface="Arial"/>
              </a:rPr>
              <a:t>What needs action?</a:t>
            </a:r>
          </a:p>
        </p:txBody>
      </p:sp>
      <p:sp>
        <p:nvSpPr>
          <p:cNvPr id="17" name="text-830-390">
            <a:extLst>
              <a:ext uri="{FF2B5EF4-FFF2-40B4-BE49-F238E27FC236}">
                <a16:creationId xmlns:a16="http://schemas.microsoft.com/office/drawing/2014/main" id="{665C2790-3D20-4808-B822-D838BEA55AA4}"/>
              </a:ext>
            </a:extLst>
          </p:cNvPr>
          <p:cNvSpPr>
            <a:spLocks noGrp="1"/>
          </p:cNvSpPr>
          <p:nvPr/>
        </p:nvSpPr>
        <p:spPr>
          <a:xfrm>
            <a:off x="7905750" y="3714750"/>
            <a:ext cx="3190875" cy="1219200"/>
          </a:xfrm>
          <a:prstGeom prst="rect">
            <a:avLst/>
          </a:prstGeom>
          <a:noFill/>
          <a:ln w="0">
            <a:noFill/>
            <a:prstDash val="solid"/>
          </a:ln>
        </p:spPr>
        <p:txBody>
          <a:bodyPr anchor="t"/>
          <a:lstStyle/>
          <a:p>
            <a:pPr algn="l">
              <a:defRPr sz="1575" b="0">
                <a:solidFill>
                  <a:srgbClr val="5F6368"/>
                </a:solidFill>
                <a:latin typeface="Arial"/>
                <a:ea typeface="Arial"/>
                <a:cs typeface="Arial"/>
              </a:defRPr>
            </a:pPr>
            <a:r>
              <a:rPr sz="1575" b="0">
                <a:solidFill>
                  <a:srgbClr val="5F6368"/>
                </a:solidFill>
                <a:latin typeface="Arial"/>
                <a:ea typeface="Arial"/>
                <a:cs typeface="Arial"/>
              </a:rPr>
              <a:t>Explain warnings, separate data-quality problems from late-return findings, and identify next actions.</a:t>
            </a:r>
          </a:p>
        </p:txBody>
      </p:sp>
      <p:sp>
        <p:nvSpPr>
          <p:cNvPr id="18" name="text-60-600">
            <a:extLst>
              <a:ext uri="{FF2B5EF4-FFF2-40B4-BE49-F238E27FC236}">
                <a16:creationId xmlns:a16="http://schemas.microsoft.com/office/drawing/2014/main" id="{896A78B7-8E11-49F7-877A-D551EA7AF4B1}"/>
              </a:ext>
            </a:extLst>
          </p:cNvPr>
          <p:cNvSpPr>
            <a:spLocks noGrp="1"/>
          </p:cNvSpPr>
          <p:nvPr/>
        </p:nvSpPr>
        <p:spPr>
          <a:xfrm>
            <a:off x="571500" y="5715000"/>
            <a:ext cx="10572750" cy="323850"/>
          </a:xfrm>
          <a:prstGeom prst="rect">
            <a:avLst/>
          </a:prstGeom>
          <a:noFill/>
          <a:ln w="0">
            <a:noFill/>
            <a:prstDash val="solid"/>
          </a:ln>
        </p:spPr>
        <p:txBody>
          <a:bodyPr anchor="t"/>
          <a:lstStyle/>
          <a:p>
            <a:pPr algn="l">
              <a:defRPr sz="1500" b="1">
                <a:solidFill>
                  <a:srgbClr val="111111"/>
                </a:solidFill>
                <a:latin typeface="Arial"/>
                <a:ea typeface="Arial"/>
                <a:cs typeface="Arial"/>
              </a:defRPr>
            </a:pPr>
            <a:r>
              <a:rPr sz="1500" b="1">
                <a:solidFill>
                  <a:srgbClr val="111111"/>
                </a:solidFill>
                <a:latin typeface="Arial"/>
                <a:ea typeface="Arial"/>
                <a:cs typeface="Arial"/>
              </a:rPr>
              <a:t>Recommended measures: Final Clean Rows  •  Rows Removed  •  Quality Issues  •  Processing Time</a:t>
            </a:r>
          </a:p>
        </p:txBody>
      </p:sp>
    </p:spTree>
    <p:extLst>
      <p:ext uri="{BB962C8B-B14F-4D97-AF65-F5344CB8AC3E}">
        <p14:creationId xmlns:p14="http://schemas.microsoft.com/office/powerpoint/2010/main" val="21218677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shape-0-0">
            <a:extLst>
              <a:ext uri="{FF2B5EF4-FFF2-40B4-BE49-F238E27FC236}">
                <a16:creationId xmlns:a16="http://schemas.microsoft.com/office/drawing/2014/main" id="{2669232F-C5C0-4A60-BC52-734B664FE465}"/>
              </a:ext>
            </a:extLst>
          </p:cNvPr>
          <p:cNvSpPr>
            <a:spLocks noGrp="1"/>
          </p:cNvSpPr>
          <p:nvPr/>
        </p:nvSpPr>
        <p:spPr>
          <a:xfrm>
            <a:off x="0" y="0"/>
            <a:ext cx="171450" cy="6858000"/>
          </a:xfrm>
          <a:prstGeom prst="rect">
            <a:avLst/>
          </a:prstGeom>
          <a:solidFill>
            <a:srgbClr val="F2C811"/>
          </a:solidFill>
          <a:ln w="0">
            <a:solidFill>
              <a:srgbClr val="F2C811"/>
            </a:solidFill>
            <a:prstDash val="solid"/>
          </a:ln>
        </p:spPr>
        <p:txBody>
          <a:bodyPr/>
          <a:lstStyle/>
          <a:p>
            <a:endParaRPr lang="en-GB"/>
          </a:p>
        </p:txBody>
      </p:sp>
      <p:sp>
        <p:nvSpPr>
          <p:cNvPr id="2" name="text-58-54">
            <a:extLst>
              <a:ext uri="{FF2B5EF4-FFF2-40B4-BE49-F238E27FC236}">
                <a16:creationId xmlns:a16="http://schemas.microsoft.com/office/drawing/2014/main" id="{F8D6B80D-CEF7-4ACA-BBFD-EB4B521DC088}"/>
              </a:ext>
            </a:extLst>
          </p:cNvPr>
          <p:cNvSpPr>
            <a:spLocks noGrp="1"/>
          </p:cNvSpPr>
          <p:nvPr/>
        </p:nvSpPr>
        <p:spPr>
          <a:xfrm>
            <a:off x="552450" y="514350"/>
            <a:ext cx="3429000" cy="266700"/>
          </a:xfrm>
          <a:prstGeom prst="rect">
            <a:avLst/>
          </a:prstGeom>
          <a:noFill/>
          <a:ln w="0">
            <a:noFill/>
            <a:prstDash val="solid"/>
          </a:ln>
        </p:spPr>
        <p:txBody>
          <a:bodyPr anchor="t"/>
          <a:lstStyle/>
          <a:p>
            <a:pPr algn="l">
              <a:defRPr sz="1200" b="1">
                <a:solidFill>
                  <a:srgbClr val="3D8DFF"/>
                </a:solidFill>
                <a:latin typeface="Arial"/>
                <a:ea typeface="Arial"/>
                <a:cs typeface="Arial"/>
              </a:defRPr>
            </a:pPr>
            <a:r>
              <a:rPr sz="1200" b="1">
                <a:solidFill>
                  <a:srgbClr val="3D8DFF"/>
                </a:solidFill>
                <a:latin typeface="Arial"/>
                <a:ea typeface="Arial"/>
                <a:cs typeface="Arial"/>
              </a:rPr>
              <a:t>THE OUTCOME</a:t>
            </a:r>
          </a:p>
        </p:txBody>
      </p:sp>
      <p:sp>
        <p:nvSpPr>
          <p:cNvPr id="3" name="text-58-144">
            <a:extLst>
              <a:ext uri="{FF2B5EF4-FFF2-40B4-BE49-F238E27FC236}">
                <a16:creationId xmlns:a16="http://schemas.microsoft.com/office/drawing/2014/main" id="{F45AD7F5-4649-408B-BB90-E15CF8969C29}"/>
              </a:ext>
            </a:extLst>
          </p:cNvPr>
          <p:cNvSpPr>
            <a:spLocks noGrp="1"/>
          </p:cNvSpPr>
          <p:nvPr/>
        </p:nvSpPr>
        <p:spPr>
          <a:xfrm>
            <a:off x="552450" y="1371600"/>
            <a:ext cx="9715500" cy="1476375"/>
          </a:xfrm>
          <a:prstGeom prst="rect">
            <a:avLst/>
          </a:prstGeom>
          <a:noFill/>
          <a:ln w="0">
            <a:noFill/>
            <a:prstDash val="solid"/>
          </a:ln>
        </p:spPr>
        <p:txBody>
          <a:bodyPr anchor="t"/>
          <a:lstStyle/>
          <a:p>
            <a:pPr algn="l">
              <a:defRPr sz="3750" b="1">
                <a:solidFill>
                  <a:srgbClr val="111111"/>
                </a:solidFill>
                <a:latin typeface="Arial"/>
                <a:ea typeface="Arial"/>
                <a:cs typeface="Arial"/>
              </a:defRPr>
            </a:pPr>
            <a:r>
              <a:rPr sz="3750" b="1">
                <a:solidFill>
                  <a:srgbClr val="111111"/>
                </a:solidFill>
                <a:latin typeface="Arial"/>
                <a:ea typeface="Arial"/>
                <a:cs typeface="Arial"/>
              </a:rPr>
              <a:t>The pipeline is now repeatable,</a:t>
            </a:r>
          </a:p>
          <a:p>
            <a:pPr algn="l">
              <a:defRPr sz="3750" b="1">
                <a:solidFill>
                  <a:srgbClr val="111111"/>
                </a:solidFill>
                <a:latin typeface="Arial"/>
                <a:ea typeface="Arial"/>
                <a:cs typeface="Arial"/>
              </a:defRPr>
            </a:pPr>
            <a:r>
              <a:rPr sz="3750" b="1">
                <a:solidFill>
                  <a:srgbClr val="111111"/>
                </a:solidFill>
                <a:latin typeface="Arial"/>
                <a:ea typeface="Arial"/>
                <a:cs typeface="Arial"/>
              </a:rPr>
              <a:t>observable and presentation-ready</a:t>
            </a:r>
          </a:p>
        </p:txBody>
      </p:sp>
      <p:sp>
        <p:nvSpPr>
          <p:cNvPr id="4" name="rule-345">
            <a:extLst>
              <a:ext uri="{FF2B5EF4-FFF2-40B4-BE49-F238E27FC236}">
                <a16:creationId xmlns:a16="http://schemas.microsoft.com/office/drawing/2014/main" id="{9438EF79-7AF9-42A2-B2A0-09351067A50F}"/>
              </a:ext>
            </a:extLst>
          </p:cNvPr>
          <p:cNvSpPr>
            <a:spLocks noGrp="1"/>
          </p:cNvSpPr>
          <p:nvPr/>
        </p:nvSpPr>
        <p:spPr>
          <a:xfrm>
            <a:off x="552450" y="3286125"/>
            <a:ext cx="11049000" cy="9525"/>
          </a:xfrm>
          <a:prstGeom prst="rect">
            <a:avLst/>
          </a:prstGeom>
          <a:solidFill>
            <a:srgbClr val="B8BCC4"/>
          </a:solidFill>
          <a:ln w="0">
            <a:solidFill>
              <a:srgbClr val="B8BCC4"/>
            </a:solidFill>
            <a:prstDash val="solid"/>
          </a:ln>
        </p:spPr>
        <p:txBody>
          <a:bodyPr/>
          <a:lstStyle/>
          <a:p>
            <a:endParaRPr lang="en-GB"/>
          </a:p>
        </p:txBody>
      </p:sp>
      <p:sp>
        <p:nvSpPr>
          <p:cNvPr id="5" name="text-58-398">
            <a:extLst>
              <a:ext uri="{FF2B5EF4-FFF2-40B4-BE49-F238E27FC236}">
                <a16:creationId xmlns:a16="http://schemas.microsoft.com/office/drawing/2014/main" id="{5AD5DC2D-8B26-473C-B58C-3BC6BBF87E74}"/>
              </a:ext>
            </a:extLst>
          </p:cNvPr>
          <p:cNvSpPr>
            <a:spLocks noGrp="1"/>
          </p:cNvSpPr>
          <p:nvPr/>
        </p:nvSpPr>
        <p:spPr>
          <a:xfrm>
            <a:off x="552450" y="3790950"/>
            <a:ext cx="571500" cy="285750"/>
          </a:xfrm>
          <a:prstGeom prst="rect">
            <a:avLst/>
          </a:prstGeom>
          <a:noFill/>
          <a:ln w="0">
            <a:noFill/>
            <a:prstDash val="solid"/>
          </a:ln>
        </p:spPr>
        <p:txBody>
          <a:bodyPr anchor="t"/>
          <a:lstStyle/>
          <a:p>
            <a:pPr algn="l">
              <a:defRPr sz="1275" b="1">
                <a:solidFill>
                  <a:srgbClr val="3D8DFF"/>
                </a:solidFill>
                <a:latin typeface="Arial"/>
                <a:ea typeface="Arial"/>
                <a:cs typeface="Arial"/>
              </a:defRPr>
            </a:pPr>
            <a:r>
              <a:rPr sz="1275" b="1">
                <a:solidFill>
                  <a:srgbClr val="3D8DFF"/>
                </a:solidFill>
                <a:latin typeface="Arial"/>
                <a:ea typeface="Arial"/>
                <a:cs typeface="Arial"/>
              </a:rPr>
              <a:t>01</a:t>
            </a:r>
          </a:p>
        </p:txBody>
      </p:sp>
      <p:sp>
        <p:nvSpPr>
          <p:cNvPr id="6" name="text-58-442">
            <a:extLst>
              <a:ext uri="{FF2B5EF4-FFF2-40B4-BE49-F238E27FC236}">
                <a16:creationId xmlns:a16="http://schemas.microsoft.com/office/drawing/2014/main" id="{6D93BBFC-FAB6-4D11-877E-A9FF1443151E}"/>
              </a:ext>
            </a:extLst>
          </p:cNvPr>
          <p:cNvSpPr>
            <a:spLocks noGrp="1"/>
          </p:cNvSpPr>
          <p:nvPr/>
        </p:nvSpPr>
        <p:spPr>
          <a:xfrm>
            <a:off x="552450" y="4210050"/>
            <a:ext cx="3143250" cy="361950"/>
          </a:xfrm>
          <a:prstGeom prst="rect">
            <a:avLst/>
          </a:prstGeom>
          <a:noFill/>
          <a:ln w="0">
            <a:noFill/>
            <a:prstDash val="solid"/>
          </a:ln>
        </p:spPr>
        <p:txBody>
          <a:bodyPr anchor="t"/>
          <a:lstStyle/>
          <a:p>
            <a:pPr algn="l">
              <a:defRPr sz="1950" b="1">
                <a:solidFill>
                  <a:srgbClr val="111111"/>
                </a:solidFill>
                <a:latin typeface="Arial"/>
                <a:ea typeface="Arial"/>
                <a:cs typeface="Arial"/>
              </a:defRPr>
            </a:pPr>
            <a:r>
              <a:rPr sz="1950" b="1">
                <a:solidFill>
                  <a:srgbClr val="111111"/>
                </a:solidFill>
                <a:latin typeface="Arial"/>
                <a:ea typeface="Arial"/>
                <a:cs typeface="Arial"/>
              </a:rPr>
              <a:t>Build history</a:t>
            </a:r>
          </a:p>
        </p:txBody>
      </p:sp>
      <p:sp>
        <p:nvSpPr>
          <p:cNvPr id="7" name="text-58-495">
            <a:extLst>
              <a:ext uri="{FF2B5EF4-FFF2-40B4-BE49-F238E27FC236}">
                <a16:creationId xmlns:a16="http://schemas.microsoft.com/office/drawing/2014/main" id="{42224929-A915-44C1-95DD-76E7E88D3840}"/>
              </a:ext>
            </a:extLst>
          </p:cNvPr>
          <p:cNvSpPr>
            <a:spLocks noGrp="1"/>
          </p:cNvSpPr>
          <p:nvPr/>
        </p:nvSpPr>
        <p:spPr>
          <a:xfrm>
            <a:off x="552450" y="4714875"/>
            <a:ext cx="3143250" cy="857250"/>
          </a:xfrm>
          <a:prstGeom prst="rect">
            <a:avLst/>
          </a:prstGeom>
          <a:noFill/>
          <a:ln w="0">
            <a:noFill/>
            <a:prstDash val="solid"/>
          </a:ln>
        </p:spPr>
        <p:txBody>
          <a:bodyPr anchor="t"/>
          <a:lstStyle/>
          <a:p>
            <a:pPr algn="l">
              <a:defRPr sz="1425" b="0">
                <a:solidFill>
                  <a:srgbClr val="5F6368"/>
                </a:solidFill>
                <a:latin typeface="Arial"/>
                <a:ea typeface="Arial"/>
                <a:cs typeface="Arial"/>
              </a:defRPr>
            </a:pPr>
            <a:r>
              <a:rPr sz="1425" b="0">
                <a:solidFill>
                  <a:srgbClr val="5F6368"/>
                </a:solidFill>
                <a:latin typeface="Arial"/>
                <a:ea typeface="Arial"/>
                <a:cs typeface="Arial"/>
              </a:rPr>
              <a:t>Run the pipeline repeatedly and use run_id for trends.</a:t>
            </a:r>
          </a:p>
        </p:txBody>
      </p:sp>
      <p:sp>
        <p:nvSpPr>
          <p:cNvPr id="8" name="text-453-398">
            <a:extLst>
              <a:ext uri="{FF2B5EF4-FFF2-40B4-BE49-F238E27FC236}">
                <a16:creationId xmlns:a16="http://schemas.microsoft.com/office/drawing/2014/main" id="{42E9338C-F197-4BF1-BFF9-A6E81AC29812}"/>
              </a:ext>
            </a:extLst>
          </p:cNvPr>
          <p:cNvSpPr>
            <a:spLocks noGrp="1"/>
          </p:cNvSpPr>
          <p:nvPr/>
        </p:nvSpPr>
        <p:spPr>
          <a:xfrm>
            <a:off x="4314825" y="3790950"/>
            <a:ext cx="571500" cy="285750"/>
          </a:xfrm>
          <a:prstGeom prst="rect">
            <a:avLst/>
          </a:prstGeom>
          <a:noFill/>
          <a:ln w="0">
            <a:noFill/>
            <a:prstDash val="solid"/>
          </a:ln>
        </p:spPr>
        <p:txBody>
          <a:bodyPr anchor="t"/>
          <a:lstStyle/>
          <a:p>
            <a:pPr algn="l">
              <a:defRPr sz="1275" b="1">
                <a:solidFill>
                  <a:srgbClr val="3D8DFF"/>
                </a:solidFill>
                <a:latin typeface="Arial"/>
                <a:ea typeface="Arial"/>
                <a:cs typeface="Arial"/>
              </a:defRPr>
            </a:pPr>
            <a:r>
              <a:rPr sz="1275" b="1">
                <a:solidFill>
                  <a:srgbClr val="3D8DFF"/>
                </a:solidFill>
                <a:latin typeface="Arial"/>
                <a:ea typeface="Arial"/>
                <a:cs typeface="Arial"/>
              </a:rPr>
              <a:t>02</a:t>
            </a:r>
          </a:p>
        </p:txBody>
      </p:sp>
      <p:sp>
        <p:nvSpPr>
          <p:cNvPr id="9" name="text-453-442">
            <a:extLst>
              <a:ext uri="{FF2B5EF4-FFF2-40B4-BE49-F238E27FC236}">
                <a16:creationId xmlns:a16="http://schemas.microsoft.com/office/drawing/2014/main" id="{1C4B0FC7-997D-4A2C-9336-56F46D61E13B}"/>
              </a:ext>
            </a:extLst>
          </p:cNvPr>
          <p:cNvSpPr>
            <a:spLocks noGrp="1"/>
          </p:cNvSpPr>
          <p:nvPr/>
        </p:nvSpPr>
        <p:spPr>
          <a:xfrm>
            <a:off x="4314825" y="4210050"/>
            <a:ext cx="3143250" cy="361950"/>
          </a:xfrm>
          <a:prstGeom prst="rect">
            <a:avLst/>
          </a:prstGeom>
          <a:noFill/>
          <a:ln w="0">
            <a:noFill/>
            <a:prstDash val="solid"/>
          </a:ln>
        </p:spPr>
        <p:txBody>
          <a:bodyPr anchor="t"/>
          <a:lstStyle/>
          <a:p>
            <a:pPr algn="l">
              <a:defRPr sz="1950" b="1">
                <a:solidFill>
                  <a:srgbClr val="111111"/>
                </a:solidFill>
                <a:latin typeface="Arial"/>
                <a:ea typeface="Arial"/>
                <a:cs typeface="Arial"/>
              </a:defRPr>
            </a:pPr>
            <a:r>
              <a:rPr sz="1950" b="1">
                <a:solidFill>
                  <a:srgbClr val="111111"/>
                </a:solidFill>
                <a:latin typeface="Arial"/>
                <a:ea typeface="Arial"/>
                <a:cs typeface="Arial"/>
              </a:rPr>
              <a:t>Automate refresh</a:t>
            </a:r>
          </a:p>
        </p:txBody>
      </p:sp>
      <p:sp>
        <p:nvSpPr>
          <p:cNvPr id="10" name="text-453-495">
            <a:extLst>
              <a:ext uri="{FF2B5EF4-FFF2-40B4-BE49-F238E27FC236}">
                <a16:creationId xmlns:a16="http://schemas.microsoft.com/office/drawing/2014/main" id="{BB2E1202-D6F1-448F-8003-0D93BC8049C7}"/>
              </a:ext>
            </a:extLst>
          </p:cNvPr>
          <p:cNvSpPr>
            <a:spLocks noGrp="1"/>
          </p:cNvSpPr>
          <p:nvPr/>
        </p:nvSpPr>
        <p:spPr>
          <a:xfrm>
            <a:off x="4314825" y="4714875"/>
            <a:ext cx="3143250" cy="857250"/>
          </a:xfrm>
          <a:prstGeom prst="rect">
            <a:avLst/>
          </a:prstGeom>
          <a:noFill/>
          <a:ln w="0">
            <a:noFill/>
            <a:prstDash val="solid"/>
          </a:ln>
        </p:spPr>
        <p:txBody>
          <a:bodyPr anchor="t"/>
          <a:lstStyle/>
          <a:p>
            <a:pPr algn="l">
              <a:defRPr sz="1425" b="0">
                <a:solidFill>
                  <a:srgbClr val="5F6368"/>
                </a:solidFill>
                <a:latin typeface="Arial"/>
                <a:ea typeface="Arial"/>
                <a:cs typeface="Arial"/>
              </a:defRPr>
            </a:pPr>
            <a:r>
              <a:rPr sz="1425" b="0">
                <a:solidFill>
                  <a:srgbClr val="5F6368"/>
                </a:solidFill>
                <a:latin typeface="Arial"/>
                <a:ea typeface="Arial"/>
                <a:cs typeface="Arial"/>
              </a:rPr>
              <a:t>Move the metrics CSV to a refreshable Power BI location.</a:t>
            </a:r>
          </a:p>
        </p:txBody>
      </p:sp>
      <p:sp>
        <p:nvSpPr>
          <p:cNvPr id="11" name="text-848-398">
            <a:extLst>
              <a:ext uri="{FF2B5EF4-FFF2-40B4-BE49-F238E27FC236}">
                <a16:creationId xmlns:a16="http://schemas.microsoft.com/office/drawing/2014/main" id="{AA534362-43DD-487E-BEDE-F0C203C28827}"/>
              </a:ext>
            </a:extLst>
          </p:cNvPr>
          <p:cNvSpPr>
            <a:spLocks noGrp="1"/>
          </p:cNvSpPr>
          <p:nvPr/>
        </p:nvSpPr>
        <p:spPr>
          <a:xfrm>
            <a:off x="8077200" y="3790950"/>
            <a:ext cx="571500" cy="285750"/>
          </a:xfrm>
          <a:prstGeom prst="rect">
            <a:avLst/>
          </a:prstGeom>
          <a:noFill/>
          <a:ln w="0">
            <a:noFill/>
            <a:prstDash val="solid"/>
          </a:ln>
        </p:spPr>
        <p:txBody>
          <a:bodyPr anchor="t"/>
          <a:lstStyle/>
          <a:p>
            <a:pPr algn="l">
              <a:defRPr sz="1275" b="1">
                <a:solidFill>
                  <a:srgbClr val="3D8DFF"/>
                </a:solidFill>
                <a:latin typeface="Arial"/>
                <a:ea typeface="Arial"/>
                <a:cs typeface="Arial"/>
              </a:defRPr>
            </a:pPr>
            <a:r>
              <a:rPr sz="1275" b="1">
                <a:solidFill>
                  <a:srgbClr val="3D8DFF"/>
                </a:solidFill>
                <a:latin typeface="Arial"/>
                <a:ea typeface="Arial"/>
                <a:cs typeface="Arial"/>
              </a:rPr>
              <a:t>03</a:t>
            </a:r>
          </a:p>
        </p:txBody>
      </p:sp>
      <p:sp>
        <p:nvSpPr>
          <p:cNvPr id="12" name="text-848-442">
            <a:extLst>
              <a:ext uri="{FF2B5EF4-FFF2-40B4-BE49-F238E27FC236}">
                <a16:creationId xmlns:a16="http://schemas.microsoft.com/office/drawing/2014/main" id="{D129C651-DB79-4036-A067-A7B7B94A9278}"/>
              </a:ext>
            </a:extLst>
          </p:cNvPr>
          <p:cNvSpPr>
            <a:spLocks noGrp="1"/>
          </p:cNvSpPr>
          <p:nvPr/>
        </p:nvSpPr>
        <p:spPr>
          <a:xfrm>
            <a:off x="8077200" y="4210050"/>
            <a:ext cx="3143250" cy="361950"/>
          </a:xfrm>
          <a:prstGeom prst="rect">
            <a:avLst/>
          </a:prstGeom>
          <a:noFill/>
          <a:ln w="0">
            <a:noFill/>
            <a:prstDash val="solid"/>
          </a:ln>
        </p:spPr>
        <p:txBody>
          <a:bodyPr anchor="t"/>
          <a:lstStyle/>
          <a:p>
            <a:pPr algn="l">
              <a:defRPr sz="1950" b="1">
                <a:solidFill>
                  <a:srgbClr val="111111"/>
                </a:solidFill>
                <a:latin typeface="Arial"/>
                <a:ea typeface="Arial"/>
                <a:cs typeface="Arial"/>
              </a:defRPr>
            </a:pPr>
            <a:r>
              <a:rPr sz="1950" b="1">
                <a:solidFill>
                  <a:srgbClr val="111111"/>
                </a:solidFill>
                <a:latin typeface="Arial"/>
                <a:ea typeface="Arial"/>
                <a:cs typeface="Arial"/>
              </a:rPr>
              <a:t>Extend assurance</a:t>
            </a:r>
          </a:p>
        </p:txBody>
      </p:sp>
      <p:sp>
        <p:nvSpPr>
          <p:cNvPr id="13" name="text-848-495">
            <a:extLst>
              <a:ext uri="{FF2B5EF4-FFF2-40B4-BE49-F238E27FC236}">
                <a16:creationId xmlns:a16="http://schemas.microsoft.com/office/drawing/2014/main" id="{184A12B0-BDA8-448F-B043-70BDD7BAC459}"/>
              </a:ext>
            </a:extLst>
          </p:cNvPr>
          <p:cNvSpPr>
            <a:spLocks noGrp="1"/>
          </p:cNvSpPr>
          <p:nvPr/>
        </p:nvSpPr>
        <p:spPr>
          <a:xfrm>
            <a:off x="8077200" y="4714875"/>
            <a:ext cx="3143250" cy="857250"/>
          </a:xfrm>
          <a:prstGeom prst="rect">
            <a:avLst/>
          </a:prstGeom>
          <a:noFill/>
          <a:ln w="0">
            <a:noFill/>
            <a:prstDash val="solid"/>
          </a:ln>
        </p:spPr>
        <p:txBody>
          <a:bodyPr anchor="t"/>
          <a:lstStyle/>
          <a:p>
            <a:pPr algn="l">
              <a:defRPr sz="1425" b="0">
                <a:solidFill>
                  <a:srgbClr val="5F6368"/>
                </a:solidFill>
                <a:latin typeface="Arial"/>
                <a:ea typeface="Arial"/>
                <a:cs typeface="Arial"/>
              </a:defRPr>
            </a:pPr>
            <a:r>
              <a:rPr sz="1425" b="0">
                <a:solidFill>
                  <a:srgbClr val="5F6368"/>
                </a:solidFill>
                <a:latin typeface="Arial"/>
                <a:ea typeface="Arial"/>
                <a:cs typeface="Arial"/>
              </a:rPr>
              <a:t>Add automated tests, CI/CD outcomes and SQL-load metrics.</a:t>
            </a:r>
          </a:p>
        </p:txBody>
      </p:sp>
      <p:sp>
        <p:nvSpPr>
          <p:cNvPr id="14" name="text-58-638">
            <a:extLst>
              <a:ext uri="{FF2B5EF4-FFF2-40B4-BE49-F238E27FC236}">
                <a16:creationId xmlns:a16="http://schemas.microsoft.com/office/drawing/2014/main" id="{7DAF6146-A55D-42D4-A118-06692F48B9E7}"/>
              </a:ext>
            </a:extLst>
          </p:cNvPr>
          <p:cNvSpPr>
            <a:spLocks noGrp="1"/>
          </p:cNvSpPr>
          <p:nvPr/>
        </p:nvSpPr>
        <p:spPr>
          <a:xfrm>
            <a:off x="552450" y="6076950"/>
            <a:ext cx="4762500" cy="323850"/>
          </a:xfrm>
          <a:prstGeom prst="rect">
            <a:avLst/>
          </a:prstGeom>
          <a:noFill/>
          <a:ln w="0">
            <a:noFill/>
            <a:prstDash val="solid"/>
          </a:ln>
        </p:spPr>
        <p:txBody>
          <a:bodyPr anchor="t"/>
          <a:lstStyle/>
          <a:p>
            <a:pPr algn="l">
              <a:defRPr sz="1725" b="1">
                <a:solidFill>
                  <a:srgbClr val="111111"/>
                </a:solidFill>
                <a:latin typeface="Arial"/>
                <a:ea typeface="Arial"/>
                <a:cs typeface="Arial"/>
              </a:defRPr>
            </a:pPr>
            <a:r>
              <a:rPr sz="1725" b="1">
                <a:solidFill>
                  <a:srgbClr val="111111"/>
                </a:solidFill>
                <a:latin typeface="Arial"/>
                <a:ea typeface="Arial"/>
                <a:cs typeface="Arial"/>
              </a:rPr>
              <a:t>Questions and discussion</a:t>
            </a:r>
          </a:p>
        </p:txBody>
      </p:sp>
    </p:spTree>
    <p:extLst>
      <p:ext uri="{BB962C8B-B14F-4D97-AF65-F5344CB8AC3E}">
        <p14:creationId xmlns:p14="http://schemas.microsoft.com/office/powerpoint/2010/main" val="778076099"/>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Metadata/LabelInfo.xml><?xml version="1.0" encoding="utf-8"?>
<clbl:labelList xmlns:clbl="http://schemas.microsoft.com/office/2020/mipLabelMetadata">
  <clbl:label id="{debed6db-01cc-42e9-a288-e023485a86d3}" enabled="0" method="" siteId="{debed6db-01cc-42e9-a288-e023485a86d3}" removed="1"/>
</clbl:labelList>
</file>

<file path=docProps/app.xml><?xml version="1.0" encoding="utf-8"?>
<Properties xmlns="http://schemas.openxmlformats.org/officeDocument/2006/extended-properties" xmlns:vt="http://schemas.openxmlformats.org/officeDocument/2006/docPropsVTypes">
  <TotalTime>0</TotalTime>
  <Words>1460</Words>
  <Application>Microsoft Office PowerPoint</Application>
  <DocSecurity>0</DocSecurity>
  <PresentationFormat>Widescreen</PresentationFormat>
  <Paragraphs>218</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Valdemar Teixeira</cp:lastModifiedBy>
  <cp:revision>1</cp:revision>
  <dcterms:created xsi:type="dcterms:W3CDTF">2026-08-20T10:32:58Z</dcterms:created>
  <dcterms:modified xsi:type="dcterms:W3CDTF">2026-08-20T10:46:20Z</dcterms:modified>
</cp:coreProperties>
</file>