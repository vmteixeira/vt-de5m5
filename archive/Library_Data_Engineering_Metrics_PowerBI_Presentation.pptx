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d31eac35ce44f4" /><Relationship Type="http://schemas.openxmlformats.org/officeDocument/2006/relationships/extended-properties" Target="/docProps/app.xml" Id="R136497a49d794591" /><Relationship Type="http://schemas.openxmlformats.org/officeDocument/2006/relationships/officeDocument" Target="/ppt/presentation.xml" Id="R25cccfbaec76456f" /></Relationships>
</file>

<file path=ppt/presentation.xml><?xml version="1.0" encoding="utf-8"?>
<p:presentation xmlns:p="http://schemas.openxmlformats.org/presentationml/2006/main">
  <p:sldMasterIdLst>
    <p:sldMasterId xmlns:r="http://schemas.openxmlformats.org/officeDocument/2006/relationships" id="2147483648" r:id="Rec4bba53356f4e01"/>
  </p:sldMasterIdLst>
  <p:notesMasterIdLst>
    <p:notesMasterId xmlns:r="http://schemas.openxmlformats.org/officeDocument/2006/relationships" r:id="R3b9ac17e8f26476a"/>
  </p:notesMasterIdLst>
  <p:sldIdLst>
    <p:sldId xmlns:r="http://schemas.openxmlformats.org/officeDocument/2006/relationships" id="256" r:id="R8efbf1c208974aa0"/>
    <p:sldId xmlns:r="http://schemas.openxmlformats.org/officeDocument/2006/relationships" id="257" r:id="R4aed68f0c4f041ff"/>
    <p:sldId xmlns:r="http://schemas.openxmlformats.org/officeDocument/2006/relationships" id="258" r:id="R2bf58044ca3440cf"/>
    <p:sldId xmlns:r="http://schemas.openxmlformats.org/officeDocument/2006/relationships" id="259" r:id="Rd8392915829946a6"/>
    <p:sldId xmlns:r="http://schemas.openxmlformats.org/officeDocument/2006/relationships" id="260" r:id="R94309a4756bb48ed"/>
    <p:sldId xmlns:r="http://schemas.openxmlformats.org/officeDocument/2006/relationships" id="261" r:id="R9f2b6be13a7e452a"/>
    <p:sldId xmlns:r="http://schemas.openxmlformats.org/officeDocument/2006/relationships" id="262" r:id="Rb3a89a6f54994f63"/>
    <p:sldId xmlns:r="http://schemas.openxmlformats.org/officeDocument/2006/relationships" id="263" r:id="Rb174ac3819de42af"/>
    <p:sldId xmlns:r="http://schemas.openxmlformats.org/officeDocument/2006/relationships" id="264" r:id="Rc3597fc10f1640fb"/>
    <p:sldId xmlns:r="http://schemas.openxmlformats.org/officeDocument/2006/relationships" id="265" r:id="R49306c26e1d5436d"/>
    <p:sldId xmlns:r="http://schemas.openxmlformats.org/officeDocument/2006/relationships" id="266" r:id="R0a6f5122f9df4f6c"/>
    <p:sldId xmlns:r="http://schemas.openxmlformats.org/officeDocument/2006/relationships" id="267" r:id="R0592ff8a2f104a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550d319a124df1" /><Relationship Type="http://schemas.openxmlformats.org/officeDocument/2006/relationships/slideMaster" Target="/ppt/slideMasters/slideMaster1.xml" Id="Rec4bba53356f4e01" /><Relationship Type="http://schemas.openxmlformats.org/officeDocument/2006/relationships/notesMaster" Target="/ppt/notesMasters/notesMaster1.xml" Id="R3b9ac17e8f26476a" /><Relationship Type="http://schemas.openxmlformats.org/officeDocument/2006/relationships/presProps" Target="/ppt/presProps.xml" Id="R7b5b6f8c2c774a22" /><Relationship Type="http://schemas.openxmlformats.org/officeDocument/2006/relationships/tableStyles" Target="/ppt/tableStyles.xml" Id="R08bfa1b0267a43fe" /><Relationship Type="http://schemas.openxmlformats.org/officeDocument/2006/relationships/slide" Target="/ppt/slides/slide1.xml" Id="R8efbf1c208974aa0" /><Relationship Type="http://schemas.openxmlformats.org/officeDocument/2006/relationships/slide" Target="/ppt/slides/slide2.xml" Id="R4aed68f0c4f041ff" /><Relationship Type="http://schemas.openxmlformats.org/officeDocument/2006/relationships/slide" Target="/ppt/slides/slide3.xml" Id="R2bf58044ca3440cf" /><Relationship Type="http://schemas.openxmlformats.org/officeDocument/2006/relationships/slide" Target="/ppt/slides/slide4.xml" Id="Rd8392915829946a6" /><Relationship Type="http://schemas.openxmlformats.org/officeDocument/2006/relationships/slide" Target="/ppt/slides/slide5.xml" Id="R94309a4756bb48ed" /><Relationship Type="http://schemas.openxmlformats.org/officeDocument/2006/relationships/slide" Target="/ppt/slides/slide6.xml" Id="R9f2b6be13a7e452a" /><Relationship Type="http://schemas.openxmlformats.org/officeDocument/2006/relationships/slide" Target="/ppt/slides/slide7.xml" Id="Rb3a89a6f54994f63" /><Relationship Type="http://schemas.openxmlformats.org/officeDocument/2006/relationships/slide" Target="/ppt/slides/slide8.xml" Id="Rb174ac3819de42af" /><Relationship Type="http://schemas.openxmlformats.org/officeDocument/2006/relationships/slide" Target="/ppt/slides/slide9.xml" Id="Rc3597fc10f1640fb" /><Relationship Type="http://schemas.openxmlformats.org/officeDocument/2006/relationships/slide" Target="/ppt/slides/slide10.xml" Id="R49306c26e1d5436d" /><Relationship Type="http://schemas.openxmlformats.org/officeDocument/2006/relationships/slide" Target="/ppt/slides/slide11.xml" Id="R0a6f5122f9df4f6c" /><Relationship Type="http://schemas.openxmlformats.org/officeDocument/2006/relationships/slide" Target="/ppt/slides/slide12.xml" Id="R0592ff8a2f104a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6c1482734c4c2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423579e4c84349" /><Relationship Type="http://schemas.openxmlformats.org/officeDocument/2006/relationships/notesMaster" Target="/ppt/notesMasters/notesMaster1.xml" Id="R86be31d646474b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4cb95c9a6a4656" /><Relationship Type="http://schemas.openxmlformats.org/officeDocument/2006/relationships/notesMaster" Target="/ppt/notesMasters/notesMaster1.xml" Id="Rda8849e47e5b4f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6c3a6b901741e7" /><Relationship Type="http://schemas.openxmlformats.org/officeDocument/2006/relationships/notesMaster" Target="/ppt/notesMasters/notesMaster1.xml" Id="R1166e64ab6944c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a303c3dfa94bd1" /><Relationship Type="http://schemas.openxmlformats.org/officeDocument/2006/relationships/notesMaster" Target="/ppt/notesMasters/notesMaster1.xml" Id="R0853dc94ee1d47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8acde69e38045ea" /><Relationship Type="http://schemas.openxmlformats.org/officeDocument/2006/relationships/notesMaster" Target="/ppt/notesMasters/notesMaster1.xml" Id="Rc790653bf0ba49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8ea37f7f054f93" /><Relationship Type="http://schemas.openxmlformats.org/officeDocument/2006/relationships/notesMaster" Target="/ppt/notesMasters/notesMaster1.xml" Id="Rf80b9dbd4de945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5d8daf8b3a4096" /><Relationship Type="http://schemas.openxmlformats.org/officeDocument/2006/relationships/notesMaster" Target="/ppt/notesMasters/notesMaster1.xml" Id="R28a93339f96c40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b9bcf7832c4709" /><Relationship Type="http://schemas.openxmlformats.org/officeDocument/2006/relationships/notesMaster" Target="/ppt/notesMasters/notesMaster1.xml" Id="R6df2235f4da543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59ac0dd2704949" /><Relationship Type="http://schemas.openxmlformats.org/officeDocument/2006/relationships/notesMaster" Target="/ppt/notesMasters/notesMaster1.xml" Id="Rbc630ef9f2e24a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9e03eabd764813" /><Relationship Type="http://schemas.openxmlformats.org/officeDocument/2006/relationships/notesMaster" Target="/ppt/notesMasters/notesMaster1.xml" Id="R247ecb9c2ced42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ef8648c1604c14" /><Relationship Type="http://schemas.openxmlformats.org/officeDocument/2006/relationships/notesMaster" Target="/ppt/notesMasters/notesMaster1.xml" Id="R6ad8e7a1f00242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d287ad57c54acf" /><Relationship Type="http://schemas.openxmlformats.org/officeDocument/2006/relationships/notesMaster" Target="/ppt/notesMasters/notesMaster1.xml" Id="R45b2eaf5e0734fb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an evolution from a basic cleaning script into an observable data pipeline. Explain that the presentation uses the real run outputs and then shows how those metrics can be communicated in Power BI.</a:t>
            </a:r>
          </a:p>
          <a:p xmlns:a="http://schemas.openxmlformats.org/drawingml/2006/main">
            <a:r>
              <a:t/>
            </a:r>
          </a:p>
          <a:p xmlns:a="http://schemas.openxmlformats.org/drawingml/2006/main">
            <a:r>
              <a:t>[Sources]</a:t>
            </a:r>
          </a:p>
          <a:p xmlns:a="http://schemas.openxmlformats.org/drawingml/2006/main">
            <a:r>
              <a:t>- day2_notebook(2).py</a:t>
            </a:r>
          </a:p>
          <a:p xmlns:a="http://schemas.openxmlformats.org/drawingml/2006/main">
            <a:r>
              <a:t>- data_engineering_metrics.csv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Contrast the original outcome with the refactored one. The main improvement is traceability: the pipeline now explains its own behaviour and retains warnings rather than silently hiding poor-quality records.</a:t>
            </a:r>
          </a:p>
          <a:p xmlns:a="http://schemas.openxmlformats.org/drawingml/2006/main">
            <a:r>
              <a:t/>
            </a:r>
          </a:p>
          <a:p xmlns:a="http://schemas.openxmlformats.org/drawingml/2006/main">
            <a:r>
              <a:t>[Sources]</a:t>
            </a:r>
          </a:p>
          <a:p xmlns:a="http://schemas.openxmlformats.org/drawingml/2006/main">
            <a:r>
              <a:t>- DAY2-Notebook.ipynb</a:t>
            </a:r>
          </a:p>
          <a:p xmlns:a="http://schemas.openxmlformats.org/drawingml/2006/main">
            <a:r>
              <a:t>- day2_notebook(2).py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The same run now creates clean books and customers files plus a separate engineering metrics file. Power BI connects to the metrics file, while the clean datasets remain available for analysis or SQL loading.</a:t>
            </a:r>
          </a:p>
          <a:p xmlns:a="http://schemas.openxmlformats.org/drawingml/2006/main">
            <a:r>
              <a:t/>
            </a:r>
          </a:p>
          <a:p xmlns:a="http://schemas.openxmlformats.org/drawingml/2006/main">
            <a:r>
              <a:t>[Sources]</a:t>
            </a:r>
          </a:p>
          <a:p xmlns:a="http://schemas.openxmlformats.org/drawingml/2006/main">
            <a:r>
              <a:t>- 03_Library Systembook(1).csv</a:t>
            </a:r>
          </a:p>
          <a:p xmlns:a="http://schemas.openxmlformats.org/drawingml/2006/main">
            <a:r>
              <a:t>- 03_Library SystemCustomers(1).csv</a:t>
            </a:r>
          </a:p>
          <a:p xmlns:a="http://schemas.openxmlformats.org/drawingml/2006/main">
            <a:r>
              <a:t>- day2_notebook(2).py</a:t>
            </a:r>
          </a:p>
          <a:p xmlns:a="http://schemas.openxmlformats.org/drawingml/2006/main">
            <a:r>
              <a:t>- Clean_Data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code was split into reusable functions. Each transformation is passed through a metrics wrapper, allowing the same before-and-after profile to be applied consistently across books and customers.</a:t>
            </a:r>
          </a:p>
          <a:p xmlns:a="http://schemas.openxmlformats.org/drawingml/2006/main">
            <a:r>
              <a:t/>
            </a:r>
          </a:p>
          <a:p xmlns:a="http://schemas.openxmlformats.org/drawingml/2006/main">
            <a:r>
              <a:t>[Sources]</a:t>
            </a:r>
          </a:p>
          <a:p xmlns:a="http://schemas.openxmlformats.org/drawingml/2006/main">
            <a:r>
              <a:t>- day2_notebook(2).py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difference between cleansing and hiding. Empty rows are removed because they contain no information. Records with suspicious dates or missing business fields are retained and flagged so that a stakeholder can decide what corrective action is appropriate.</a:t>
            </a:r>
          </a:p>
          <a:p xmlns:a="http://schemas.openxmlformats.org/drawingml/2006/main">
            <a:r>
              <a:t/>
            </a:r>
          </a:p>
          <a:p xmlns:a="http://schemas.openxmlformats.org/drawingml/2006/main">
            <a:r>
              <a:t>[Sources]</a:t>
            </a:r>
          </a:p>
          <a:p xmlns:a="http://schemas.openxmlformats.org/drawingml/2006/main">
            <a:r>
              <a:t>- day2_notebook(2).py</a:t>
            </a:r>
          </a:p>
          <a:p xmlns:a="http://schemas.openxmlformats.org/drawingml/2006/main">
            <a:r>
              <a:t>- library_books_clean.csv</a:t>
            </a:r>
          </a:p>
          <a:p xmlns:a="http://schemas.openxmlformats.org/drawingml/2006/main">
            <a:r>
              <a:t>- library_customers_clean.csv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establish the observability outcome. Twenty rows represent the processing events across both datasets. The 38 columns cover traceability, volume, data quality, performance and lineage. Do not treat the local timing as a production benchmark.</a:t>
            </a:r>
          </a:p>
          <a:p xmlns:a="http://schemas.openxmlformats.org/drawingml/2006/main">
            <a:r>
              <a:t/>
            </a:r>
          </a:p>
          <a:p xmlns:a="http://schemas.openxmlformats.org/drawingml/2006/main">
            <a:r>
              <a:t>[Sources]</a:t>
            </a:r>
          </a:p>
          <a:p xmlns:a="http://schemas.openxmlformats.org/drawingml/2006/main">
            <a:r>
              <a:t>- data_engineering_metrics.csv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large book reduction is not arbitrary deletion. Ninety-three of the 114 rows were completely blank. The customer file contained one completely blank row. This distinction is important when presenting data quality activity to stakeholders.</a:t>
            </a:r>
          </a:p>
          <a:p xmlns:a="http://schemas.openxmlformats.org/drawingml/2006/main">
            <a:r>
              <a:t/>
            </a:r>
          </a:p>
          <a:p xmlns:a="http://schemas.openxmlformats.org/drawingml/2006/main">
            <a:r>
              <a:t>[Sources]</a:t>
            </a:r>
          </a:p>
          <a:p xmlns:a="http://schemas.openxmlformats.org/drawingml/2006/main">
            <a:r>
              <a:t>- 03_Library Systembook(1).csv</a:t>
            </a:r>
          </a:p>
          <a:p xmlns:a="http://schemas.openxmlformats.org/drawingml/2006/main">
            <a:r>
              <a:t>- 03_Library SystemCustomers(1).csv</a:t>
            </a:r>
          </a:p>
          <a:p xmlns:a="http://schemas.openxmlformats.org/drawingml/2006/main">
            <a:r>
              <a:t>- data_engineering_metrics.csv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the two lenses. Reversed or unparseable dates, missing titles and missing customer IDs are data-quality exceptions. Late returns are a useful business outcome created by the enrichment. The books validation is therefore warning, while customers pass.</a:t>
            </a:r>
          </a:p>
          <a:p xmlns:a="http://schemas.openxmlformats.org/drawingml/2006/main">
            <a:r>
              <a:t/>
            </a:r>
          </a:p>
          <a:p xmlns:a="http://schemas.openxmlformats.org/drawingml/2006/main">
            <a:r>
              <a:t>[Sources]</a:t>
            </a:r>
          </a:p>
          <a:p xmlns:a="http://schemas.openxmlformats.org/drawingml/2006/main">
            <a:r>
              <a:t>- library_books_clean.csv</a:t>
            </a:r>
          </a:p>
          <a:p xmlns:a="http://schemas.openxmlformats.org/drawingml/2006/main">
            <a:r>
              <a:t>- data_engineering_metrics.csv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five metric families to explain the CSV schema without reading all 38 fields. The structure supports operational questions: what ran, what changed, whether quality improved, what needs attention and how long each step took.</a:t>
            </a:r>
          </a:p>
          <a:p xmlns:a="http://schemas.openxmlformats.org/drawingml/2006/main">
            <a:r>
              <a:t/>
            </a:r>
          </a:p>
          <a:p xmlns:a="http://schemas.openxmlformats.org/drawingml/2006/main">
            <a:r>
              <a:t>[Sources]</a:t>
            </a:r>
          </a:p>
          <a:p xmlns:a="http://schemas.openxmlformats.org/drawingml/2006/main">
            <a:r>
              <a:t>- data_engineering_metrics.csv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this as the proposed Power BI landing page. Start with the KPI row, then explain the raw-to-clean reduction and finally move to exceptions. Use the run and dataset filters to avoid combining different executions when historical data grows.</a:t>
            </a:r>
          </a:p>
          <a:p xmlns:a="http://schemas.openxmlformats.org/drawingml/2006/main">
            <a:r>
              <a:t/>
            </a:r>
          </a:p>
          <a:p xmlns:a="http://schemas.openxmlformats.org/drawingml/2006/main">
            <a:r>
              <a:t>[Sources]</a:t>
            </a:r>
          </a:p>
          <a:p xmlns:a="http://schemas.openxmlformats.org/drawingml/2006/main">
            <a:r>
              <a:t>- data_engineering_metrics.csv</a:t>
            </a:r>
          </a:p>
          <a:p xmlns:a="http://schemas.openxmlformats.org/drawingml/2006/main">
            <a:r>
              <a:t>- library_books_clean.csv</a:t>
            </a:r>
          </a:p>
          <a:p xmlns:a="http://schemas.openxmlformats.org/drawingml/2006/main">
            <a:r>
              <a:t>- library_customers_clean.csv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order when speaking over the dashboard. First establish the selected run, then quantify the transformation, and only then explain exceptions. This prevents a warning from being mistaken for a failed pipeline.</a:t>
            </a:r>
          </a:p>
          <a:p xmlns:a="http://schemas.openxmlformats.org/drawingml/2006/main">
            <a:r>
              <a:t/>
            </a:r>
          </a:p>
          <a:p xmlns:a="http://schemas.openxmlformats.org/drawingml/2006/main">
            <a:r>
              <a:t>[Sources]</a:t>
            </a:r>
          </a:p>
          <a:p xmlns:a="http://schemas.openxmlformats.org/drawingml/2006/main">
            <a:r>
              <a:t>- data_engineering_metrics.csv</a:t>
            </a:r>
          </a:p>
          <a:p xmlns:a="http://schemas.openxmlformats.org/drawingml/2006/main">
            <a:r>
              <a:t>- README.md Power BI measures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original objective: the project no longer produces unexplained files. It creates evidence that can be tested, compared over time and presented. Invite questions on the code, metrics definitions or Power BI design.</a:t>
            </a:r>
          </a:p>
          <a:p xmlns:a="http://schemas.openxmlformats.org/drawingml/2006/main">
            <a:r>
              <a:t/>
            </a:r>
          </a:p>
          <a:p xmlns:a="http://schemas.openxmlformats.org/drawingml/2006/main">
            <a:r>
              <a:t>[Sources]</a:t>
            </a:r>
          </a:p>
          <a:p xmlns:a="http://schemas.openxmlformats.org/drawingml/2006/main">
            <a:r>
              <a:t>- day2_notebook(2).py</a:t>
            </a:r>
          </a:p>
          <a:p xmlns:a="http://schemas.openxmlformats.org/drawingml/2006/main">
            <a:r>
              <a:t>- data_engineering_metrics.csv</a:t>
            </a:r>
          </a:p>
          <a:p xmlns:a="http://schemas.openxmlformats.org/drawingml/2006/main">
            <a:r>
              <a:t>- Clean_Data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597da1e01345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ced39ce6144736" /><Relationship Type="http://schemas.openxmlformats.org/officeDocument/2006/relationships/slideLayout" Target="/ppt/slideLayouts/slideLayout1.xml" Id="R30e3b2aff62549f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e3b2aff62549f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8ccd4fb444456a" /><Relationship Type="http://schemas.openxmlformats.org/officeDocument/2006/relationships/notesSlide" Target="/ppt/notesSlides/notesSlide1.xml" Id="R5efd8f17935f45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44569c65c142df" /><Relationship Type="http://schemas.openxmlformats.org/officeDocument/2006/relationships/notesSlide" Target="/ppt/notesSlides/notesSlide2.xml" Id="Rfb68db94d58245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bdee61119448e7" /><Relationship Type="http://schemas.openxmlformats.org/officeDocument/2006/relationships/notesSlide" Target="/ppt/notesSlides/notesSlide3.xml" Id="Rae37aef9160645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e613f9653b43ec" /><Relationship Type="http://schemas.openxmlformats.org/officeDocument/2006/relationships/notesSlide" Target="/ppt/notesSlides/notesSlide4.xml" Id="R53281f71251147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5f7c2ec09644992" /><Relationship Type="http://schemas.openxmlformats.org/officeDocument/2006/relationships/notesSlide" Target="/ppt/notesSlides/notesSlide5.xml" Id="R73940d0aebe341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7f930459ad4a6d" /><Relationship Type="http://schemas.openxmlformats.org/officeDocument/2006/relationships/notesSlide" Target="/ppt/notesSlides/notesSlide6.xml" Id="R85f2e8d07bba4c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885174d3fb45c8" /><Relationship Type="http://schemas.openxmlformats.org/officeDocument/2006/relationships/chart" Target="/ppt/slides/charts/chart1.xml" Id="R76ed30b10cdb4386" /><Relationship Type="http://schemas.openxmlformats.org/officeDocument/2006/relationships/notesSlide" Target="/ppt/notesSlides/notesSlide7.xml" Id="R8d3632b903014d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177e5e40e44d95" /><Relationship Type="http://schemas.openxmlformats.org/officeDocument/2006/relationships/chart" Target="/ppt/slides/charts/chart2.xml" Id="Rd03135af2a534fc3" /><Relationship Type="http://schemas.openxmlformats.org/officeDocument/2006/relationships/notesSlide" Target="/ppt/notesSlides/notesSlide8.xml" Id="Rb459025f97b847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54222184e1d4c97" /><Relationship Type="http://schemas.openxmlformats.org/officeDocument/2006/relationships/notesSlide" Target="/ppt/notesSlides/notesSlide9.xml" Id="R1ebe4c48f7b94a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34af966044c4264" /><Relationship Type="http://schemas.openxmlformats.org/officeDocument/2006/relationships/chart" Target="/ppt/slides/charts/chart3.xml" Id="R473d7ba58e4f4d30" /><Relationship Type="http://schemas.openxmlformats.org/officeDocument/2006/relationships/chart" Target="/ppt/slides/charts/chart4.xml" Id="R19dd351ee0cc48c9" /><Relationship Type="http://schemas.openxmlformats.org/officeDocument/2006/relationships/notesSlide" Target="/ppt/notesSlides/notesSlide10.xml" Id="Rdb284d0c3e6746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d0eb6d465ff4202" /><Relationship Type="http://schemas.openxmlformats.org/officeDocument/2006/relationships/notesSlide" Target="/ppt/notesSlides/notesSlide11.xml" Id="R6b71c35653a44e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4f08960b4b48db" /><Relationship Type="http://schemas.openxmlformats.org/officeDocument/2006/relationships/notesSlide" Target="/ppt/notesSlides/notesSlide12.xml" Id="R8c8f5f496fa244a8" /></Relationships>
</file>

<file path=ppt/slides/charts/chart1.xml><?xml version="1.0" encoding="utf-8"?>
<c:chartSpace xmlns:c="http://schemas.openxmlformats.org/drawingml/2006/chart">
  <c:lang val="en-US"/>
  <c:chart>
    <c:plotArea>
      <c:barChart>
        <c:barDir val="col"/>
        <c:grouping val="clustered"/>
        <c:varyColors val="0"/>
        <c:ser>
          <c:idx val="0"/>
          <c:order val="0"/>
          <c:tx>
            <c:v>Raw rows</c:v>
          </c:tx>
          <c:spPr>
            <a:solidFill xmlns:a="http://schemas.openxmlformats.org/drawingml/2006/main">
              <a:srgbClr val="6DCBF4"/>
            </a:solidFill>
          </c:spPr>
          <c:cat>
            <c:strLit>
              <c:ptCount val="2"/>
              <c:pt idx="0">
                <c:v>Books</c:v>
              </c:pt>
              <c:pt idx="1">
                <c:v>Customers</c:v>
              </c:pt>
            </c:strLit>
          </c:cat>
          <c:val>
            <c:numLit>
              <c:formatCode>General</c:formatCode>
              <c:ptCount val="2"/>
              <c:pt idx="0">
                <c:v>114</c:v>
              </c:pt>
              <c:pt idx="1">
                <c:v>9</c:v>
              </c:pt>
            </c:numLit>
          </c:val>
        </c:ser>
        <c:ser>
          <c:idx val="1"/>
          <c:order val="1"/>
          <c:tx>
            <c:v>Clean rows</c:v>
          </c:tx>
          <c:spPr>
            <a:solidFill xmlns:a="http://schemas.openxmlformats.org/drawingml/2006/main">
              <a:srgbClr val="3D8DFF"/>
            </a:solidFill>
          </c:spPr>
          <c:cat>
            <c:strLit>
              <c:ptCount val="2"/>
              <c:pt idx="0">
                <c:v>Books</c:v>
              </c:pt>
              <c:pt idx="1">
                <c:v>Customers</c:v>
              </c:pt>
            </c:strLit>
          </c:cat>
          <c:val>
            <c:numLit>
              <c:formatCode>General</c:formatCode>
              <c:ptCount val="2"/>
              <c:pt idx="0">
                <c:v>21</c:v>
              </c:pt>
              <c:pt idx="1">
                <c:v>8</c:v>
              </c:pt>
            </c:numLit>
          </c:val>
        </c:ser>
        <c:dLbls>
          <c:txPr>
            <a:bodyPr xmlns:a="http://schemas.openxmlformats.org/drawingml/2006/main" anchorCtr="1"/>
            <a:lstStyle xmlns:a="http://schemas.openxmlformats.org/drawingml/2006/main"/>
            <a:p xmlns:a="http://schemas.openxmlformats.org/drawingml/2006/main">
              <a:pPr>
                <a:defRPr sz="1050" b="1">
                  <a:solidFill>
                    <a:srgbClr val="111111"/>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11111"/>
                </a:solidFill>
              </a:defRPr>
            </a:pPr>
          </a:p>
        </c:txPr>
        <c:crossAx val="48672768"/>
      </c:catAx>
      <c:valAx>
        <c:axId val="48672768"/>
        <c:scaling>
          <c:orientation val="minMax"/>
          <c:max val="120"/>
          <c:min val="0"/>
        </c:scaling>
        <c:delete val="0"/>
        <c:axPos val="l"/>
        <c:majorGridlines>
          <c:spPr>
            <a:ln xmlns:a="http://schemas.openxmlformats.org/drawingml/2006/main" w="9525">
              <a:solidFill>
                <a:srgbClr val="E7E9EC"/>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5F6368"/>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F6368"/>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Records</c:v>
          </c:tx>
          <c:spPr>
            <a:solidFill xmlns:a="http://schemas.openxmlformats.org/drawingml/2006/main">
              <a:srgbClr val="F2C811"/>
            </a:solidFill>
          </c:spPr>
          <c:cat>
            <c:strLit>
              <c:ptCount val="5"/>
              <c:pt idx="0">
                <c:v>Reversed date sequence</c:v>
              </c:pt>
              <c:pt idx="1">
                <c:v>Late return</c:v>
              </c:pt>
              <c:pt idx="2">
                <c:v>Invalid calendar date</c:v>
              </c:pt>
              <c:pt idx="3">
                <c:v>Blank title</c:v>
              </c:pt>
              <c:pt idx="4">
                <c:v>Missing customer ID</c:v>
              </c:pt>
            </c:strLit>
          </c:cat>
          <c:val>
            <c:numLit>
              <c:formatCode>General</c:formatCode>
              <c:ptCount val="5"/>
              <c:pt idx="0">
                <c:v>6</c:v>
              </c:pt>
              <c:pt idx="1">
                <c:v>5</c:v>
              </c:pt>
              <c:pt idx="2">
                <c:v>1</c:v>
              </c:pt>
              <c:pt idx="3">
                <c:v>1</c:v>
              </c:pt>
              <c:pt idx="4">
                <c:v>1</c:v>
              </c:pt>
            </c:numLit>
          </c:val>
        </c:ser>
        <c:dLbls>
          <c:txPr>
            <a:bodyPr xmlns:a="http://schemas.openxmlformats.org/drawingml/2006/main" anchorCtr="1"/>
            <a:lstStyle xmlns:a="http://schemas.openxmlformats.org/drawingml/2006/main"/>
            <a:p xmlns:a="http://schemas.openxmlformats.org/drawingml/2006/main">
              <a:pPr>
                <a:defRPr sz="1125" b="1">
                  <a:solidFill>
                    <a:srgbClr val="111111"/>
                  </a:solidFill>
                </a:defRPr>
              </a:pPr>
            </a:p>
          </c:txPr>
          <c:dLblPos val="outEnd"/>
          <c:showLegendKey val="0"/>
          <c:showVal val="1"/>
          <c:showCatName val="0"/>
          <c:showSerName val="0"/>
          <c:showPercent val="0"/>
          <c:showBubbleSize val="0"/>
          <c:showLeaderLines val="0"/>
        </c:dLbls>
        <c:gapWidth val="52"/>
        <c:axId val="48650112"/>
        <c:axId val="48672768"/>
      </c:barChart>
      <c:catAx>
        <c:axId val="48650112"/>
        <c:scaling>
          <c:orientation val="minMax"/>
        </c:scaling>
        <c:delete val="0"/>
        <c:axPos val="l"/>
        <c:majorGridlines>
          <c:spPr>
            <a:ln xmlns:a="http://schemas.openxmlformats.org/drawingml/2006/main" w="9525">
              <a:solidFill>
                <a:srgbClr val="E7E9EC"/>
              </a:solidFill>
              <a:prstDash val="solid"/>
            </a:ln>
          </c:spPr>
        </c:majorGridlines>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00">
                <a:solidFill>
                  <a:srgbClr val="5F6368"/>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Raw</c:v>
          </c:tx>
          <c:spPr>
            <a:solidFill xmlns:a="http://schemas.openxmlformats.org/drawingml/2006/main">
              <a:srgbClr val="6DCBF4"/>
            </a:solidFill>
          </c:spPr>
          <c:cat>
            <c:strLit>
              <c:ptCount val="2"/>
              <c:pt idx="0">
                <c:v>Books</c:v>
              </c:pt>
              <c:pt idx="1">
                <c:v>Customers</c:v>
              </c:pt>
            </c:strLit>
          </c:cat>
          <c:val>
            <c:numLit>
              <c:formatCode>General</c:formatCode>
              <c:ptCount val="2"/>
              <c:pt idx="0">
                <c:v>114</c:v>
              </c:pt>
              <c:pt idx="1">
                <c:v>9</c:v>
              </c:pt>
            </c:numLit>
          </c:val>
        </c:ser>
        <c:ser>
          <c:idx val="1"/>
          <c:order val="1"/>
          <c:tx>
            <c:v>Clean</c:v>
          </c:tx>
          <c:spPr>
            <a:solidFill xmlns:a="http://schemas.openxmlformats.org/drawingml/2006/main">
              <a:srgbClr val="3D8DFF"/>
            </a:solidFill>
          </c:spPr>
          <c:cat>
            <c:strLit>
              <c:ptCount val="2"/>
              <c:pt idx="0">
                <c:v>Books</c:v>
              </c:pt>
              <c:pt idx="1">
                <c:v>Customers</c:v>
              </c:pt>
            </c:strLit>
          </c:cat>
          <c:val>
            <c:numLit>
              <c:formatCode>General</c:formatCode>
              <c:ptCount val="2"/>
              <c:pt idx="0">
                <c:v>21</c:v>
              </c:pt>
              <c:pt idx="1">
                <c:v>8</c:v>
              </c:pt>
            </c:numLit>
          </c:val>
        </c:ser>
        <c:dLbls>
          <c:txPr>
            <a:bodyPr xmlns:a="http://schemas.openxmlformats.org/drawingml/2006/main" anchorCtr="1"/>
            <a:lstStyle xmlns:a="http://schemas.openxmlformats.org/drawingml/2006/main"/>
            <a:p xmlns:a="http://schemas.openxmlformats.org/drawingml/2006/main">
              <a:pPr>
                <a:defRPr sz="900" b="1">
                  <a:solidFill>
                    <a:srgbClr val="111111"/>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75">
                <a:solidFill>
                  <a:srgbClr val="111111"/>
                </a:solidFill>
              </a:defRPr>
            </a:pPr>
          </a:p>
        </c:txPr>
        <c:crossAx val="48672768"/>
      </c:catAx>
      <c:valAx>
        <c:axId val="48672768"/>
        <c:scaling>
          <c:orientation val="minMax"/>
          <c:max val="120"/>
          <c:min val="0"/>
        </c:scaling>
        <c:delete val="0"/>
        <c:axPos val="l"/>
        <c:majorGridlines>
          <c:spPr>
            <a:ln xmlns:a="http://schemas.openxmlformats.org/drawingml/2006/main" w="9525">
              <a:solidFill>
                <a:srgbClr val="E7E9EC"/>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5F6368"/>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5F6368"/>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bar"/>
        <c:grouping val="clustered"/>
        <c:varyColors val="0"/>
        <c:ser>
          <c:idx val="0"/>
          <c:order val="0"/>
          <c:tx>
            <c:v>Records</c:v>
          </c:tx>
          <c:spPr>
            <a:solidFill xmlns:a="http://schemas.openxmlformats.org/drawingml/2006/main">
              <a:srgbClr val="F2C811"/>
            </a:solidFill>
          </c:spPr>
          <c:cat>
            <c:strLit>
              <c:ptCount val="5"/>
              <c:pt idx="0">
                <c:v>Reversed dates</c:v>
              </c:pt>
              <c:pt idx="1">
                <c:v>Late returns</c:v>
              </c:pt>
              <c:pt idx="2">
                <c:v>Invalid date</c:v>
              </c:pt>
              <c:pt idx="3">
                <c:v>Blank title</c:v>
              </c:pt>
              <c:pt idx="4">
                <c:v>Missing ID</c:v>
              </c:pt>
            </c:strLit>
          </c:cat>
          <c:val>
            <c:numLit>
              <c:formatCode>General</c:formatCode>
              <c:ptCount val="5"/>
              <c:pt idx="0">
                <c:v>6</c:v>
              </c:pt>
              <c:pt idx="1">
                <c:v>5</c:v>
              </c:pt>
              <c:pt idx="2">
                <c:v>1</c:v>
              </c:pt>
              <c:pt idx="3">
                <c:v>1</c:v>
              </c:pt>
              <c:pt idx="4">
                <c:v>1</c:v>
              </c:pt>
            </c:numLit>
          </c:val>
        </c:ser>
        <c:dLbls>
          <c:txPr>
            <a:bodyPr xmlns:a="http://schemas.openxmlformats.org/drawingml/2006/main" anchorCtr="1"/>
            <a:lstStyle xmlns:a="http://schemas.openxmlformats.org/drawingml/2006/main"/>
            <a:p xmlns:a="http://schemas.openxmlformats.org/drawingml/2006/main">
              <a:pPr>
                <a:defRPr sz="900" b="1">
                  <a:solidFill>
                    <a:srgbClr val="111111"/>
                  </a:solidFill>
                </a:defRPr>
              </a:pPr>
            </a:p>
          </c:txPr>
          <c:dLblPos val="outEnd"/>
          <c:showLegendKey val="0"/>
          <c:showVal val="1"/>
          <c:showCatName val="0"/>
          <c:showSerName val="0"/>
          <c:showPercent val="0"/>
          <c:showBubbleSize val="0"/>
          <c:showLeaderLines val="0"/>
        </c:dLbls>
        <c:gapWidth val="52"/>
        <c:axId val="48650112"/>
        <c:axId val="48672768"/>
      </c:barChart>
      <c:catAx>
        <c:axId val="48650112"/>
        <c:scaling>
          <c:orientation val="minMax"/>
        </c:scaling>
        <c:delete val="0"/>
        <c:axPos val="l"/>
        <c:majorGridlines>
          <c:spPr>
            <a:ln xmlns:a="http://schemas.openxmlformats.org/drawingml/2006/main" w="9525">
              <a:solidFill>
                <a:srgbClr val="E7E9EC"/>
              </a:solidFill>
              <a:prstDash val="solid"/>
            </a:ln>
          </c:spPr>
        </c:majorGridlines>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5F6368"/>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111111"/>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hape-0-0">
            <a:extLst xmlns:a="http://schemas.openxmlformats.org/drawingml/2006/main">
              <a:ext uri="{FF2B5EF4-FFF2-40B4-BE49-F238E27FC236}">
                <a16:creationId xmlns:a16="http://schemas.microsoft.com/office/drawing/2014/main" id="{B23DF636-6FC7-49BD-8D2D-A729A00D2BD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2C811"/>
          </a:solidFill>
          <a:ln xmlns:a="http://schemas.openxmlformats.org/drawingml/2006/main" w="0">
            <a:solidFill>
              <a:srgbClr val="F2C811"/>
            </a:solidFill>
            <a:prstDash val="solid"/>
          </a:ln>
        </p:spPr>
      </p:sp>
      <p:sp>
        <p:nvSpPr>
          <p:cNvPr id="2" name="text-58-52">
            <a:extLst xmlns:a="http://schemas.openxmlformats.org/drawingml/2006/main">
              <a:ext uri="{FF2B5EF4-FFF2-40B4-BE49-F238E27FC236}">
                <a16:creationId xmlns:a16="http://schemas.microsoft.com/office/drawing/2014/main" id="{809D4AF2-B223-49D6-8529-8477926F042E}"/>
              </a:ext>
            </a:extLst>
          </p:cNvPr>
          <p:cNvSpPr>
            <a:spLocks xmlns:a="http://schemas.openxmlformats.org/drawingml/2006/main" noGrp="1"/>
          </p:cNvSpPr>
          <p:nvPr/>
        </p:nvSpPr>
        <p:spPr>
          <a:xfrm xmlns:a="http://schemas.openxmlformats.org/drawingml/2006/main">
            <a:off x="552450" y="49530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LEVEL 5 DATA ENGINEERING PROJECT</a:t>
            </a:r>
          </a:p>
        </p:txBody>
      </p:sp>
      <p:sp>
        <p:nvSpPr>
          <p:cNvPr id="3" name="text-58-230">
            <a:extLst xmlns:a="http://schemas.openxmlformats.org/drawingml/2006/main">
              <a:ext uri="{FF2B5EF4-FFF2-40B4-BE49-F238E27FC236}">
                <a16:creationId xmlns:a16="http://schemas.microsoft.com/office/drawing/2014/main" id="{18AA9F7C-6E84-4A5B-8F77-160E28E15BC6}"/>
              </a:ext>
            </a:extLst>
          </p:cNvPr>
          <p:cNvSpPr>
            <a:spLocks xmlns:a="http://schemas.openxmlformats.org/drawingml/2006/main" noGrp="1"/>
          </p:cNvSpPr>
          <p:nvPr/>
        </p:nvSpPr>
        <p:spPr>
          <a:xfrm xmlns:a="http://schemas.openxmlformats.org/drawingml/2006/main">
            <a:off x="552450" y="2190750"/>
            <a:ext cx="8286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b"/>
          <a:lstStyle xmlns:a="http://schemas.openxmlformats.org/drawingml/2006/main"/>
          <a:p xmlns:a="http://schemas.openxmlformats.org/drawingml/2006/main">
            <a:pPr algn="l">
              <a:defRPr sz="4650" b="1">
                <a:solidFill>
                  <a:srgbClr val="111111"/>
                </a:solidFill>
                <a:latin typeface="Arial"/>
                <a:ea typeface="Arial"/>
                <a:cs typeface="Arial"/>
              </a:defRPr>
            </a:pPr>
            <a:r>
              <a:rPr sz="4650" b="1">
                <a:solidFill>
                  <a:srgbClr val="111111"/>
                </a:solidFill>
                <a:latin typeface="Arial"/>
                <a:ea typeface="Arial"/>
                <a:cs typeface="Arial"/>
              </a:rPr>
              <a:t>Data cleaning that</a:t>
            </a:r>
          </a:p>
          <a:p xmlns:a="http://schemas.openxmlformats.org/drawingml/2006/main">
            <a:pPr algn="l">
              <a:defRPr sz="4650" b="1">
                <a:solidFill>
                  <a:srgbClr val="111111"/>
                </a:solidFill>
                <a:latin typeface="Arial"/>
                <a:ea typeface="Arial"/>
                <a:cs typeface="Arial"/>
              </a:defRPr>
            </a:pPr>
            <a:r>
              <a:rPr sz="4650" b="1">
                <a:solidFill>
                  <a:srgbClr val="111111"/>
                </a:solidFill>
                <a:latin typeface="Arial"/>
                <a:ea typeface="Arial"/>
                <a:cs typeface="Arial"/>
              </a:rPr>
              <a:t>proves what changed</a:t>
            </a:r>
          </a:p>
        </p:txBody>
      </p:sp>
      <p:sp>
        <p:nvSpPr>
          <p:cNvPr id="4" name="text-58-470">
            <a:extLst xmlns:a="http://schemas.openxmlformats.org/drawingml/2006/main">
              <a:ext uri="{FF2B5EF4-FFF2-40B4-BE49-F238E27FC236}">
                <a16:creationId xmlns:a16="http://schemas.microsoft.com/office/drawing/2014/main" id="{CA1D7AD7-EDFA-41B4-9D2B-A8F6BF615102}"/>
              </a:ext>
            </a:extLst>
          </p:cNvPr>
          <p:cNvSpPr>
            <a:spLocks xmlns:a="http://schemas.openxmlformats.org/drawingml/2006/main" noGrp="1"/>
          </p:cNvSpPr>
          <p:nvPr/>
        </p:nvSpPr>
        <p:spPr>
          <a:xfrm xmlns:a="http://schemas.openxmlformats.org/drawingml/2006/main">
            <a:off x="552450" y="4476750"/>
            <a:ext cx="828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0">
                <a:solidFill>
                  <a:srgbClr val="5F6368"/>
                </a:solidFill>
                <a:latin typeface="Arial"/>
                <a:ea typeface="Arial"/>
                <a:cs typeface="Arial"/>
              </a:defRPr>
            </a:pPr>
            <a:r>
              <a:rPr sz="1950" b="0">
                <a:solidFill>
                  <a:srgbClr val="5F6368"/>
                </a:solidFill>
                <a:latin typeface="Arial"/>
                <a:ea typeface="Arial"/>
                <a:cs typeface="Arial"/>
              </a:rPr>
              <a:t>Python pipeline metrics and Power BI presentation</a:t>
            </a:r>
          </a:p>
        </p:txBody>
      </p:sp>
      <p:sp>
        <p:nvSpPr>
          <p:cNvPr id="5" name="rule-560">
            <a:extLst xmlns:a="http://schemas.openxmlformats.org/drawingml/2006/main">
              <a:ext uri="{FF2B5EF4-FFF2-40B4-BE49-F238E27FC236}">
                <a16:creationId xmlns:a16="http://schemas.microsoft.com/office/drawing/2014/main" id="{EED256E8-D5CE-4A1A-A002-6C323A4C6991}"/>
              </a:ext>
            </a:extLst>
          </p:cNvPr>
          <p:cNvSpPr>
            <a:spLocks xmlns:a="http://schemas.openxmlformats.org/drawingml/2006/main" noGrp="1"/>
          </p:cNvSpPr>
          <p:nvPr/>
        </p:nvSpPr>
        <p:spPr>
          <a:xfrm xmlns:a="http://schemas.openxmlformats.org/drawingml/2006/main">
            <a:off x="552450" y="5334000"/>
            <a:ext cx="495300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6" name="text-58-580">
            <a:extLst xmlns:a="http://schemas.openxmlformats.org/drawingml/2006/main">
              <a:ext uri="{FF2B5EF4-FFF2-40B4-BE49-F238E27FC236}">
                <a16:creationId xmlns:a16="http://schemas.microsoft.com/office/drawing/2014/main" id="{A08B6B5F-830D-4C61-81C3-7814CF913B58}"/>
              </a:ext>
            </a:extLst>
          </p:cNvPr>
          <p:cNvSpPr>
            <a:spLocks xmlns:a="http://schemas.openxmlformats.org/drawingml/2006/main" noGrp="1"/>
          </p:cNvSpPr>
          <p:nvPr/>
        </p:nvSpPr>
        <p:spPr>
          <a:xfrm xmlns:a="http://schemas.openxmlformats.org/drawingml/2006/main">
            <a:off x="552450" y="55245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F6368"/>
                </a:solidFill>
                <a:latin typeface="Arial"/>
                <a:ea typeface="Arial"/>
                <a:cs typeface="Arial"/>
              </a:defRPr>
            </a:pPr>
            <a:r>
              <a:rPr sz="1350" b="0">
                <a:solidFill>
                  <a:srgbClr val="5F6368"/>
                </a:solidFill>
                <a:latin typeface="Arial"/>
                <a:ea typeface="Arial"/>
                <a:cs typeface="Arial"/>
              </a:rPr>
              <a:t>Valdemar Teixeira  |  Day 2 project</a:t>
            </a:r>
          </a:p>
        </p:txBody>
      </p:sp>
      <p:sp>
        <p:nvSpPr>
          <p:cNvPr id="7" name="text-760-653">
            <a:extLst xmlns:a="http://schemas.openxmlformats.org/drawingml/2006/main">
              <a:ext uri="{FF2B5EF4-FFF2-40B4-BE49-F238E27FC236}">
                <a16:creationId xmlns:a16="http://schemas.microsoft.com/office/drawing/2014/main" id="{1CDE260E-D3EB-4793-AC1B-C28CC3B801EC}"/>
              </a:ext>
            </a:extLst>
          </p:cNvPr>
          <p:cNvSpPr>
            <a:spLocks xmlns:a="http://schemas.openxmlformats.org/drawingml/2006/main" noGrp="1"/>
          </p:cNvSpPr>
          <p:nvPr/>
        </p:nvSpPr>
        <p:spPr>
          <a:xfrm xmlns:a="http://schemas.openxmlformats.org/drawingml/2006/main">
            <a:off x="7239000" y="6219825"/>
            <a:ext cx="4400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1">
                <a:solidFill>
                  <a:srgbClr val="111111"/>
                </a:solidFill>
                <a:latin typeface="Arial"/>
                <a:ea typeface="Arial"/>
                <a:cs typeface="Arial"/>
              </a:defRPr>
            </a:pPr>
            <a:r>
              <a:rPr sz="975" b="1">
                <a:solidFill>
                  <a:srgbClr val="111111"/>
                </a:solidFill>
                <a:latin typeface="Arial"/>
                <a:ea typeface="Arial"/>
                <a:cs typeface="Arial"/>
              </a:rPr>
              <a:t>PYTHON  •  DATA QUALITY  •  OBSERVABILITY  •  POWER BI</a:t>
            </a:r>
          </a:p>
        </p:txBody>
      </p:sp>
    </p:spTree>
    <p:extLst>
      <p:ext uri="{BB962C8B-B14F-4D97-AF65-F5344CB8AC3E}">
        <p14:creationId xmlns:p14="http://schemas.microsoft.com/office/powerpoint/2010/main" val="19873015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A273FDC7-8CFD-4B8F-98CA-69E0845DF555}"/>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E50D1465-D2DD-4B56-B6EC-551BCF0E9951}"/>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The final pipeline proves what changed—not just what it saved</a:t>
            </a:r>
          </a:p>
        </p:txBody>
      </p:sp>
      <p:sp>
        <p:nvSpPr>
          <p:cNvPr id="3" name="rule-143">
            <a:extLst xmlns:a="http://schemas.openxmlformats.org/drawingml/2006/main">
              <a:ext uri="{FF2B5EF4-FFF2-40B4-BE49-F238E27FC236}">
                <a16:creationId xmlns:a16="http://schemas.microsoft.com/office/drawing/2014/main" id="{C46FB49A-D2F8-4429-8915-DEA8B9AAB47A}"/>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BD6EF9E9-A374-4C2F-B1A0-459038FAC829}"/>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02</a:t>
            </a:r>
          </a:p>
        </p:txBody>
      </p:sp>
      <p:sp>
        <p:nvSpPr>
          <p:cNvPr id="5" name="text-58-190">
            <a:extLst xmlns:a="http://schemas.openxmlformats.org/drawingml/2006/main">
              <a:ext uri="{FF2B5EF4-FFF2-40B4-BE49-F238E27FC236}">
                <a16:creationId xmlns:a16="http://schemas.microsoft.com/office/drawing/2014/main" id="{AE055D62-CC14-47AC-A629-C0B019A8DB03}"/>
              </a:ext>
            </a:extLst>
          </p:cNvPr>
          <p:cNvSpPr>
            <a:spLocks xmlns:a="http://schemas.openxmlformats.org/drawingml/2006/main" noGrp="1"/>
          </p:cNvSpPr>
          <p:nvPr/>
        </p:nvSpPr>
        <p:spPr>
          <a:xfrm xmlns:a="http://schemas.openxmlformats.org/drawingml/2006/main">
            <a:off x="552450" y="18097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5F6368"/>
                </a:solidFill>
                <a:latin typeface="Arial"/>
                <a:ea typeface="Arial"/>
                <a:cs typeface="Arial"/>
              </a:defRPr>
            </a:pPr>
            <a:r>
              <a:rPr sz="1650" b="1">
                <a:solidFill>
                  <a:srgbClr val="5F6368"/>
                </a:solidFill>
                <a:latin typeface="Arial"/>
                <a:ea typeface="Arial"/>
                <a:cs typeface="Arial"/>
              </a:rPr>
              <a:t>BEFORE</a:t>
            </a:r>
          </a:p>
        </p:txBody>
      </p:sp>
      <p:sp>
        <p:nvSpPr>
          <p:cNvPr id="6" name="text-700-190">
            <a:extLst xmlns:a="http://schemas.openxmlformats.org/drawingml/2006/main">
              <a:ext uri="{FF2B5EF4-FFF2-40B4-BE49-F238E27FC236}">
                <a16:creationId xmlns:a16="http://schemas.microsoft.com/office/drawing/2014/main" id="{F5DFCCCF-A6F2-4033-83B3-47C12C12D38E}"/>
              </a:ext>
            </a:extLst>
          </p:cNvPr>
          <p:cNvSpPr>
            <a:spLocks xmlns:a="http://schemas.openxmlformats.org/drawingml/2006/main" noGrp="1"/>
          </p:cNvSpPr>
          <p:nvPr/>
        </p:nvSpPr>
        <p:spPr>
          <a:xfrm xmlns:a="http://schemas.openxmlformats.org/drawingml/2006/main">
            <a:off x="6667500" y="18097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AFTER THE REFACTOR</a:t>
            </a:r>
          </a:p>
        </p:txBody>
      </p:sp>
      <p:sp>
        <p:nvSpPr>
          <p:cNvPr id="7" name="rule-180">
            <a:extLst xmlns:a="http://schemas.openxmlformats.org/drawingml/2006/main">
              <a:ext uri="{FF2B5EF4-FFF2-40B4-BE49-F238E27FC236}">
                <a16:creationId xmlns:a16="http://schemas.microsoft.com/office/drawing/2014/main" id="{5AC8FA80-6115-4ACF-9E61-7B55F34F6CD7}"/>
              </a:ext>
            </a:extLst>
          </p:cNvPr>
          <p:cNvSpPr>
            <a:spLocks xmlns:a="http://schemas.openxmlformats.org/drawingml/2006/main" noGrp="1"/>
          </p:cNvSpPr>
          <p:nvPr/>
        </p:nvSpPr>
        <p:spPr>
          <a:xfrm xmlns:a="http://schemas.openxmlformats.org/drawingml/2006/main">
            <a:off x="6096000" y="1714500"/>
            <a:ext cx="19050" cy="39052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text-58-248">
            <a:extLst xmlns:a="http://schemas.openxmlformats.org/drawingml/2006/main">
              <a:ext uri="{FF2B5EF4-FFF2-40B4-BE49-F238E27FC236}">
                <a16:creationId xmlns:a16="http://schemas.microsoft.com/office/drawing/2014/main" id="{475C40AB-76B5-4BD0-A972-831F37563A32}"/>
              </a:ext>
            </a:extLst>
          </p:cNvPr>
          <p:cNvSpPr>
            <a:spLocks xmlns:a="http://schemas.openxmlformats.org/drawingml/2006/main" noGrp="1"/>
          </p:cNvSpPr>
          <p:nvPr/>
        </p:nvSpPr>
        <p:spPr>
          <a:xfrm xmlns:a="http://schemas.openxmlformats.org/drawingml/2006/main">
            <a:off x="552450" y="2362200"/>
            <a:ext cx="457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Arial"/>
                <a:ea typeface="Arial"/>
                <a:cs typeface="Arial"/>
              </a:defRPr>
            </a:pPr>
            <a:r>
              <a:rPr sz="2325" b="1">
                <a:solidFill>
                  <a:srgbClr val="111111"/>
                </a:solidFill>
                <a:latin typeface="Arial"/>
                <a:ea typeface="Arial"/>
                <a:cs typeface="Arial"/>
              </a:rPr>
              <a:t>Two clean CSV outputs</a:t>
            </a:r>
          </a:p>
        </p:txBody>
      </p:sp>
      <p:sp>
        <p:nvSpPr>
          <p:cNvPr id="9" name="text-58-324">
            <a:extLst xmlns:a="http://schemas.openxmlformats.org/drawingml/2006/main">
              <a:ext uri="{FF2B5EF4-FFF2-40B4-BE49-F238E27FC236}">
                <a16:creationId xmlns:a16="http://schemas.microsoft.com/office/drawing/2014/main" id="{C2145317-7C42-473F-8F46-67041B3FD39D}"/>
              </a:ext>
            </a:extLst>
          </p:cNvPr>
          <p:cNvSpPr>
            <a:spLocks xmlns:a="http://schemas.openxmlformats.org/drawingml/2006/main" noGrp="1"/>
          </p:cNvSpPr>
          <p:nvPr/>
        </p:nvSpPr>
        <p:spPr>
          <a:xfrm xmlns:a="http://schemas.openxmlformats.org/drawingml/2006/main">
            <a:off x="552450" y="3086100"/>
            <a:ext cx="47625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5F6368"/>
                </a:solidFill>
                <a:latin typeface="Arial"/>
                <a:ea typeface="Arial"/>
                <a:cs typeface="Arial"/>
              </a:defRPr>
            </a:pPr>
            <a:r>
              <a:rPr sz="1650" b="0">
                <a:solidFill>
                  <a:srgbClr val="5F6368"/>
                </a:solidFill>
                <a:latin typeface="Arial"/>
                <a:ea typeface="Arial"/>
                <a:cs typeface="Arial"/>
              </a:rPr>
              <a:t>The script produced results, but there was no run history, step-level evidence or performance record.</a:t>
            </a:r>
          </a:p>
        </p:txBody>
      </p:sp>
      <p:sp>
        <p:nvSpPr>
          <p:cNvPr id="10" name="shape-700-256">
            <a:extLst xmlns:a="http://schemas.openxmlformats.org/drawingml/2006/main">
              <a:ext uri="{FF2B5EF4-FFF2-40B4-BE49-F238E27FC236}">
                <a16:creationId xmlns:a16="http://schemas.microsoft.com/office/drawing/2014/main" id="{37C23806-9E02-410D-A1B4-0BE181E8C873}"/>
              </a:ext>
            </a:extLst>
          </p:cNvPr>
          <p:cNvSpPr>
            <a:spLocks xmlns:a="http://schemas.openxmlformats.org/drawingml/2006/main" noGrp="1"/>
          </p:cNvSpPr>
          <p:nvPr/>
        </p:nvSpPr>
        <p:spPr>
          <a:xfrm xmlns:a="http://schemas.openxmlformats.org/drawingml/2006/main">
            <a:off x="6667500" y="2438400"/>
            <a:ext cx="95250" cy="95250"/>
          </a:xfrm>
          <a:prstGeom xmlns:a="http://schemas.openxmlformats.org/drawingml/2006/main" prst="ellipse">
            <a:avLst/>
          </a:prstGeom>
          <a:solidFill xmlns:a="http://schemas.openxmlformats.org/drawingml/2006/main">
            <a:srgbClr val="F2C811"/>
          </a:solidFill>
          <a:ln xmlns:a="http://schemas.openxmlformats.org/drawingml/2006/main" w="0">
            <a:solidFill>
              <a:srgbClr val="F2C811"/>
            </a:solidFill>
            <a:prstDash val="solid"/>
          </a:ln>
        </p:spPr>
      </p:sp>
      <p:sp>
        <p:nvSpPr>
          <p:cNvPr id="11" name="text-728-248">
            <a:extLst xmlns:a="http://schemas.openxmlformats.org/drawingml/2006/main">
              <a:ext uri="{FF2B5EF4-FFF2-40B4-BE49-F238E27FC236}">
                <a16:creationId xmlns:a16="http://schemas.microsoft.com/office/drawing/2014/main" id="{B655EC4A-3C28-4D41-9551-E2340CE095BE}"/>
              </a:ext>
            </a:extLst>
          </p:cNvPr>
          <p:cNvSpPr>
            <a:spLocks xmlns:a="http://schemas.openxmlformats.org/drawingml/2006/main" noGrp="1"/>
          </p:cNvSpPr>
          <p:nvPr/>
        </p:nvSpPr>
        <p:spPr>
          <a:xfrm xmlns:a="http://schemas.openxmlformats.org/drawingml/2006/main">
            <a:off x="6934200" y="23622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Unique run ID and UTC timestamp</a:t>
            </a:r>
          </a:p>
        </p:txBody>
      </p:sp>
      <p:sp>
        <p:nvSpPr>
          <p:cNvPr id="12" name="shape-700-324">
            <a:extLst xmlns:a="http://schemas.openxmlformats.org/drawingml/2006/main">
              <a:ext uri="{FF2B5EF4-FFF2-40B4-BE49-F238E27FC236}">
                <a16:creationId xmlns:a16="http://schemas.microsoft.com/office/drawing/2014/main" id="{693F7AD1-2B08-4AB2-8E98-51FAB90BDC89}"/>
              </a:ext>
            </a:extLst>
          </p:cNvPr>
          <p:cNvSpPr>
            <a:spLocks xmlns:a="http://schemas.openxmlformats.org/drawingml/2006/main" noGrp="1"/>
          </p:cNvSpPr>
          <p:nvPr/>
        </p:nvSpPr>
        <p:spPr>
          <a:xfrm xmlns:a="http://schemas.openxmlformats.org/drawingml/2006/main">
            <a:off x="6667500" y="3086100"/>
            <a:ext cx="95250" cy="95250"/>
          </a:xfrm>
          <a:prstGeom xmlns:a="http://schemas.openxmlformats.org/drawingml/2006/main" prst="ellipse">
            <a:avLst/>
          </a:prstGeom>
          <a:solidFill xmlns:a="http://schemas.openxmlformats.org/drawingml/2006/main">
            <a:srgbClr val="F2C811"/>
          </a:solidFill>
          <a:ln xmlns:a="http://schemas.openxmlformats.org/drawingml/2006/main" w="0">
            <a:solidFill>
              <a:srgbClr val="F2C811"/>
            </a:solidFill>
            <a:prstDash val="solid"/>
          </a:ln>
        </p:spPr>
      </p:sp>
      <p:sp>
        <p:nvSpPr>
          <p:cNvPr id="13" name="text-728-316">
            <a:extLst xmlns:a="http://schemas.openxmlformats.org/drawingml/2006/main">
              <a:ext uri="{FF2B5EF4-FFF2-40B4-BE49-F238E27FC236}">
                <a16:creationId xmlns:a16="http://schemas.microsoft.com/office/drawing/2014/main" id="{22C22235-B684-42B2-B938-6F4A86A2291C}"/>
              </a:ext>
            </a:extLst>
          </p:cNvPr>
          <p:cNvSpPr>
            <a:spLocks xmlns:a="http://schemas.openxmlformats.org/drawingml/2006/main" noGrp="1"/>
          </p:cNvSpPr>
          <p:nvPr/>
        </p:nvSpPr>
        <p:spPr>
          <a:xfrm xmlns:a="http://schemas.openxmlformats.org/drawingml/2006/main">
            <a:off x="6934200" y="30099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Before-and-after metrics for every step</a:t>
            </a:r>
          </a:p>
        </p:txBody>
      </p:sp>
      <p:sp>
        <p:nvSpPr>
          <p:cNvPr id="14" name="shape-700-392">
            <a:extLst xmlns:a="http://schemas.openxmlformats.org/drawingml/2006/main">
              <a:ext uri="{FF2B5EF4-FFF2-40B4-BE49-F238E27FC236}">
                <a16:creationId xmlns:a16="http://schemas.microsoft.com/office/drawing/2014/main" id="{60C225C0-861B-4080-9CC7-47BC0BF27DD7}"/>
              </a:ext>
            </a:extLst>
          </p:cNvPr>
          <p:cNvSpPr>
            <a:spLocks xmlns:a="http://schemas.openxmlformats.org/drawingml/2006/main" noGrp="1"/>
          </p:cNvSpPr>
          <p:nvPr/>
        </p:nvSpPr>
        <p:spPr>
          <a:xfrm xmlns:a="http://schemas.openxmlformats.org/drawingml/2006/main">
            <a:off x="6667500" y="3733800"/>
            <a:ext cx="95250" cy="95250"/>
          </a:xfrm>
          <a:prstGeom xmlns:a="http://schemas.openxmlformats.org/drawingml/2006/main" prst="ellipse">
            <a:avLst/>
          </a:prstGeom>
          <a:solidFill xmlns:a="http://schemas.openxmlformats.org/drawingml/2006/main">
            <a:srgbClr val="F2C811"/>
          </a:solidFill>
          <a:ln xmlns:a="http://schemas.openxmlformats.org/drawingml/2006/main" w="0">
            <a:solidFill>
              <a:srgbClr val="F2C811"/>
            </a:solidFill>
            <a:prstDash val="solid"/>
          </a:ln>
        </p:spPr>
      </p:sp>
      <p:sp>
        <p:nvSpPr>
          <p:cNvPr id="15" name="text-728-384">
            <a:extLst xmlns:a="http://schemas.openxmlformats.org/drawingml/2006/main">
              <a:ext uri="{FF2B5EF4-FFF2-40B4-BE49-F238E27FC236}">
                <a16:creationId xmlns:a16="http://schemas.microsoft.com/office/drawing/2014/main" id="{79F8B64A-DF94-4457-94FF-0B555CA09A59}"/>
              </a:ext>
            </a:extLst>
          </p:cNvPr>
          <p:cNvSpPr>
            <a:spLocks xmlns:a="http://schemas.openxmlformats.org/drawingml/2006/main" noGrp="1"/>
          </p:cNvSpPr>
          <p:nvPr/>
        </p:nvSpPr>
        <p:spPr>
          <a:xfrm xmlns:a="http://schemas.openxmlformats.org/drawingml/2006/main">
            <a:off x="6934200" y="36576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Quality warnings retained for investigation</a:t>
            </a:r>
          </a:p>
        </p:txBody>
      </p:sp>
      <p:sp>
        <p:nvSpPr>
          <p:cNvPr id="16" name="shape-700-460">
            <a:extLst xmlns:a="http://schemas.openxmlformats.org/drawingml/2006/main">
              <a:ext uri="{FF2B5EF4-FFF2-40B4-BE49-F238E27FC236}">
                <a16:creationId xmlns:a16="http://schemas.microsoft.com/office/drawing/2014/main" id="{70F15223-C7E6-43C7-BF9D-010357EE3A15}"/>
              </a:ext>
            </a:extLst>
          </p:cNvPr>
          <p:cNvSpPr>
            <a:spLocks xmlns:a="http://schemas.openxmlformats.org/drawingml/2006/main" noGrp="1"/>
          </p:cNvSpPr>
          <p:nvPr/>
        </p:nvSpPr>
        <p:spPr>
          <a:xfrm xmlns:a="http://schemas.openxmlformats.org/drawingml/2006/main">
            <a:off x="6667500" y="4381500"/>
            <a:ext cx="95250" cy="95250"/>
          </a:xfrm>
          <a:prstGeom xmlns:a="http://schemas.openxmlformats.org/drawingml/2006/main" prst="ellipse">
            <a:avLst/>
          </a:prstGeom>
          <a:solidFill xmlns:a="http://schemas.openxmlformats.org/drawingml/2006/main">
            <a:srgbClr val="F2C811"/>
          </a:solidFill>
          <a:ln xmlns:a="http://schemas.openxmlformats.org/drawingml/2006/main" w="0">
            <a:solidFill>
              <a:srgbClr val="F2C811"/>
            </a:solidFill>
            <a:prstDash val="solid"/>
          </a:ln>
        </p:spPr>
      </p:sp>
      <p:sp>
        <p:nvSpPr>
          <p:cNvPr id="17" name="text-728-452">
            <a:extLst xmlns:a="http://schemas.openxmlformats.org/drawingml/2006/main">
              <a:ext uri="{FF2B5EF4-FFF2-40B4-BE49-F238E27FC236}">
                <a16:creationId xmlns:a16="http://schemas.microsoft.com/office/drawing/2014/main" id="{E6F3E2C7-007B-4F9F-B530-91CC9F7F7D6C}"/>
              </a:ext>
            </a:extLst>
          </p:cNvPr>
          <p:cNvSpPr>
            <a:spLocks xmlns:a="http://schemas.openxmlformats.org/drawingml/2006/main" noGrp="1"/>
          </p:cNvSpPr>
          <p:nvPr/>
        </p:nvSpPr>
        <p:spPr>
          <a:xfrm xmlns:a="http://schemas.openxmlformats.org/drawingml/2006/main">
            <a:off x="6934200" y="4305300"/>
            <a:ext cx="4495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11111"/>
                </a:solidFill>
                <a:latin typeface="Arial"/>
                <a:ea typeface="Arial"/>
                <a:cs typeface="Arial"/>
              </a:defRPr>
            </a:pPr>
            <a:r>
              <a:rPr sz="1650" b="0">
                <a:solidFill>
                  <a:srgbClr val="111111"/>
                </a:solidFill>
                <a:latin typeface="Arial"/>
                <a:ea typeface="Arial"/>
                <a:cs typeface="Arial"/>
              </a:rPr>
              <a:t>Historical CSV ready for Power BI</a:t>
            </a:r>
          </a:p>
        </p:txBody>
      </p:sp>
    </p:spTree>
    <p:extLst>
      <p:ext uri="{BB962C8B-B14F-4D97-AF65-F5344CB8AC3E}">
        <p14:creationId xmlns:p14="http://schemas.microsoft.com/office/powerpoint/2010/main" val="198959487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
            <a:extLst xmlns:a="http://schemas.openxmlformats.org/drawingml/2006/main">
              <a:ext uri="{FF2B5EF4-FFF2-40B4-BE49-F238E27FC236}">
                <a16:creationId xmlns:a16="http://schemas.microsoft.com/office/drawing/2014/main" id="{6FBFD423-76CD-4A72-A624-2D5F679A82A1}"/>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99CF1190-EBBC-43E8-B4EC-3707A4128236}"/>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One execution now produces clean data and an audit trail</a:t>
            </a:r>
          </a:p>
        </p:txBody>
      </p:sp>
      <p:sp>
        <p:nvSpPr>
          <p:cNvPr id="3" name="rule-143">
            <a:extLst xmlns:a="http://schemas.openxmlformats.org/drawingml/2006/main">
              <a:ext uri="{FF2B5EF4-FFF2-40B4-BE49-F238E27FC236}">
                <a16:creationId xmlns:a16="http://schemas.microsoft.com/office/drawing/2014/main" id="{866C3EFA-FD64-4292-B2AD-98C5165CFDC5}"/>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213DDD35-949B-4C3A-BE3E-D8D50E7EFE65}"/>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03</a:t>
            </a:r>
          </a:p>
        </p:txBody>
      </p:sp>
      <p:sp>
        <p:nvSpPr>
          <p:cNvPr id="5" name="shape-225-330">
            <a:extLst xmlns:a="http://schemas.openxmlformats.org/drawingml/2006/main">
              <a:ext uri="{FF2B5EF4-FFF2-40B4-BE49-F238E27FC236}">
                <a16:creationId xmlns:a16="http://schemas.microsoft.com/office/drawing/2014/main" id="{C28C86DF-B1CA-4C98-805A-D3615EA2DA5A}"/>
              </a:ext>
            </a:extLst>
          </p:cNvPr>
          <p:cNvSpPr>
            <a:spLocks xmlns:a="http://schemas.openxmlformats.org/drawingml/2006/main" noGrp="1"/>
          </p:cNvSpPr>
          <p:nvPr/>
        </p:nvSpPr>
        <p:spPr>
          <a:xfrm xmlns:a="http://schemas.openxmlformats.org/drawingml/2006/main">
            <a:off x="2143125" y="3143250"/>
            <a:ext cx="1000125"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6" name="shape-515-280">
            <a:extLst xmlns:a="http://schemas.openxmlformats.org/drawingml/2006/main">
              <a:ext uri="{FF2B5EF4-FFF2-40B4-BE49-F238E27FC236}">
                <a16:creationId xmlns:a16="http://schemas.microsoft.com/office/drawing/2014/main" id="{6908AC82-62D8-406D-9350-0F548A4C87FE}"/>
              </a:ext>
            </a:extLst>
          </p:cNvPr>
          <p:cNvSpPr>
            <a:spLocks xmlns:a="http://schemas.openxmlformats.org/drawingml/2006/main" noGrp="1"/>
          </p:cNvSpPr>
          <p:nvPr/>
        </p:nvSpPr>
        <p:spPr>
          <a:xfrm xmlns:a="http://schemas.openxmlformats.org/drawingml/2006/main">
            <a:off x="4905375" y="2667000"/>
            <a:ext cx="809625"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7" name="shape-515-383">
            <a:extLst xmlns:a="http://schemas.openxmlformats.org/drawingml/2006/main">
              <a:ext uri="{FF2B5EF4-FFF2-40B4-BE49-F238E27FC236}">
                <a16:creationId xmlns:a16="http://schemas.microsoft.com/office/drawing/2014/main" id="{39BCC049-4747-408C-81B6-32636A98359D}"/>
              </a:ext>
            </a:extLst>
          </p:cNvPr>
          <p:cNvSpPr>
            <a:spLocks xmlns:a="http://schemas.openxmlformats.org/drawingml/2006/main" noGrp="1"/>
          </p:cNvSpPr>
          <p:nvPr/>
        </p:nvSpPr>
        <p:spPr>
          <a:xfrm xmlns:a="http://schemas.openxmlformats.org/drawingml/2006/main">
            <a:off x="4905375" y="3648075"/>
            <a:ext cx="809625"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8" name="shape-805-383">
            <a:extLst xmlns:a="http://schemas.openxmlformats.org/drawingml/2006/main">
              <a:ext uri="{FF2B5EF4-FFF2-40B4-BE49-F238E27FC236}">
                <a16:creationId xmlns:a16="http://schemas.microsoft.com/office/drawing/2014/main" id="{EB8C1976-7B19-494A-A2AC-5F76371709E9}"/>
              </a:ext>
            </a:extLst>
          </p:cNvPr>
          <p:cNvSpPr>
            <a:spLocks xmlns:a="http://schemas.openxmlformats.org/drawingml/2006/main" noGrp="1"/>
          </p:cNvSpPr>
          <p:nvPr/>
        </p:nvSpPr>
        <p:spPr>
          <a:xfrm xmlns:a="http://schemas.openxmlformats.org/drawingml/2006/main">
            <a:off x="7667625" y="3648075"/>
            <a:ext cx="809625"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shape-887-330">
            <a:extLst xmlns:a="http://schemas.openxmlformats.org/drawingml/2006/main">
              <a:ext uri="{FF2B5EF4-FFF2-40B4-BE49-F238E27FC236}">
                <a16:creationId xmlns:a16="http://schemas.microsoft.com/office/drawing/2014/main" id="{75438309-54E6-4055-85F8-1C0494565C4D}"/>
              </a:ext>
            </a:extLst>
          </p:cNvPr>
          <p:cNvSpPr>
            <a:spLocks xmlns:a="http://schemas.openxmlformats.org/drawingml/2006/main" noGrp="1"/>
          </p:cNvSpPr>
          <p:nvPr/>
        </p:nvSpPr>
        <p:spPr>
          <a:xfrm xmlns:a="http://schemas.openxmlformats.org/drawingml/2006/main">
            <a:off x="8448675" y="3143250"/>
            <a:ext cx="28575" cy="53340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0" name="shape-805-280">
            <a:extLst xmlns:a="http://schemas.openxmlformats.org/drawingml/2006/main">
              <a:ext uri="{FF2B5EF4-FFF2-40B4-BE49-F238E27FC236}">
                <a16:creationId xmlns:a16="http://schemas.microsoft.com/office/drawing/2014/main" id="{4536C0E4-F316-4322-940D-1F3A6E9B6736}"/>
              </a:ext>
            </a:extLst>
          </p:cNvPr>
          <p:cNvSpPr>
            <a:spLocks xmlns:a="http://schemas.openxmlformats.org/drawingml/2006/main" noGrp="1"/>
          </p:cNvSpPr>
          <p:nvPr/>
        </p:nvSpPr>
        <p:spPr>
          <a:xfrm xmlns:a="http://schemas.openxmlformats.org/drawingml/2006/main">
            <a:off x="7667625" y="2667000"/>
            <a:ext cx="790575" cy="2857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shape-58-265">
            <a:extLst xmlns:a="http://schemas.openxmlformats.org/drawingml/2006/main">
              <a:ext uri="{FF2B5EF4-FFF2-40B4-BE49-F238E27FC236}">
                <a16:creationId xmlns:a16="http://schemas.microsoft.com/office/drawing/2014/main" id="{8A6EF350-C506-494B-8503-E833E0CEAE47}"/>
              </a:ext>
            </a:extLst>
          </p:cNvPr>
          <p:cNvSpPr>
            <a:spLocks xmlns:a="http://schemas.openxmlformats.org/drawingml/2006/main" noGrp="1"/>
          </p:cNvSpPr>
          <p:nvPr/>
        </p:nvSpPr>
        <p:spPr>
          <a:xfrm xmlns:a="http://schemas.openxmlformats.org/drawingml/2006/main">
            <a:off x="552450" y="2524125"/>
            <a:ext cx="1600200" cy="1285875"/>
          </a:xfrm>
          <a:prstGeom xmlns:a="http://schemas.openxmlformats.org/drawingml/2006/main" prst="roundRect">
            <a:avLst>
              <a:gd name="adj" fmla="val 8889"/>
            </a:avLst>
          </a:prstGeom>
          <a:solidFill xmlns:a="http://schemas.openxmlformats.org/drawingml/2006/main">
            <a:srgbClr val="F1F2F4"/>
          </a:solidFill>
          <a:ln xmlns:a="http://schemas.openxmlformats.org/drawingml/2006/main" w="0">
            <a:solidFill>
              <a:srgbClr val="F1F2F4"/>
            </a:solidFill>
            <a:prstDash val="solid"/>
          </a:ln>
        </p:spPr>
      </p:sp>
      <p:sp>
        <p:nvSpPr>
          <p:cNvPr id="12" name="text-78-288">
            <a:extLst xmlns:a="http://schemas.openxmlformats.org/drawingml/2006/main">
              <a:ext uri="{FF2B5EF4-FFF2-40B4-BE49-F238E27FC236}">
                <a16:creationId xmlns:a16="http://schemas.microsoft.com/office/drawing/2014/main" id="{2DCF1DFC-ADCA-43DC-A2C6-948571196CC0}"/>
              </a:ext>
            </a:extLst>
          </p:cNvPr>
          <p:cNvSpPr>
            <a:spLocks xmlns:a="http://schemas.openxmlformats.org/drawingml/2006/main" noGrp="1"/>
          </p:cNvSpPr>
          <p:nvPr/>
        </p:nvSpPr>
        <p:spPr>
          <a:xfrm xmlns:a="http://schemas.openxmlformats.org/drawingml/2006/main">
            <a:off x="742950" y="2743200"/>
            <a:ext cx="1219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F6368"/>
                </a:solidFill>
                <a:latin typeface="Arial"/>
                <a:ea typeface="Arial"/>
                <a:cs typeface="Arial"/>
              </a:defRPr>
            </a:pPr>
            <a:r>
              <a:rPr sz="1200" b="1">
                <a:solidFill>
                  <a:srgbClr val="5F6368"/>
                </a:solidFill>
                <a:latin typeface="Arial"/>
                <a:ea typeface="Arial"/>
                <a:cs typeface="Arial"/>
              </a:rPr>
              <a:t>RAW CSV</a:t>
            </a:r>
          </a:p>
        </p:txBody>
      </p:sp>
      <p:sp>
        <p:nvSpPr>
          <p:cNvPr id="13" name="text-78-327">
            <a:extLst xmlns:a="http://schemas.openxmlformats.org/drawingml/2006/main">
              <a:ext uri="{FF2B5EF4-FFF2-40B4-BE49-F238E27FC236}">
                <a16:creationId xmlns:a16="http://schemas.microsoft.com/office/drawing/2014/main" id="{633EC7DE-C4AE-452F-BC26-36A3C0C66662}"/>
              </a:ext>
            </a:extLst>
          </p:cNvPr>
          <p:cNvSpPr>
            <a:spLocks xmlns:a="http://schemas.openxmlformats.org/drawingml/2006/main" noGrp="1"/>
          </p:cNvSpPr>
          <p:nvPr/>
        </p:nvSpPr>
        <p:spPr>
          <a:xfrm xmlns:a="http://schemas.openxmlformats.org/drawingml/2006/main">
            <a:off x="742950" y="3114675"/>
            <a:ext cx="1219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11111"/>
                </a:solidFill>
                <a:latin typeface="Arial"/>
                <a:ea typeface="Arial"/>
                <a:cs typeface="Arial"/>
              </a:defRPr>
            </a:pPr>
            <a:r>
              <a:rPr sz="1350" b="1">
                <a:solidFill>
                  <a:srgbClr val="111111"/>
                </a:solidFill>
                <a:latin typeface="Arial"/>
                <a:ea typeface="Arial"/>
                <a:cs typeface="Arial"/>
              </a:rPr>
              <a:t>Books +</a:t>
            </a:r>
          </a:p>
          <a:p xmlns:a="http://schemas.openxmlformats.org/drawingml/2006/main">
            <a:pPr algn="l">
              <a:defRPr sz="1350" b="1">
                <a:solidFill>
                  <a:srgbClr val="111111"/>
                </a:solidFill>
                <a:latin typeface="Arial"/>
                <a:ea typeface="Arial"/>
                <a:cs typeface="Arial"/>
              </a:defRPr>
            </a:pPr>
            <a:r>
              <a:rPr sz="1350" b="1">
                <a:solidFill>
                  <a:srgbClr val="111111"/>
                </a:solidFill>
                <a:latin typeface="Arial"/>
                <a:ea typeface="Arial"/>
                <a:cs typeface="Arial"/>
              </a:rPr>
              <a:t>Customers</a:t>
            </a:r>
          </a:p>
        </p:txBody>
      </p:sp>
      <p:sp>
        <p:nvSpPr>
          <p:cNvPr id="14" name="shape-330-245">
            <a:extLst xmlns:a="http://schemas.openxmlformats.org/drawingml/2006/main">
              <a:ext uri="{FF2B5EF4-FFF2-40B4-BE49-F238E27FC236}">
                <a16:creationId xmlns:a16="http://schemas.microsoft.com/office/drawing/2014/main" id="{3EA561A7-9A4F-4DD2-A812-90E92B2FCEFF}"/>
              </a:ext>
            </a:extLst>
          </p:cNvPr>
          <p:cNvSpPr>
            <a:spLocks xmlns:a="http://schemas.openxmlformats.org/drawingml/2006/main" noGrp="1"/>
          </p:cNvSpPr>
          <p:nvPr/>
        </p:nvSpPr>
        <p:spPr>
          <a:xfrm xmlns:a="http://schemas.openxmlformats.org/drawingml/2006/main">
            <a:off x="3143250" y="2333625"/>
            <a:ext cx="1762125" cy="1666875"/>
          </a:xfrm>
          <a:prstGeom xmlns:a="http://schemas.openxmlformats.org/drawingml/2006/main" prst="roundRect">
            <a:avLst>
              <a:gd name="adj" fmla="val 6857"/>
            </a:avLst>
          </a:prstGeom>
          <a:solidFill xmlns:a="http://schemas.openxmlformats.org/drawingml/2006/main">
            <a:srgbClr val="EAF3FF"/>
          </a:solidFill>
          <a:ln xmlns:a="http://schemas.openxmlformats.org/drawingml/2006/main" w="9525">
            <a:solidFill>
              <a:srgbClr val="3D8DFF"/>
            </a:solidFill>
            <a:prstDash val="solid"/>
          </a:ln>
        </p:spPr>
      </p:sp>
      <p:sp>
        <p:nvSpPr>
          <p:cNvPr id="15" name="text-355-272">
            <a:extLst xmlns:a="http://schemas.openxmlformats.org/drawingml/2006/main">
              <a:ext uri="{FF2B5EF4-FFF2-40B4-BE49-F238E27FC236}">
                <a16:creationId xmlns:a16="http://schemas.microsoft.com/office/drawing/2014/main" id="{5A589D70-D56E-452E-A03A-4B7C9D158A88}"/>
              </a:ext>
            </a:extLst>
          </p:cNvPr>
          <p:cNvSpPr>
            <a:spLocks xmlns:a="http://schemas.openxmlformats.org/drawingml/2006/main" noGrp="1"/>
          </p:cNvSpPr>
          <p:nvPr/>
        </p:nvSpPr>
        <p:spPr>
          <a:xfrm xmlns:a="http://schemas.openxmlformats.org/drawingml/2006/main">
            <a:off x="3381375" y="2590800"/>
            <a:ext cx="1285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PYTHON</a:t>
            </a:r>
          </a:p>
        </p:txBody>
      </p:sp>
      <p:sp>
        <p:nvSpPr>
          <p:cNvPr id="16" name="text-355-315">
            <a:extLst xmlns:a="http://schemas.openxmlformats.org/drawingml/2006/main">
              <a:ext uri="{FF2B5EF4-FFF2-40B4-BE49-F238E27FC236}">
                <a16:creationId xmlns:a16="http://schemas.microsoft.com/office/drawing/2014/main" id="{43264779-C62A-4A7C-823C-62EB680548F5}"/>
              </a:ext>
            </a:extLst>
          </p:cNvPr>
          <p:cNvSpPr>
            <a:spLocks xmlns:a="http://schemas.openxmlformats.org/drawingml/2006/main" noGrp="1"/>
          </p:cNvSpPr>
          <p:nvPr/>
        </p:nvSpPr>
        <p:spPr>
          <a:xfrm xmlns:a="http://schemas.openxmlformats.org/drawingml/2006/main">
            <a:off x="3381375" y="3000375"/>
            <a:ext cx="12858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Clean</a:t>
            </a:r>
          </a:p>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Enrich</a:t>
            </a:r>
          </a:p>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Validate</a:t>
            </a:r>
          </a:p>
        </p:txBody>
      </p:sp>
      <p:sp>
        <p:nvSpPr>
          <p:cNvPr id="17" name="shape-600-218">
            <a:extLst xmlns:a="http://schemas.openxmlformats.org/drawingml/2006/main">
              <a:ext uri="{FF2B5EF4-FFF2-40B4-BE49-F238E27FC236}">
                <a16:creationId xmlns:a16="http://schemas.microsoft.com/office/drawing/2014/main" id="{3D25E37E-861D-4235-9F7C-6D0C4F4D4749}"/>
              </a:ext>
            </a:extLst>
          </p:cNvPr>
          <p:cNvSpPr>
            <a:spLocks xmlns:a="http://schemas.openxmlformats.org/drawingml/2006/main" noGrp="1"/>
          </p:cNvSpPr>
          <p:nvPr/>
        </p:nvSpPr>
        <p:spPr>
          <a:xfrm xmlns:a="http://schemas.openxmlformats.org/drawingml/2006/main">
            <a:off x="5715000" y="2076450"/>
            <a:ext cx="1952625" cy="1219200"/>
          </a:xfrm>
          <a:prstGeom xmlns:a="http://schemas.openxmlformats.org/drawingml/2006/main" prst="roundRect">
            <a:avLst>
              <a:gd name="adj" fmla="val 9375"/>
            </a:avLst>
          </a:prstGeom>
          <a:solidFill xmlns:a="http://schemas.openxmlformats.org/drawingml/2006/main">
            <a:srgbClr val="F1F2F4"/>
          </a:solidFill>
          <a:ln xmlns:a="http://schemas.openxmlformats.org/drawingml/2006/main" w="0">
            <a:solidFill>
              <a:srgbClr val="F1F2F4"/>
            </a:solidFill>
            <a:prstDash val="solid"/>
          </a:ln>
        </p:spPr>
      </p:sp>
      <p:sp>
        <p:nvSpPr>
          <p:cNvPr id="18" name="text-624-240">
            <a:extLst xmlns:a="http://schemas.openxmlformats.org/drawingml/2006/main">
              <a:ext uri="{FF2B5EF4-FFF2-40B4-BE49-F238E27FC236}">
                <a16:creationId xmlns:a16="http://schemas.microsoft.com/office/drawing/2014/main" id="{B6529D5E-2679-49F5-B94F-6F5642FB0955}"/>
              </a:ext>
            </a:extLst>
          </p:cNvPr>
          <p:cNvSpPr>
            <a:spLocks xmlns:a="http://schemas.openxmlformats.org/drawingml/2006/main" noGrp="1"/>
          </p:cNvSpPr>
          <p:nvPr/>
        </p:nvSpPr>
        <p:spPr>
          <a:xfrm xmlns:a="http://schemas.openxmlformats.org/drawingml/2006/main">
            <a:off x="5943600" y="2286000"/>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5F6368"/>
                </a:solidFill>
                <a:latin typeface="Arial"/>
                <a:ea typeface="Arial"/>
                <a:cs typeface="Arial"/>
              </a:defRPr>
            </a:pPr>
            <a:r>
              <a:rPr sz="1200" b="1">
                <a:solidFill>
                  <a:srgbClr val="5F6368"/>
                </a:solidFill>
                <a:latin typeface="Arial"/>
                <a:ea typeface="Arial"/>
                <a:cs typeface="Arial"/>
              </a:rPr>
              <a:t>CLEAN DATA</a:t>
            </a:r>
          </a:p>
        </p:txBody>
      </p:sp>
      <p:sp>
        <p:nvSpPr>
          <p:cNvPr id="19" name="text-624-288">
            <a:extLst xmlns:a="http://schemas.openxmlformats.org/drawingml/2006/main">
              <a:ext uri="{FF2B5EF4-FFF2-40B4-BE49-F238E27FC236}">
                <a16:creationId xmlns:a16="http://schemas.microsoft.com/office/drawing/2014/main" id="{0910CDAB-2D61-456F-B964-03ACFA6D1F60}"/>
              </a:ext>
            </a:extLst>
          </p:cNvPr>
          <p:cNvSpPr>
            <a:spLocks xmlns:a="http://schemas.openxmlformats.org/drawingml/2006/main" noGrp="1"/>
          </p:cNvSpPr>
          <p:nvPr/>
        </p:nvSpPr>
        <p:spPr>
          <a:xfrm xmlns:a="http://schemas.openxmlformats.org/drawingml/2006/main">
            <a:off x="5943600" y="2743200"/>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11111"/>
                </a:solidFill>
                <a:latin typeface="Arial"/>
                <a:ea typeface="Arial"/>
                <a:cs typeface="Arial"/>
              </a:defRPr>
            </a:pPr>
            <a:r>
              <a:rPr sz="1875" b="1">
                <a:solidFill>
                  <a:srgbClr val="111111"/>
                </a:solidFill>
                <a:latin typeface="Arial"/>
                <a:ea typeface="Arial"/>
                <a:cs typeface="Arial"/>
              </a:rPr>
              <a:t>2 output CSVs</a:t>
            </a:r>
          </a:p>
        </p:txBody>
      </p:sp>
      <p:sp>
        <p:nvSpPr>
          <p:cNvPr id="20" name="shape-600-355">
            <a:extLst xmlns:a="http://schemas.openxmlformats.org/drawingml/2006/main">
              <a:ext uri="{FF2B5EF4-FFF2-40B4-BE49-F238E27FC236}">
                <a16:creationId xmlns:a16="http://schemas.microsoft.com/office/drawing/2014/main" id="{A19DAEBB-8C1E-412B-B817-7A416AAC7942}"/>
              </a:ext>
            </a:extLst>
          </p:cNvPr>
          <p:cNvSpPr>
            <a:spLocks xmlns:a="http://schemas.openxmlformats.org/drawingml/2006/main" noGrp="1"/>
          </p:cNvSpPr>
          <p:nvPr/>
        </p:nvSpPr>
        <p:spPr>
          <a:xfrm xmlns:a="http://schemas.openxmlformats.org/drawingml/2006/main">
            <a:off x="5715000" y="3381375"/>
            <a:ext cx="1952625" cy="1219200"/>
          </a:xfrm>
          <a:prstGeom xmlns:a="http://schemas.openxmlformats.org/drawingml/2006/main" prst="roundRect">
            <a:avLst>
              <a:gd name="adj" fmla="val 9375"/>
            </a:avLst>
          </a:prstGeom>
          <a:solidFill xmlns:a="http://schemas.openxmlformats.org/drawingml/2006/main">
            <a:srgbClr val="FFF9D6"/>
          </a:solidFill>
          <a:ln xmlns:a="http://schemas.openxmlformats.org/drawingml/2006/main" w="9525">
            <a:solidFill>
              <a:srgbClr val="F2C811"/>
            </a:solidFill>
            <a:prstDash val="solid"/>
          </a:ln>
        </p:spPr>
      </p:sp>
      <p:sp>
        <p:nvSpPr>
          <p:cNvPr id="21" name="text-624-377">
            <a:extLst xmlns:a="http://schemas.openxmlformats.org/drawingml/2006/main">
              <a:ext uri="{FF2B5EF4-FFF2-40B4-BE49-F238E27FC236}">
                <a16:creationId xmlns:a16="http://schemas.microsoft.com/office/drawing/2014/main" id="{7ED63C0C-E337-4A1E-9C7F-579E8F11EDF5}"/>
              </a:ext>
            </a:extLst>
          </p:cNvPr>
          <p:cNvSpPr>
            <a:spLocks xmlns:a="http://schemas.openxmlformats.org/drawingml/2006/main" noGrp="1"/>
          </p:cNvSpPr>
          <p:nvPr/>
        </p:nvSpPr>
        <p:spPr>
          <a:xfrm xmlns:a="http://schemas.openxmlformats.org/drawingml/2006/main">
            <a:off x="5943600" y="3590925"/>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D97706"/>
                </a:solidFill>
                <a:latin typeface="Arial"/>
                <a:ea typeface="Arial"/>
                <a:cs typeface="Arial"/>
              </a:defRPr>
            </a:pPr>
            <a:r>
              <a:rPr sz="1200" b="1">
                <a:solidFill>
                  <a:srgbClr val="D97706"/>
                </a:solidFill>
                <a:latin typeface="Arial"/>
                <a:ea typeface="Arial"/>
                <a:cs typeface="Arial"/>
              </a:rPr>
              <a:t>AUDIT DATA</a:t>
            </a:r>
          </a:p>
        </p:txBody>
      </p:sp>
      <p:sp>
        <p:nvSpPr>
          <p:cNvPr id="22" name="text-624-417">
            <a:extLst xmlns:a="http://schemas.openxmlformats.org/drawingml/2006/main">
              <a:ext uri="{FF2B5EF4-FFF2-40B4-BE49-F238E27FC236}">
                <a16:creationId xmlns:a16="http://schemas.microsoft.com/office/drawing/2014/main" id="{D650E380-B844-4029-87B6-8EDD65565314}"/>
              </a:ext>
            </a:extLst>
          </p:cNvPr>
          <p:cNvSpPr>
            <a:spLocks xmlns:a="http://schemas.openxmlformats.org/drawingml/2006/main" noGrp="1"/>
          </p:cNvSpPr>
          <p:nvPr/>
        </p:nvSpPr>
        <p:spPr>
          <a:xfrm xmlns:a="http://schemas.openxmlformats.org/drawingml/2006/main">
            <a:off x="5943600" y="3971925"/>
            <a:ext cx="14954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20 step</a:t>
            </a:r>
          </a:p>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events</a:t>
            </a:r>
          </a:p>
        </p:txBody>
      </p:sp>
      <p:sp>
        <p:nvSpPr>
          <p:cNvPr id="23" name="shape-890-265">
            <a:extLst xmlns:a="http://schemas.openxmlformats.org/drawingml/2006/main">
              <a:ext uri="{FF2B5EF4-FFF2-40B4-BE49-F238E27FC236}">
                <a16:creationId xmlns:a16="http://schemas.microsoft.com/office/drawing/2014/main" id="{D7A9A205-0BF3-4560-A4A6-8B24AB740A4B}"/>
              </a:ext>
            </a:extLst>
          </p:cNvPr>
          <p:cNvSpPr>
            <a:spLocks xmlns:a="http://schemas.openxmlformats.org/drawingml/2006/main" noGrp="1"/>
          </p:cNvSpPr>
          <p:nvPr/>
        </p:nvSpPr>
        <p:spPr>
          <a:xfrm xmlns:a="http://schemas.openxmlformats.org/drawingml/2006/main">
            <a:off x="8477250" y="2524125"/>
            <a:ext cx="3000375" cy="1285875"/>
          </a:xfrm>
          <a:prstGeom xmlns:a="http://schemas.openxmlformats.org/drawingml/2006/main" prst="roundRect">
            <a:avLst>
              <a:gd name="adj" fmla="val 8889"/>
            </a:avLst>
          </a:prstGeom>
          <a:solidFill xmlns:a="http://schemas.openxmlformats.org/drawingml/2006/main">
            <a:srgbClr val="111111"/>
          </a:solidFill>
          <a:ln xmlns:a="http://schemas.openxmlformats.org/drawingml/2006/main" w="0">
            <a:solidFill>
              <a:srgbClr val="111111"/>
            </a:solidFill>
            <a:prstDash val="solid"/>
          </a:ln>
        </p:spPr>
      </p:sp>
      <p:sp>
        <p:nvSpPr>
          <p:cNvPr id="24" name="shape-890-265">
            <a:extLst xmlns:a="http://schemas.openxmlformats.org/drawingml/2006/main">
              <a:ext uri="{FF2B5EF4-FFF2-40B4-BE49-F238E27FC236}">
                <a16:creationId xmlns:a16="http://schemas.microsoft.com/office/drawing/2014/main" id="{F6B8066D-ADB3-46DB-927C-2F8CE1C496C8}"/>
              </a:ext>
            </a:extLst>
          </p:cNvPr>
          <p:cNvSpPr>
            <a:spLocks xmlns:a="http://schemas.openxmlformats.org/drawingml/2006/main" noGrp="1"/>
          </p:cNvSpPr>
          <p:nvPr/>
        </p:nvSpPr>
        <p:spPr>
          <a:xfrm xmlns:a="http://schemas.openxmlformats.org/drawingml/2006/main">
            <a:off x="8477250" y="2524125"/>
            <a:ext cx="114300" cy="1285875"/>
          </a:xfrm>
          <a:prstGeom xmlns:a="http://schemas.openxmlformats.org/drawingml/2006/main" prst="rect">
            <a:avLst/>
          </a:prstGeom>
          <a:solidFill xmlns:a="http://schemas.openxmlformats.org/drawingml/2006/main">
            <a:srgbClr val="F2C811"/>
          </a:solidFill>
          <a:ln xmlns:a="http://schemas.openxmlformats.org/drawingml/2006/main" w="0">
            <a:solidFill>
              <a:srgbClr val="F2C811"/>
            </a:solidFill>
            <a:prstDash val="solid"/>
          </a:ln>
        </p:spPr>
      </p:sp>
      <p:sp>
        <p:nvSpPr>
          <p:cNvPr id="25" name="text-930-288">
            <a:extLst xmlns:a="http://schemas.openxmlformats.org/drawingml/2006/main">
              <a:ext uri="{FF2B5EF4-FFF2-40B4-BE49-F238E27FC236}">
                <a16:creationId xmlns:a16="http://schemas.microsoft.com/office/drawing/2014/main" id="{8766AA9C-F2F4-4C96-A067-BE1351954A7C}"/>
              </a:ext>
            </a:extLst>
          </p:cNvPr>
          <p:cNvSpPr>
            <a:spLocks xmlns:a="http://schemas.openxmlformats.org/drawingml/2006/main" noGrp="1"/>
          </p:cNvSpPr>
          <p:nvPr/>
        </p:nvSpPr>
        <p:spPr>
          <a:xfrm xmlns:a="http://schemas.openxmlformats.org/drawingml/2006/main">
            <a:off x="8858250" y="2743200"/>
            <a:ext cx="2238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F2C811"/>
                </a:solidFill>
                <a:latin typeface="Arial"/>
                <a:ea typeface="Arial"/>
                <a:cs typeface="Arial"/>
              </a:defRPr>
            </a:pPr>
            <a:r>
              <a:rPr sz="1200" b="1">
                <a:solidFill>
                  <a:srgbClr val="F2C811"/>
                </a:solidFill>
                <a:latin typeface="Arial"/>
                <a:ea typeface="Arial"/>
                <a:cs typeface="Arial"/>
              </a:rPr>
              <a:t>POWER BI</a:t>
            </a:r>
          </a:p>
        </p:txBody>
      </p:sp>
      <p:sp>
        <p:nvSpPr>
          <p:cNvPr id="26" name="text-930-327">
            <a:extLst xmlns:a="http://schemas.openxmlformats.org/drawingml/2006/main">
              <a:ext uri="{FF2B5EF4-FFF2-40B4-BE49-F238E27FC236}">
                <a16:creationId xmlns:a16="http://schemas.microsoft.com/office/drawing/2014/main" id="{51AAD71A-698D-467E-8EAF-682FC56E046E}"/>
              </a:ext>
            </a:extLst>
          </p:cNvPr>
          <p:cNvSpPr>
            <a:spLocks xmlns:a="http://schemas.openxmlformats.org/drawingml/2006/main" noGrp="1"/>
          </p:cNvSpPr>
          <p:nvPr/>
        </p:nvSpPr>
        <p:spPr>
          <a:xfrm xmlns:a="http://schemas.openxmlformats.org/drawingml/2006/main">
            <a:off x="8858250" y="3114675"/>
            <a:ext cx="2238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Quality and</a:t>
            </a:r>
          </a:p>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performance story</a:t>
            </a:r>
          </a:p>
        </p:txBody>
      </p:sp>
      <p:sp>
        <p:nvSpPr>
          <p:cNvPr id="27" name="text-58-555">
            <a:extLst xmlns:a="http://schemas.openxmlformats.org/drawingml/2006/main">
              <a:ext uri="{FF2B5EF4-FFF2-40B4-BE49-F238E27FC236}">
                <a16:creationId xmlns:a16="http://schemas.microsoft.com/office/drawing/2014/main" id="{E9C60897-C847-4C5F-9D1B-934044D6F7AC}"/>
              </a:ext>
            </a:extLst>
          </p:cNvPr>
          <p:cNvSpPr>
            <a:spLocks xmlns:a="http://schemas.openxmlformats.org/drawingml/2006/main" noGrp="1"/>
          </p:cNvSpPr>
          <p:nvPr/>
        </p:nvSpPr>
        <p:spPr>
          <a:xfrm xmlns:a="http://schemas.openxmlformats.org/drawingml/2006/main">
            <a:off x="552450" y="5286375"/>
            <a:ext cx="109251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F6368"/>
                </a:solidFill>
                <a:latin typeface="Arial"/>
                <a:ea typeface="Arial"/>
                <a:cs typeface="Arial"/>
              </a:defRPr>
            </a:pPr>
            <a:r>
              <a:rPr sz="1800" b="0">
                <a:solidFill>
                  <a:srgbClr val="5F6368"/>
                </a:solidFill>
                <a:latin typeface="Arial"/>
                <a:ea typeface="Arial"/>
                <a:cs typeface="Arial"/>
              </a:rPr>
              <a:t>The clean files support analysis; the metrics file explains the transformation.</a:t>
            </a:r>
          </a:p>
        </p:txBody>
      </p:sp>
    </p:spTree>
    <p:extLst>
      <p:ext uri="{BB962C8B-B14F-4D97-AF65-F5344CB8AC3E}">
        <p14:creationId xmlns:p14="http://schemas.microsoft.com/office/powerpoint/2010/main" val="1699899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
            <a:extLst xmlns:a="http://schemas.openxmlformats.org/drawingml/2006/main">
              <a:ext uri="{FF2B5EF4-FFF2-40B4-BE49-F238E27FC236}">
                <a16:creationId xmlns:a16="http://schemas.microsoft.com/office/drawing/2014/main" id="{06D69FDF-82D6-435D-902A-A146405E01B9}"/>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5127B5A5-26A4-4839-B67F-4CFC3695B446}"/>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The refactor separates cleaning, enrichment and observability</a:t>
            </a:r>
          </a:p>
        </p:txBody>
      </p:sp>
      <p:sp>
        <p:nvSpPr>
          <p:cNvPr id="3" name="rule-143">
            <a:extLst xmlns:a="http://schemas.openxmlformats.org/drawingml/2006/main">
              <a:ext uri="{FF2B5EF4-FFF2-40B4-BE49-F238E27FC236}">
                <a16:creationId xmlns:a16="http://schemas.microsoft.com/office/drawing/2014/main" id="{4A9B9EEA-3EB3-45DE-A638-B4B14EB7BAF1}"/>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B1B4BA45-5323-46F2-82F2-A72FD01F7521}"/>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04</a:t>
            </a:r>
          </a:p>
        </p:txBody>
      </p:sp>
      <p:sp>
        <p:nvSpPr>
          <p:cNvPr id="5" name="shape-60-340">
            <a:extLst xmlns:a="http://schemas.openxmlformats.org/drawingml/2006/main">
              <a:ext uri="{FF2B5EF4-FFF2-40B4-BE49-F238E27FC236}">
                <a16:creationId xmlns:a16="http://schemas.microsoft.com/office/drawing/2014/main" id="{BC2260D9-C959-4202-8BB8-A54E372B020A}"/>
              </a:ext>
            </a:extLst>
          </p:cNvPr>
          <p:cNvSpPr>
            <a:spLocks xmlns:a="http://schemas.openxmlformats.org/drawingml/2006/main" noGrp="1"/>
          </p:cNvSpPr>
          <p:nvPr/>
        </p:nvSpPr>
        <p:spPr>
          <a:xfrm xmlns:a="http://schemas.openxmlformats.org/drawingml/2006/main">
            <a:off x="571500" y="3238500"/>
            <a:ext cx="1076325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6" name="shape-125-332">
            <a:extLst xmlns:a="http://schemas.openxmlformats.org/drawingml/2006/main">
              <a:ext uri="{FF2B5EF4-FFF2-40B4-BE49-F238E27FC236}">
                <a16:creationId xmlns:a16="http://schemas.microsoft.com/office/drawing/2014/main" id="{999E04AA-8332-4C94-8554-9803EEC23566}"/>
              </a:ext>
            </a:extLst>
          </p:cNvPr>
          <p:cNvSpPr>
            <a:spLocks xmlns:a="http://schemas.openxmlformats.org/drawingml/2006/main" noGrp="1"/>
          </p:cNvSpPr>
          <p:nvPr/>
        </p:nvSpPr>
        <p:spPr>
          <a:xfrm xmlns:a="http://schemas.openxmlformats.org/drawingml/2006/main">
            <a:off x="1190625" y="3162300"/>
            <a:ext cx="171450" cy="171450"/>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prstDash val="solid"/>
          </a:ln>
        </p:spPr>
      </p:sp>
      <p:sp>
        <p:nvSpPr>
          <p:cNvPr id="7" name="shape-510-332">
            <a:extLst xmlns:a="http://schemas.openxmlformats.org/drawingml/2006/main">
              <a:ext uri="{FF2B5EF4-FFF2-40B4-BE49-F238E27FC236}">
                <a16:creationId xmlns:a16="http://schemas.microsoft.com/office/drawing/2014/main" id="{77B9DFB4-AE8F-4853-A7E8-F497D27F357F}"/>
              </a:ext>
            </a:extLst>
          </p:cNvPr>
          <p:cNvSpPr>
            <a:spLocks xmlns:a="http://schemas.openxmlformats.org/drawingml/2006/main" noGrp="1"/>
          </p:cNvSpPr>
          <p:nvPr/>
        </p:nvSpPr>
        <p:spPr>
          <a:xfrm xmlns:a="http://schemas.openxmlformats.org/drawingml/2006/main">
            <a:off x="4857750" y="3162300"/>
            <a:ext cx="171450" cy="171450"/>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prstDash val="solid"/>
          </a:ln>
        </p:spPr>
      </p:sp>
      <p:sp>
        <p:nvSpPr>
          <p:cNvPr id="8" name="shape-895-332">
            <a:extLst xmlns:a="http://schemas.openxmlformats.org/drawingml/2006/main">
              <a:ext uri="{FF2B5EF4-FFF2-40B4-BE49-F238E27FC236}">
                <a16:creationId xmlns:a16="http://schemas.microsoft.com/office/drawing/2014/main" id="{099774C7-BE36-4CF7-90FB-E094A492CCDE}"/>
              </a:ext>
            </a:extLst>
          </p:cNvPr>
          <p:cNvSpPr>
            <a:spLocks xmlns:a="http://schemas.openxmlformats.org/drawingml/2006/main" noGrp="1"/>
          </p:cNvSpPr>
          <p:nvPr/>
        </p:nvSpPr>
        <p:spPr>
          <a:xfrm xmlns:a="http://schemas.openxmlformats.org/drawingml/2006/main">
            <a:off x="8524875" y="3162300"/>
            <a:ext cx="171450" cy="171450"/>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prstDash val="solid"/>
          </a:ln>
        </p:spPr>
      </p:sp>
      <p:sp>
        <p:nvSpPr>
          <p:cNvPr id="9" name="text-60-230">
            <a:extLst xmlns:a="http://schemas.openxmlformats.org/drawingml/2006/main">
              <a:ext uri="{FF2B5EF4-FFF2-40B4-BE49-F238E27FC236}">
                <a16:creationId xmlns:a16="http://schemas.microsoft.com/office/drawing/2014/main" id="{949535AF-8EEE-4630-8CDD-6922C13B0BAE}"/>
              </a:ext>
            </a:extLst>
          </p:cNvPr>
          <p:cNvSpPr>
            <a:spLocks xmlns:a="http://schemas.openxmlformats.org/drawingml/2006/main" noGrp="1"/>
          </p:cNvSpPr>
          <p:nvPr/>
        </p:nvSpPr>
        <p:spPr>
          <a:xfrm xmlns:a="http://schemas.openxmlformats.org/drawingml/2006/main">
            <a:off x="571500" y="2190750"/>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01</a:t>
            </a:r>
          </a:p>
        </p:txBody>
      </p:sp>
      <p:sp>
        <p:nvSpPr>
          <p:cNvPr id="10" name="text-60-275">
            <a:extLst xmlns:a="http://schemas.openxmlformats.org/drawingml/2006/main">
              <a:ext uri="{FF2B5EF4-FFF2-40B4-BE49-F238E27FC236}">
                <a16:creationId xmlns:a16="http://schemas.microsoft.com/office/drawing/2014/main" id="{9EA0959F-CEC5-4614-BEEC-B754652C4638}"/>
              </a:ext>
            </a:extLst>
          </p:cNvPr>
          <p:cNvSpPr>
            <a:spLocks xmlns:a="http://schemas.openxmlformats.org/drawingml/2006/main" noGrp="1"/>
          </p:cNvSpPr>
          <p:nvPr/>
        </p:nvSpPr>
        <p:spPr>
          <a:xfrm xmlns:a="http://schemas.openxmlformats.org/drawingml/2006/main">
            <a:off x="571500" y="261937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Arial"/>
                <a:ea typeface="Arial"/>
                <a:cs typeface="Arial"/>
              </a:defRPr>
            </a:pPr>
            <a:r>
              <a:rPr sz="2325" b="1">
                <a:solidFill>
                  <a:srgbClr val="111111"/>
                </a:solidFill>
                <a:latin typeface="Arial"/>
                <a:ea typeface="Arial"/>
                <a:cs typeface="Arial"/>
              </a:rPr>
              <a:t>CLEAN</a:t>
            </a:r>
          </a:p>
        </p:txBody>
      </p:sp>
      <p:sp>
        <p:nvSpPr>
          <p:cNvPr id="11" name="text-60-390">
            <a:extLst xmlns:a="http://schemas.openxmlformats.org/drawingml/2006/main">
              <a:ext uri="{FF2B5EF4-FFF2-40B4-BE49-F238E27FC236}">
                <a16:creationId xmlns:a16="http://schemas.microsoft.com/office/drawing/2014/main" id="{E3E7A541-6F2C-4965-A9F9-C2EA0646FD39}"/>
              </a:ext>
            </a:extLst>
          </p:cNvPr>
          <p:cNvSpPr>
            <a:spLocks xmlns:a="http://schemas.openxmlformats.org/drawingml/2006/main" noGrp="1"/>
          </p:cNvSpPr>
          <p:nvPr/>
        </p:nvSpPr>
        <p:spPr>
          <a:xfrm xmlns:a="http://schemas.openxmlformats.org/drawingml/2006/main">
            <a:off x="571500" y="3714750"/>
            <a:ext cx="2857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Normalise columns, remove empty rows, trim text and convert identifiers.</a:t>
            </a:r>
          </a:p>
        </p:txBody>
      </p:sp>
      <p:sp>
        <p:nvSpPr>
          <p:cNvPr id="12" name="text-445-230">
            <a:extLst xmlns:a="http://schemas.openxmlformats.org/drawingml/2006/main">
              <a:ext uri="{FF2B5EF4-FFF2-40B4-BE49-F238E27FC236}">
                <a16:creationId xmlns:a16="http://schemas.microsoft.com/office/drawing/2014/main" id="{48338FB4-C45F-4146-BE6E-FC9E42003C19}"/>
              </a:ext>
            </a:extLst>
          </p:cNvPr>
          <p:cNvSpPr>
            <a:spLocks xmlns:a="http://schemas.openxmlformats.org/drawingml/2006/main" noGrp="1"/>
          </p:cNvSpPr>
          <p:nvPr/>
        </p:nvSpPr>
        <p:spPr>
          <a:xfrm xmlns:a="http://schemas.openxmlformats.org/drawingml/2006/main">
            <a:off x="4238625" y="2190750"/>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02</a:t>
            </a:r>
          </a:p>
        </p:txBody>
      </p:sp>
      <p:sp>
        <p:nvSpPr>
          <p:cNvPr id="13" name="text-445-275">
            <a:extLst xmlns:a="http://schemas.openxmlformats.org/drawingml/2006/main">
              <a:ext uri="{FF2B5EF4-FFF2-40B4-BE49-F238E27FC236}">
                <a16:creationId xmlns:a16="http://schemas.microsoft.com/office/drawing/2014/main" id="{A8A908B5-49F6-4DC7-B1D8-BF2422E8A854}"/>
              </a:ext>
            </a:extLst>
          </p:cNvPr>
          <p:cNvSpPr>
            <a:spLocks xmlns:a="http://schemas.openxmlformats.org/drawingml/2006/main" noGrp="1"/>
          </p:cNvSpPr>
          <p:nvPr/>
        </p:nvSpPr>
        <p:spPr>
          <a:xfrm xmlns:a="http://schemas.openxmlformats.org/drawingml/2006/main">
            <a:off x="4238625" y="261937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Arial"/>
                <a:ea typeface="Arial"/>
                <a:cs typeface="Arial"/>
              </a:defRPr>
            </a:pPr>
            <a:r>
              <a:rPr sz="2325" b="1">
                <a:solidFill>
                  <a:srgbClr val="111111"/>
                </a:solidFill>
                <a:latin typeface="Arial"/>
                <a:ea typeface="Arial"/>
                <a:cs typeface="Arial"/>
              </a:rPr>
              <a:t>ENRICH</a:t>
            </a:r>
          </a:p>
        </p:txBody>
      </p:sp>
      <p:sp>
        <p:nvSpPr>
          <p:cNvPr id="14" name="text-445-390">
            <a:extLst xmlns:a="http://schemas.openxmlformats.org/drawingml/2006/main">
              <a:ext uri="{FF2B5EF4-FFF2-40B4-BE49-F238E27FC236}">
                <a16:creationId xmlns:a16="http://schemas.microsoft.com/office/drawing/2014/main" id="{1633D190-D850-4293-BD8B-E4A84A59AF19}"/>
              </a:ext>
            </a:extLst>
          </p:cNvPr>
          <p:cNvSpPr>
            <a:spLocks xmlns:a="http://schemas.openxmlformats.org/drawingml/2006/main" noGrp="1"/>
          </p:cNvSpPr>
          <p:nvPr/>
        </p:nvSpPr>
        <p:spPr>
          <a:xfrm xmlns:a="http://schemas.openxmlformats.org/drawingml/2006/main">
            <a:off x="4238625" y="3714750"/>
            <a:ext cx="2857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Parse UK dates, calculate loan days, convert two weeks to 14 days and flag late returns.</a:t>
            </a:r>
          </a:p>
        </p:txBody>
      </p:sp>
      <p:sp>
        <p:nvSpPr>
          <p:cNvPr id="15" name="text-830-230">
            <a:extLst xmlns:a="http://schemas.openxmlformats.org/drawingml/2006/main">
              <a:ext uri="{FF2B5EF4-FFF2-40B4-BE49-F238E27FC236}">
                <a16:creationId xmlns:a16="http://schemas.microsoft.com/office/drawing/2014/main" id="{A416AFA3-6508-4960-9A68-9562C232C6BF}"/>
              </a:ext>
            </a:extLst>
          </p:cNvPr>
          <p:cNvSpPr>
            <a:spLocks xmlns:a="http://schemas.openxmlformats.org/drawingml/2006/main" noGrp="1"/>
          </p:cNvSpPr>
          <p:nvPr/>
        </p:nvSpPr>
        <p:spPr>
          <a:xfrm xmlns:a="http://schemas.openxmlformats.org/drawingml/2006/main">
            <a:off x="7905750" y="2190750"/>
            <a:ext cx="114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03</a:t>
            </a:r>
          </a:p>
        </p:txBody>
      </p:sp>
      <p:sp>
        <p:nvSpPr>
          <p:cNvPr id="16" name="text-830-275">
            <a:extLst xmlns:a="http://schemas.openxmlformats.org/drawingml/2006/main">
              <a:ext uri="{FF2B5EF4-FFF2-40B4-BE49-F238E27FC236}">
                <a16:creationId xmlns:a16="http://schemas.microsoft.com/office/drawing/2014/main" id="{6C7DD7CF-B896-4527-8E62-96BA3FA99CB8}"/>
              </a:ext>
            </a:extLst>
          </p:cNvPr>
          <p:cNvSpPr>
            <a:spLocks xmlns:a="http://schemas.openxmlformats.org/drawingml/2006/main" noGrp="1"/>
          </p:cNvSpPr>
          <p:nvPr/>
        </p:nvSpPr>
        <p:spPr>
          <a:xfrm xmlns:a="http://schemas.openxmlformats.org/drawingml/2006/main">
            <a:off x="7905750" y="2619375"/>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Arial"/>
                <a:ea typeface="Arial"/>
                <a:cs typeface="Arial"/>
              </a:defRPr>
            </a:pPr>
            <a:r>
              <a:rPr sz="2325" b="1">
                <a:solidFill>
                  <a:srgbClr val="111111"/>
                </a:solidFill>
                <a:latin typeface="Arial"/>
                <a:ea typeface="Arial"/>
                <a:cs typeface="Arial"/>
              </a:rPr>
              <a:t>OBSERVE</a:t>
            </a:r>
          </a:p>
        </p:txBody>
      </p:sp>
      <p:sp>
        <p:nvSpPr>
          <p:cNvPr id="17" name="text-830-390">
            <a:extLst xmlns:a="http://schemas.openxmlformats.org/drawingml/2006/main">
              <a:ext uri="{FF2B5EF4-FFF2-40B4-BE49-F238E27FC236}">
                <a16:creationId xmlns:a16="http://schemas.microsoft.com/office/drawing/2014/main" id="{D24BC2E3-A97A-4603-B4E9-1A07784C578E}"/>
              </a:ext>
            </a:extLst>
          </p:cNvPr>
          <p:cNvSpPr>
            <a:spLocks xmlns:a="http://schemas.openxmlformats.org/drawingml/2006/main" noGrp="1"/>
          </p:cNvSpPr>
          <p:nvPr/>
        </p:nvSpPr>
        <p:spPr>
          <a:xfrm xmlns:a="http://schemas.openxmlformats.org/drawingml/2006/main">
            <a:off x="7905750" y="3714750"/>
            <a:ext cx="3143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Capture row, null, duplicate, completeness, quality and processing-time metrics.</a:t>
            </a:r>
          </a:p>
        </p:txBody>
      </p:sp>
    </p:spTree>
    <p:extLst>
      <p:ext uri="{BB962C8B-B14F-4D97-AF65-F5344CB8AC3E}">
        <p14:creationId xmlns:p14="http://schemas.microsoft.com/office/powerpoint/2010/main" val="18088404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eyebrow">
            <a:extLst xmlns:a="http://schemas.openxmlformats.org/drawingml/2006/main">
              <a:ext uri="{FF2B5EF4-FFF2-40B4-BE49-F238E27FC236}">
                <a16:creationId xmlns:a16="http://schemas.microsoft.com/office/drawing/2014/main" id="{8542D1EA-9A4D-4260-A005-6745E0CF9F08}"/>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391915B9-727F-4D2B-9DCC-CBCE13690964}"/>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Quality rules turn ambiguity into measurable exceptions</a:t>
            </a:r>
          </a:p>
        </p:txBody>
      </p:sp>
      <p:sp>
        <p:nvSpPr>
          <p:cNvPr id="3" name="rule-143">
            <a:extLst xmlns:a="http://schemas.openxmlformats.org/drawingml/2006/main">
              <a:ext uri="{FF2B5EF4-FFF2-40B4-BE49-F238E27FC236}">
                <a16:creationId xmlns:a16="http://schemas.microsoft.com/office/drawing/2014/main" id="{81D5D833-65F9-44F0-ACDE-D60A9D519B40}"/>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E3C8080F-97E4-4693-A7B7-7DD4177C9FDA}"/>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05</a:t>
            </a:r>
          </a:p>
        </p:txBody>
      </p:sp>
      <p:sp>
        <p:nvSpPr>
          <p:cNvPr id="5" name="text-58-220">
            <a:extLst xmlns:a="http://schemas.openxmlformats.org/drawingml/2006/main">
              <a:ext uri="{FF2B5EF4-FFF2-40B4-BE49-F238E27FC236}">
                <a16:creationId xmlns:a16="http://schemas.microsoft.com/office/drawing/2014/main" id="{F921FABC-2D20-481C-A759-9B21F9918E5C}"/>
              </a:ext>
            </a:extLst>
          </p:cNvPr>
          <p:cNvSpPr>
            <a:spLocks xmlns:a="http://schemas.openxmlformats.org/drawingml/2006/main" noGrp="1"/>
          </p:cNvSpPr>
          <p:nvPr/>
        </p:nvSpPr>
        <p:spPr>
          <a:xfrm xmlns:a="http://schemas.openxmlformats.org/drawingml/2006/main">
            <a:off x="552450" y="2095500"/>
            <a:ext cx="2381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6900" b="1">
                <a:solidFill>
                  <a:srgbClr val="F2C811"/>
                </a:solidFill>
                <a:latin typeface="Arial"/>
                <a:ea typeface="Arial"/>
                <a:cs typeface="Arial"/>
              </a:defRPr>
            </a:pPr>
            <a:r>
              <a:rPr sz="6900" b="1">
                <a:solidFill>
                  <a:srgbClr val="F2C811"/>
                </a:solidFill>
                <a:latin typeface="Arial"/>
                <a:ea typeface="Arial"/>
                <a:cs typeface="Arial"/>
              </a:rPr>
              <a:t>5</a:t>
            </a:r>
          </a:p>
        </p:txBody>
      </p:sp>
      <p:sp>
        <p:nvSpPr>
          <p:cNvPr id="6" name="text-58-344">
            <a:extLst xmlns:a="http://schemas.openxmlformats.org/drawingml/2006/main">
              <a:ext uri="{FF2B5EF4-FFF2-40B4-BE49-F238E27FC236}">
                <a16:creationId xmlns:a16="http://schemas.microsoft.com/office/drawing/2014/main" id="{237D9CD7-E56F-44D1-82B8-07B91A06E482}"/>
              </a:ext>
            </a:extLst>
          </p:cNvPr>
          <p:cNvSpPr>
            <a:spLocks xmlns:a="http://schemas.openxmlformats.org/drawingml/2006/main" noGrp="1"/>
          </p:cNvSpPr>
          <p:nvPr/>
        </p:nvSpPr>
        <p:spPr>
          <a:xfrm xmlns:a="http://schemas.openxmlformats.org/drawingml/2006/main">
            <a:off x="552450" y="32766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validation lenses</a:t>
            </a:r>
          </a:p>
        </p:txBody>
      </p:sp>
      <p:sp>
        <p:nvSpPr>
          <p:cNvPr id="7" name="text-58-408">
            <a:extLst xmlns:a="http://schemas.openxmlformats.org/drawingml/2006/main">
              <a:ext uri="{FF2B5EF4-FFF2-40B4-BE49-F238E27FC236}">
                <a16:creationId xmlns:a16="http://schemas.microsoft.com/office/drawing/2014/main" id="{2818F477-D6BB-4793-BA0C-8985B481CE65}"/>
              </a:ext>
            </a:extLst>
          </p:cNvPr>
          <p:cNvSpPr>
            <a:spLocks xmlns:a="http://schemas.openxmlformats.org/drawingml/2006/main" noGrp="1"/>
          </p:cNvSpPr>
          <p:nvPr/>
        </p:nvSpPr>
        <p:spPr>
          <a:xfrm xmlns:a="http://schemas.openxmlformats.org/drawingml/2006/main">
            <a:off x="552450" y="3886200"/>
            <a:ext cx="333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The pipeline keeps questionable records and adds flags so they remain visible in Power BI.</a:t>
            </a:r>
          </a:p>
        </p:txBody>
      </p:sp>
      <p:sp>
        <p:nvSpPr>
          <p:cNvPr id="8" name="rule-254">
            <a:extLst xmlns:a="http://schemas.openxmlformats.org/drawingml/2006/main">
              <a:ext uri="{FF2B5EF4-FFF2-40B4-BE49-F238E27FC236}">
                <a16:creationId xmlns:a16="http://schemas.microsoft.com/office/drawing/2014/main" id="{B8897F4F-D17E-44BB-88C8-4835F878B23E}"/>
              </a:ext>
            </a:extLst>
          </p:cNvPr>
          <p:cNvSpPr>
            <a:spLocks xmlns:a="http://schemas.openxmlformats.org/drawingml/2006/main" noGrp="1"/>
          </p:cNvSpPr>
          <p:nvPr/>
        </p:nvSpPr>
        <p:spPr>
          <a:xfrm xmlns:a="http://schemas.openxmlformats.org/drawingml/2006/main">
            <a:off x="4762500" y="2419350"/>
            <a:ext cx="6667500" cy="9525"/>
          </a:xfrm>
          <a:prstGeom xmlns:a="http://schemas.openxmlformats.org/drawingml/2006/main" prst="rect">
            <a:avLst/>
          </a:prstGeom>
          <a:solidFill xmlns:a="http://schemas.openxmlformats.org/drawingml/2006/main">
            <a:srgbClr val="E1E3E6"/>
          </a:solidFill>
          <a:ln xmlns:a="http://schemas.openxmlformats.org/drawingml/2006/main" w="0">
            <a:solidFill>
              <a:srgbClr val="E1E3E6"/>
            </a:solidFill>
            <a:prstDash val="solid"/>
          </a:ln>
        </p:spPr>
      </p:sp>
      <p:sp>
        <p:nvSpPr>
          <p:cNvPr id="9" name="text-500-188">
            <a:extLst xmlns:a="http://schemas.openxmlformats.org/drawingml/2006/main">
              <a:ext uri="{FF2B5EF4-FFF2-40B4-BE49-F238E27FC236}">
                <a16:creationId xmlns:a16="http://schemas.microsoft.com/office/drawing/2014/main" id="{34936B37-F78D-40B8-9F0B-7A274AC0EA31}"/>
              </a:ext>
            </a:extLst>
          </p:cNvPr>
          <p:cNvSpPr>
            <a:spLocks xmlns:a="http://schemas.openxmlformats.org/drawingml/2006/main" noGrp="1"/>
          </p:cNvSpPr>
          <p:nvPr/>
        </p:nvSpPr>
        <p:spPr>
          <a:xfrm xmlns:a="http://schemas.openxmlformats.org/drawingml/2006/main">
            <a:off x="4762500" y="17907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01</a:t>
            </a:r>
          </a:p>
        </p:txBody>
      </p:sp>
      <p:sp>
        <p:nvSpPr>
          <p:cNvPr id="10" name="text-570-188">
            <a:extLst xmlns:a="http://schemas.openxmlformats.org/drawingml/2006/main">
              <a:ext uri="{FF2B5EF4-FFF2-40B4-BE49-F238E27FC236}">
                <a16:creationId xmlns:a16="http://schemas.microsoft.com/office/drawing/2014/main" id="{F581EA09-AC38-4AE4-AAFE-BDC81C28AB9F}"/>
              </a:ext>
            </a:extLst>
          </p:cNvPr>
          <p:cNvSpPr>
            <a:spLocks xmlns:a="http://schemas.openxmlformats.org/drawingml/2006/main" noGrp="1"/>
          </p:cNvSpPr>
          <p:nvPr/>
        </p:nvSpPr>
        <p:spPr>
          <a:xfrm xmlns:a="http://schemas.openxmlformats.org/drawingml/2006/main">
            <a:off x="5429250" y="17907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Required fields</a:t>
            </a:r>
          </a:p>
        </p:txBody>
      </p:sp>
      <p:sp>
        <p:nvSpPr>
          <p:cNvPr id="11" name="text-835-188">
            <a:extLst xmlns:a="http://schemas.openxmlformats.org/drawingml/2006/main">
              <a:ext uri="{FF2B5EF4-FFF2-40B4-BE49-F238E27FC236}">
                <a16:creationId xmlns:a16="http://schemas.microsoft.com/office/drawing/2014/main" id="{0449057A-BF5A-48D1-9F9A-AFAED35A3A1F}"/>
              </a:ext>
            </a:extLst>
          </p:cNvPr>
          <p:cNvSpPr>
            <a:spLocks xmlns:a="http://schemas.openxmlformats.org/drawingml/2006/main" noGrp="1"/>
          </p:cNvSpPr>
          <p:nvPr/>
        </p:nvSpPr>
        <p:spPr>
          <a:xfrm xmlns:a="http://schemas.openxmlformats.org/drawingml/2006/main">
            <a:off x="7953375" y="1790700"/>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IDs, title and customer name</a:t>
            </a:r>
          </a:p>
        </p:txBody>
      </p:sp>
      <p:sp>
        <p:nvSpPr>
          <p:cNvPr id="12" name="rule-342">
            <a:extLst xmlns:a="http://schemas.openxmlformats.org/drawingml/2006/main">
              <a:ext uri="{FF2B5EF4-FFF2-40B4-BE49-F238E27FC236}">
                <a16:creationId xmlns:a16="http://schemas.microsoft.com/office/drawing/2014/main" id="{BB73F9AE-F2C7-49CF-A5E6-867FF992224E}"/>
              </a:ext>
            </a:extLst>
          </p:cNvPr>
          <p:cNvSpPr>
            <a:spLocks xmlns:a="http://schemas.openxmlformats.org/drawingml/2006/main" noGrp="1"/>
          </p:cNvSpPr>
          <p:nvPr/>
        </p:nvSpPr>
        <p:spPr>
          <a:xfrm xmlns:a="http://schemas.openxmlformats.org/drawingml/2006/main">
            <a:off x="4762500" y="3257550"/>
            <a:ext cx="6667500" cy="9525"/>
          </a:xfrm>
          <a:prstGeom xmlns:a="http://schemas.openxmlformats.org/drawingml/2006/main" prst="rect">
            <a:avLst/>
          </a:prstGeom>
          <a:solidFill xmlns:a="http://schemas.openxmlformats.org/drawingml/2006/main">
            <a:srgbClr val="E1E3E6"/>
          </a:solidFill>
          <a:ln xmlns:a="http://schemas.openxmlformats.org/drawingml/2006/main" w="0">
            <a:solidFill>
              <a:srgbClr val="E1E3E6"/>
            </a:solidFill>
            <a:prstDash val="solid"/>
          </a:ln>
        </p:spPr>
      </p:sp>
      <p:sp>
        <p:nvSpPr>
          <p:cNvPr id="13" name="text-500-276">
            <a:extLst xmlns:a="http://schemas.openxmlformats.org/drawingml/2006/main">
              <a:ext uri="{FF2B5EF4-FFF2-40B4-BE49-F238E27FC236}">
                <a16:creationId xmlns:a16="http://schemas.microsoft.com/office/drawing/2014/main" id="{6A42754F-3FD9-4EB4-A453-CD6D772546C4}"/>
              </a:ext>
            </a:extLst>
          </p:cNvPr>
          <p:cNvSpPr>
            <a:spLocks xmlns:a="http://schemas.openxmlformats.org/drawingml/2006/main" noGrp="1"/>
          </p:cNvSpPr>
          <p:nvPr/>
        </p:nvSpPr>
        <p:spPr>
          <a:xfrm xmlns:a="http://schemas.openxmlformats.org/drawingml/2006/main">
            <a:off x="4762500" y="26289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02</a:t>
            </a:r>
          </a:p>
        </p:txBody>
      </p:sp>
      <p:sp>
        <p:nvSpPr>
          <p:cNvPr id="14" name="text-570-276">
            <a:extLst xmlns:a="http://schemas.openxmlformats.org/drawingml/2006/main">
              <a:ext uri="{FF2B5EF4-FFF2-40B4-BE49-F238E27FC236}">
                <a16:creationId xmlns:a16="http://schemas.microsoft.com/office/drawing/2014/main" id="{A9F259D9-7848-48D3-AB16-26B0B955ECDE}"/>
              </a:ext>
            </a:extLst>
          </p:cNvPr>
          <p:cNvSpPr>
            <a:spLocks xmlns:a="http://schemas.openxmlformats.org/drawingml/2006/main" noGrp="1"/>
          </p:cNvSpPr>
          <p:nvPr/>
        </p:nvSpPr>
        <p:spPr>
          <a:xfrm xmlns:a="http://schemas.openxmlformats.org/drawingml/2006/main">
            <a:off x="5429250" y="26289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Valid dates</a:t>
            </a:r>
          </a:p>
        </p:txBody>
      </p:sp>
      <p:sp>
        <p:nvSpPr>
          <p:cNvPr id="15" name="text-835-276">
            <a:extLst xmlns:a="http://schemas.openxmlformats.org/drawingml/2006/main">
              <a:ext uri="{FF2B5EF4-FFF2-40B4-BE49-F238E27FC236}">
                <a16:creationId xmlns:a16="http://schemas.microsoft.com/office/drawing/2014/main" id="{260BA79F-87DB-4EA9-A7CB-84A27B90196C}"/>
              </a:ext>
            </a:extLst>
          </p:cNvPr>
          <p:cNvSpPr>
            <a:spLocks xmlns:a="http://schemas.openxmlformats.org/drawingml/2006/main" noGrp="1"/>
          </p:cNvSpPr>
          <p:nvPr/>
        </p:nvSpPr>
        <p:spPr>
          <a:xfrm xmlns:a="http://schemas.openxmlformats.org/drawingml/2006/main">
            <a:off x="7953375" y="2628900"/>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UK format and real calendar values</a:t>
            </a:r>
          </a:p>
        </p:txBody>
      </p:sp>
      <p:sp>
        <p:nvSpPr>
          <p:cNvPr id="16" name="rule-430">
            <a:extLst xmlns:a="http://schemas.openxmlformats.org/drawingml/2006/main">
              <a:ext uri="{FF2B5EF4-FFF2-40B4-BE49-F238E27FC236}">
                <a16:creationId xmlns:a16="http://schemas.microsoft.com/office/drawing/2014/main" id="{6CA715C7-AB75-49CA-A8D4-F3E09F9340DA}"/>
              </a:ext>
            </a:extLst>
          </p:cNvPr>
          <p:cNvSpPr>
            <a:spLocks xmlns:a="http://schemas.openxmlformats.org/drawingml/2006/main" noGrp="1"/>
          </p:cNvSpPr>
          <p:nvPr/>
        </p:nvSpPr>
        <p:spPr>
          <a:xfrm xmlns:a="http://schemas.openxmlformats.org/drawingml/2006/main">
            <a:off x="4762500" y="4095750"/>
            <a:ext cx="6667500" cy="9525"/>
          </a:xfrm>
          <a:prstGeom xmlns:a="http://schemas.openxmlformats.org/drawingml/2006/main" prst="rect">
            <a:avLst/>
          </a:prstGeom>
          <a:solidFill xmlns:a="http://schemas.openxmlformats.org/drawingml/2006/main">
            <a:srgbClr val="E1E3E6"/>
          </a:solidFill>
          <a:ln xmlns:a="http://schemas.openxmlformats.org/drawingml/2006/main" w="0">
            <a:solidFill>
              <a:srgbClr val="E1E3E6"/>
            </a:solidFill>
            <a:prstDash val="solid"/>
          </a:ln>
        </p:spPr>
      </p:sp>
      <p:sp>
        <p:nvSpPr>
          <p:cNvPr id="17" name="text-500-364">
            <a:extLst xmlns:a="http://schemas.openxmlformats.org/drawingml/2006/main">
              <a:ext uri="{FF2B5EF4-FFF2-40B4-BE49-F238E27FC236}">
                <a16:creationId xmlns:a16="http://schemas.microsoft.com/office/drawing/2014/main" id="{DCA51972-5337-408F-B69A-4BA7BB8DAD29}"/>
              </a:ext>
            </a:extLst>
          </p:cNvPr>
          <p:cNvSpPr>
            <a:spLocks xmlns:a="http://schemas.openxmlformats.org/drawingml/2006/main" noGrp="1"/>
          </p:cNvSpPr>
          <p:nvPr/>
        </p:nvSpPr>
        <p:spPr>
          <a:xfrm xmlns:a="http://schemas.openxmlformats.org/drawingml/2006/main">
            <a:off x="4762500" y="34671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03</a:t>
            </a:r>
          </a:p>
        </p:txBody>
      </p:sp>
      <p:sp>
        <p:nvSpPr>
          <p:cNvPr id="18" name="text-570-364">
            <a:extLst xmlns:a="http://schemas.openxmlformats.org/drawingml/2006/main">
              <a:ext uri="{FF2B5EF4-FFF2-40B4-BE49-F238E27FC236}">
                <a16:creationId xmlns:a16="http://schemas.microsoft.com/office/drawing/2014/main" id="{B447EB47-AA04-4F85-B3D2-F95B54F8013B}"/>
              </a:ext>
            </a:extLst>
          </p:cNvPr>
          <p:cNvSpPr>
            <a:spLocks xmlns:a="http://schemas.openxmlformats.org/drawingml/2006/main" noGrp="1"/>
          </p:cNvSpPr>
          <p:nvPr/>
        </p:nvSpPr>
        <p:spPr>
          <a:xfrm xmlns:a="http://schemas.openxmlformats.org/drawingml/2006/main">
            <a:off x="5429250" y="3467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Logical sequence</a:t>
            </a:r>
          </a:p>
        </p:txBody>
      </p:sp>
      <p:sp>
        <p:nvSpPr>
          <p:cNvPr id="19" name="text-835-364">
            <a:extLst xmlns:a="http://schemas.openxmlformats.org/drawingml/2006/main">
              <a:ext uri="{FF2B5EF4-FFF2-40B4-BE49-F238E27FC236}">
                <a16:creationId xmlns:a16="http://schemas.microsoft.com/office/drawing/2014/main" id="{707BFD89-CB25-4C18-A5B7-77DB716AB388}"/>
              </a:ext>
            </a:extLst>
          </p:cNvPr>
          <p:cNvSpPr>
            <a:spLocks xmlns:a="http://schemas.openxmlformats.org/drawingml/2006/main" noGrp="1"/>
          </p:cNvSpPr>
          <p:nvPr/>
        </p:nvSpPr>
        <p:spPr>
          <a:xfrm xmlns:a="http://schemas.openxmlformats.org/drawingml/2006/main">
            <a:off x="7953375" y="3467100"/>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Return must not precede checkout</a:t>
            </a:r>
          </a:p>
        </p:txBody>
      </p:sp>
      <p:sp>
        <p:nvSpPr>
          <p:cNvPr id="20" name="rule-518">
            <a:extLst xmlns:a="http://schemas.openxmlformats.org/drawingml/2006/main">
              <a:ext uri="{FF2B5EF4-FFF2-40B4-BE49-F238E27FC236}">
                <a16:creationId xmlns:a16="http://schemas.microsoft.com/office/drawing/2014/main" id="{C8AD7E60-2CA0-42E8-948E-4DB5FF475028}"/>
              </a:ext>
            </a:extLst>
          </p:cNvPr>
          <p:cNvSpPr>
            <a:spLocks xmlns:a="http://schemas.openxmlformats.org/drawingml/2006/main" noGrp="1"/>
          </p:cNvSpPr>
          <p:nvPr/>
        </p:nvSpPr>
        <p:spPr>
          <a:xfrm xmlns:a="http://schemas.openxmlformats.org/drawingml/2006/main">
            <a:off x="4762500" y="4933950"/>
            <a:ext cx="6667500" cy="9525"/>
          </a:xfrm>
          <a:prstGeom xmlns:a="http://schemas.openxmlformats.org/drawingml/2006/main" prst="rect">
            <a:avLst/>
          </a:prstGeom>
          <a:solidFill xmlns:a="http://schemas.openxmlformats.org/drawingml/2006/main">
            <a:srgbClr val="E1E3E6"/>
          </a:solidFill>
          <a:ln xmlns:a="http://schemas.openxmlformats.org/drawingml/2006/main" w="0">
            <a:solidFill>
              <a:srgbClr val="E1E3E6"/>
            </a:solidFill>
            <a:prstDash val="solid"/>
          </a:ln>
        </p:spPr>
      </p:sp>
      <p:sp>
        <p:nvSpPr>
          <p:cNvPr id="21" name="text-500-452">
            <a:extLst xmlns:a="http://schemas.openxmlformats.org/drawingml/2006/main">
              <a:ext uri="{FF2B5EF4-FFF2-40B4-BE49-F238E27FC236}">
                <a16:creationId xmlns:a16="http://schemas.microsoft.com/office/drawing/2014/main" id="{EEBC959E-CF8D-456B-9026-16E4C9CA7375}"/>
              </a:ext>
            </a:extLst>
          </p:cNvPr>
          <p:cNvSpPr>
            <a:spLocks xmlns:a="http://schemas.openxmlformats.org/drawingml/2006/main" noGrp="1"/>
          </p:cNvSpPr>
          <p:nvPr/>
        </p:nvSpPr>
        <p:spPr>
          <a:xfrm xmlns:a="http://schemas.openxmlformats.org/drawingml/2006/main">
            <a:off x="4762500" y="43053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04</a:t>
            </a:r>
          </a:p>
        </p:txBody>
      </p:sp>
      <p:sp>
        <p:nvSpPr>
          <p:cNvPr id="22" name="text-570-452">
            <a:extLst xmlns:a="http://schemas.openxmlformats.org/drawingml/2006/main">
              <a:ext uri="{FF2B5EF4-FFF2-40B4-BE49-F238E27FC236}">
                <a16:creationId xmlns:a16="http://schemas.microsoft.com/office/drawing/2014/main" id="{E28A1EB0-6065-45C2-99EA-F3AE5A97A69E}"/>
              </a:ext>
            </a:extLst>
          </p:cNvPr>
          <p:cNvSpPr>
            <a:spLocks xmlns:a="http://schemas.openxmlformats.org/drawingml/2006/main" noGrp="1"/>
          </p:cNvSpPr>
          <p:nvPr/>
        </p:nvSpPr>
        <p:spPr>
          <a:xfrm xmlns:a="http://schemas.openxmlformats.org/drawingml/2006/main">
            <a:off x="5429250" y="4305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Loan allowance</a:t>
            </a:r>
          </a:p>
        </p:txBody>
      </p:sp>
      <p:sp>
        <p:nvSpPr>
          <p:cNvPr id="23" name="text-835-452">
            <a:extLst xmlns:a="http://schemas.openxmlformats.org/drawingml/2006/main">
              <a:ext uri="{FF2B5EF4-FFF2-40B4-BE49-F238E27FC236}">
                <a16:creationId xmlns:a16="http://schemas.microsoft.com/office/drawing/2014/main" id="{21AAB80A-E0F8-4544-A04A-67CEFCE1307D}"/>
              </a:ext>
            </a:extLst>
          </p:cNvPr>
          <p:cNvSpPr>
            <a:spLocks xmlns:a="http://schemas.openxmlformats.org/drawingml/2006/main" noGrp="1"/>
          </p:cNvSpPr>
          <p:nvPr/>
        </p:nvSpPr>
        <p:spPr>
          <a:xfrm xmlns:a="http://schemas.openxmlformats.org/drawingml/2006/main">
            <a:off x="7953375" y="4305300"/>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2 weeks becomes 14 days</a:t>
            </a:r>
          </a:p>
        </p:txBody>
      </p:sp>
      <p:sp>
        <p:nvSpPr>
          <p:cNvPr id="24" name="rule-606">
            <a:extLst xmlns:a="http://schemas.openxmlformats.org/drawingml/2006/main">
              <a:ext uri="{FF2B5EF4-FFF2-40B4-BE49-F238E27FC236}">
                <a16:creationId xmlns:a16="http://schemas.microsoft.com/office/drawing/2014/main" id="{7BCEF33B-15C9-49A9-BE4E-A26E481DF483}"/>
              </a:ext>
            </a:extLst>
          </p:cNvPr>
          <p:cNvSpPr>
            <a:spLocks xmlns:a="http://schemas.openxmlformats.org/drawingml/2006/main" noGrp="1"/>
          </p:cNvSpPr>
          <p:nvPr/>
        </p:nvSpPr>
        <p:spPr>
          <a:xfrm xmlns:a="http://schemas.openxmlformats.org/drawingml/2006/main">
            <a:off x="4762500" y="5772150"/>
            <a:ext cx="6667500" cy="9525"/>
          </a:xfrm>
          <a:prstGeom xmlns:a="http://schemas.openxmlformats.org/drawingml/2006/main" prst="rect">
            <a:avLst/>
          </a:prstGeom>
          <a:solidFill xmlns:a="http://schemas.openxmlformats.org/drawingml/2006/main">
            <a:srgbClr val="E1E3E6"/>
          </a:solidFill>
          <a:ln xmlns:a="http://schemas.openxmlformats.org/drawingml/2006/main" w="0">
            <a:solidFill>
              <a:srgbClr val="E1E3E6"/>
            </a:solidFill>
            <a:prstDash val="solid"/>
          </a:ln>
        </p:spPr>
      </p:sp>
      <p:sp>
        <p:nvSpPr>
          <p:cNvPr id="25" name="text-500-540">
            <a:extLst xmlns:a="http://schemas.openxmlformats.org/drawingml/2006/main">
              <a:ext uri="{FF2B5EF4-FFF2-40B4-BE49-F238E27FC236}">
                <a16:creationId xmlns:a16="http://schemas.microsoft.com/office/drawing/2014/main" id="{D3A88980-C84B-4D26-BA3A-7932DB9F0536}"/>
              </a:ext>
            </a:extLst>
          </p:cNvPr>
          <p:cNvSpPr>
            <a:spLocks xmlns:a="http://schemas.openxmlformats.org/drawingml/2006/main" noGrp="1"/>
          </p:cNvSpPr>
          <p:nvPr/>
        </p:nvSpPr>
        <p:spPr>
          <a:xfrm xmlns:a="http://schemas.openxmlformats.org/drawingml/2006/main">
            <a:off x="4762500" y="514350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05</a:t>
            </a:r>
          </a:p>
        </p:txBody>
      </p:sp>
      <p:sp>
        <p:nvSpPr>
          <p:cNvPr id="26" name="text-570-540">
            <a:extLst xmlns:a="http://schemas.openxmlformats.org/drawingml/2006/main">
              <a:ext uri="{FF2B5EF4-FFF2-40B4-BE49-F238E27FC236}">
                <a16:creationId xmlns:a16="http://schemas.microsoft.com/office/drawing/2014/main" id="{2310D3B6-C684-45A6-BA7A-39ADBDE2FEC6}"/>
              </a:ext>
            </a:extLst>
          </p:cNvPr>
          <p:cNvSpPr>
            <a:spLocks xmlns:a="http://schemas.openxmlformats.org/drawingml/2006/main" noGrp="1"/>
          </p:cNvSpPr>
          <p:nvPr/>
        </p:nvSpPr>
        <p:spPr>
          <a:xfrm xmlns:a="http://schemas.openxmlformats.org/drawingml/2006/main">
            <a:off x="5429250" y="5143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Uniqueness</a:t>
            </a:r>
          </a:p>
        </p:txBody>
      </p:sp>
      <p:sp>
        <p:nvSpPr>
          <p:cNvPr id="27" name="text-835-540">
            <a:extLst xmlns:a="http://schemas.openxmlformats.org/drawingml/2006/main">
              <a:ext uri="{FF2B5EF4-FFF2-40B4-BE49-F238E27FC236}">
                <a16:creationId xmlns:a16="http://schemas.microsoft.com/office/drawing/2014/main" id="{391159E6-BE36-4451-9253-6B5C3341450E}"/>
              </a:ext>
            </a:extLst>
          </p:cNvPr>
          <p:cNvSpPr>
            <a:spLocks xmlns:a="http://schemas.openxmlformats.org/drawingml/2006/main" noGrp="1"/>
          </p:cNvSpPr>
          <p:nvPr/>
        </p:nvSpPr>
        <p:spPr>
          <a:xfrm xmlns:a="http://schemas.openxmlformats.org/drawingml/2006/main">
            <a:off x="7953375" y="5143500"/>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Complete duplicate rows are removed</a:t>
            </a:r>
          </a:p>
        </p:txBody>
      </p:sp>
    </p:spTree>
    <p:extLst>
      <p:ext uri="{BB962C8B-B14F-4D97-AF65-F5344CB8AC3E}">
        <p14:creationId xmlns:p14="http://schemas.microsoft.com/office/powerpoint/2010/main" val="4769981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
            <a:extLst xmlns:a="http://schemas.openxmlformats.org/drawingml/2006/main">
              <a:ext uri="{FF2B5EF4-FFF2-40B4-BE49-F238E27FC236}">
                <a16:creationId xmlns:a16="http://schemas.microsoft.com/office/drawing/2014/main" id="{E52F3260-6D20-44AF-80A7-614286542A23}"/>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0B75D58B-B597-4157-98D6-3B89D72C7E0A}"/>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The first audited run created a complete evidence set</a:t>
            </a:r>
          </a:p>
        </p:txBody>
      </p:sp>
      <p:sp>
        <p:nvSpPr>
          <p:cNvPr id="3" name="rule-143">
            <a:extLst xmlns:a="http://schemas.openxmlformats.org/drawingml/2006/main">
              <a:ext uri="{FF2B5EF4-FFF2-40B4-BE49-F238E27FC236}">
                <a16:creationId xmlns:a16="http://schemas.microsoft.com/office/drawing/2014/main" id="{E136A4FD-6D34-4324-B25A-FA67D9AA32F9}"/>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0C38D53F-AF59-4510-908B-D2B7D67F830F}"/>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06</a:t>
            </a:r>
          </a:p>
        </p:txBody>
      </p:sp>
      <p:sp>
        <p:nvSpPr>
          <p:cNvPr id="5" name="text-58-170">
            <a:extLst xmlns:a="http://schemas.openxmlformats.org/drawingml/2006/main">
              <a:ext uri="{FF2B5EF4-FFF2-40B4-BE49-F238E27FC236}">
                <a16:creationId xmlns:a16="http://schemas.microsoft.com/office/drawing/2014/main" id="{27FFA173-C8E8-452C-BD4E-D1C56C379506}"/>
              </a:ext>
            </a:extLst>
          </p:cNvPr>
          <p:cNvSpPr>
            <a:spLocks xmlns:a="http://schemas.openxmlformats.org/drawingml/2006/main" noGrp="1"/>
          </p:cNvSpPr>
          <p:nvPr/>
        </p:nvSpPr>
        <p:spPr>
          <a:xfrm xmlns:a="http://schemas.openxmlformats.org/drawingml/2006/main">
            <a:off x="552450" y="1619250"/>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Every value below is taken from the generated metrics CSV. Processing time reflects this local sample run only.</a:t>
            </a:r>
          </a:p>
        </p:txBody>
      </p:sp>
      <p:sp>
        <p:nvSpPr>
          <p:cNvPr id="6" name="shape-58-285">
            <a:extLst xmlns:a="http://schemas.openxmlformats.org/drawingml/2006/main">
              <a:ext uri="{FF2B5EF4-FFF2-40B4-BE49-F238E27FC236}">
                <a16:creationId xmlns:a16="http://schemas.microsoft.com/office/drawing/2014/main" id="{64926021-F8C6-4F24-A547-80BEC6DD1EA3}"/>
              </a:ext>
            </a:extLst>
          </p:cNvPr>
          <p:cNvSpPr>
            <a:spLocks xmlns:a="http://schemas.openxmlformats.org/drawingml/2006/main" noGrp="1"/>
          </p:cNvSpPr>
          <p:nvPr/>
        </p:nvSpPr>
        <p:spPr>
          <a:xfrm xmlns:a="http://schemas.openxmlformats.org/drawingml/2006/main">
            <a:off x="552450" y="2714625"/>
            <a:ext cx="3333750" cy="2381250"/>
          </a:xfrm>
          <a:prstGeom xmlns:a="http://schemas.openxmlformats.org/drawingml/2006/main" prst="roundRect">
            <a:avLst>
              <a:gd name="adj" fmla="val 4800"/>
            </a:avLst>
          </a:prstGeom>
          <a:solidFill xmlns:a="http://schemas.openxmlformats.org/drawingml/2006/main">
            <a:srgbClr val="F1F2F4"/>
          </a:solidFill>
          <a:ln xmlns:a="http://schemas.openxmlformats.org/drawingml/2006/main" w="9525">
            <a:solidFill>
              <a:srgbClr val="E1E3E6"/>
            </a:solidFill>
            <a:prstDash val="solid"/>
          </a:ln>
        </p:spPr>
      </p:sp>
      <p:sp>
        <p:nvSpPr>
          <p:cNvPr id="7" name="shape-58-285">
            <a:extLst xmlns:a="http://schemas.openxmlformats.org/drawingml/2006/main">
              <a:ext uri="{FF2B5EF4-FFF2-40B4-BE49-F238E27FC236}">
                <a16:creationId xmlns:a16="http://schemas.microsoft.com/office/drawing/2014/main" id="{C3EA6AC8-BA13-41CB-9234-786860B329E3}"/>
              </a:ext>
            </a:extLst>
          </p:cNvPr>
          <p:cNvSpPr>
            <a:spLocks xmlns:a="http://schemas.openxmlformats.org/drawingml/2006/main" noGrp="1"/>
          </p:cNvSpPr>
          <p:nvPr/>
        </p:nvSpPr>
        <p:spPr>
          <a:xfrm xmlns:a="http://schemas.openxmlformats.org/drawingml/2006/main">
            <a:off x="552450" y="2714625"/>
            <a:ext cx="76200" cy="23812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ext-86-309">
            <a:extLst xmlns:a="http://schemas.openxmlformats.org/drawingml/2006/main">
              <a:ext uri="{FF2B5EF4-FFF2-40B4-BE49-F238E27FC236}">
                <a16:creationId xmlns:a16="http://schemas.microsoft.com/office/drawing/2014/main" id="{117F66E3-E9E2-4A15-B7B8-36C8CC5403BF}"/>
              </a:ext>
            </a:extLst>
          </p:cNvPr>
          <p:cNvSpPr>
            <a:spLocks xmlns:a="http://schemas.openxmlformats.org/drawingml/2006/main" noGrp="1"/>
          </p:cNvSpPr>
          <p:nvPr/>
        </p:nvSpPr>
        <p:spPr>
          <a:xfrm xmlns:a="http://schemas.openxmlformats.org/drawingml/2006/main">
            <a:off x="819150" y="2943225"/>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latin typeface="Arial"/>
                <a:ea typeface="Arial"/>
                <a:cs typeface="Arial"/>
              </a:defRPr>
            </a:pPr>
            <a:r>
              <a:rPr sz="3450" b="1">
                <a:solidFill>
                  <a:srgbClr val="111111"/>
                </a:solidFill>
                <a:latin typeface="Arial"/>
                <a:ea typeface="Arial"/>
                <a:cs typeface="Arial"/>
              </a:rPr>
              <a:t>20</a:t>
            </a:r>
          </a:p>
        </p:txBody>
      </p:sp>
      <p:sp>
        <p:nvSpPr>
          <p:cNvPr id="9" name="text-86-387">
            <a:extLst xmlns:a="http://schemas.openxmlformats.org/drawingml/2006/main">
              <a:ext uri="{FF2B5EF4-FFF2-40B4-BE49-F238E27FC236}">
                <a16:creationId xmlns:a16="http://schemas.microsoft.com/office/drawing/2014/main" id="{3E0F4D79-FBA9-4FA2-A136-2F0D1AAFBA27}"/>
              </a:ext>
            </a:extLst>
          </p:cNvPr>
          <p:cNvSpPr>
            <a:spLocks xmlns:a="http://schemas.openxmlformats.org/drawingml/2006/main" noGrp="1"/>
          </p:cNvSpPr>
          <p:nvPr/>
        </p:nvSpPr>
        <p:spPr>
          <a:xfrm xmlns:a="http://schemas.openxmlformats.org/drawingml/2006/main">
            <a:off x="819150" y="3686175"/>
            <a:ext cx="28384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F6368"/>
                </a:solidFill>
                <a:latin typeface="Arial"/>
                <a:ea typeface="Arial"/>
                <a:cs typeface="Arial"/>
              </a:defRPr>
            </a:pPr>
            <a:r>
              <a:rPr sz="1350" b="0">
                <a:solidFill>
                  <a:srgbClr val="5F6368"/>
                </a:solidFill>
                <a:latin typeface="Arial"/>
                <a:ea typeface="Arial"/>
                <a:cs typeface="Arial"/>
              </a:rPr>
              <a:t>step-level audit events</a:t>
            </a:r>
          </a:p>
        </p:txBody>
      </p:sp>
      <p:sp>
        <p:nvSpPr>
          <p:cNvPr id="10" name="shape-465-285">
            <a:extLst xmlns:a="http://schemas.openxmlformats.org/drawingml/2006/main">
              <a:ext uri="{FF2B5EF4-FFF2-40B4-BE49-F238E27FC236}">
                <a16:creationId xmlns:a16="http://schemas.microsoft.com/office/drawing/2014/main" id="{DFF43446-B3CC-462D-8EAB-BAFED9487E47}"/>
              </a:ext>
            </a:extLst>
          </p:cNvPr>
          <p:cNvSpPr>
            <a:spLocks xmlns:a="http://schemas.openxmlformats.org/drawingml/2006/main" noGrp="1"/>
          </p:cNvSpPr>
          <p:nvPr/>
        </p:nvSpPr>
        <p:spPr>
          <a:xfrm xmlns:a="http://schemas.openxmlformats.org/drawingml/2006/main">
            <a:off x="4429125" y="2714625"/>
            <a:ext cx="3333750" cy="2381250"/>
          </a:xfrm>
          <a:prstGeom xmlns:a="http://schemas.openxmlformats.org/drawingml/2006/main" prst="roundRect">
            <a:avLst>
              <a:gd name="adj" fmla="val 4800"/>
            </a:avLst>
          </a:prstGeom>
          <a:solidFill xmlns:a="http://schemas.openxmlformats.org/drawingml/2006/main">
            <a:srgbClr val="F1F2F4"/>
          </a:solidFill>
          <a:ln xmlns:a="http://schemas.openxmlformats.org/drawingml/2006/main" w="9525">
            <a:solidFill>
              <a:srgbClr val="E1E3E6"/>
            </a:solidFill>
            <a:prstDash val="solid"/>
          </a:ln>
        </p:spPr>
      </p:sp>
      <p:sp>
        <p:nvSpPr>
          <p:cNvPr id="11" name="shape-465-285">
            <a:extLst xmlns:a="http://schemas.openxmlformats.org/drawingml/2006/main">
              <a:ext uri="{FF2B5EF4-FFF2-40B4-BE49-F238E27FC236}">
                <a16:creationId xmlns:a16="http://schemas.microsoft.com/office/drawing/2014/main" id="{6F708990-9365-41EE-A25C-A6E6CD5AAE7E}"/>
              </a:ext>
            </a:extLst>
          </p:cNvPr>
          <p:cNvSpPr>
            <a:spLocks xmlns:a="http://schemas.openxmlformats.org/drawingml/2006/main" noGrp="1"/>
          </p:cNvSpPr>
          <p:nvPr/>
        </p:nvSpPr>
        <p:spPr>
          <a:xfrm xmlns:a="http://schemas.openxmlformats.org/drawingml/2006/main">
            <a:off x="4429125" y="2714625"/>
            <a:ext cx="76200" cy="2381250"/>
          </a:xfrm>
          <a:prstGeom xmlns:a="http://schemas.openxmlformats.org/drawingml/2006/main" prst="rect">
            <a:avLst/>
          </a:prstGeom>
          <a:solidFill xmlns:a="http://schemas.openxmlformats.org/drawingml/2006/main">
            <a:srgbClr val="F2C811"/>
          </a:solidFill>
          <a:ln xmlns:a="http://schemas.openxmlformats.org/drawingml/2006/main" w="0">
            <a:solidFill>
              <a:srgbClr val="F2C811"/>
            </a:solidFill>
            <a:prstDash val="solid"/>
          </a:ln>
        </p:spPr>
      </p:sp>
      <p:sp>
        <p:nvSpPr>
          <p:cNvPr id="12" name="text-493-309">
            <a:extLst xmlns:a="http://schemas.openxmlformats.org/drawingml/2006/main">
              <a:ext uri="{FF2B5EF4-FFF2-40B4-BE49-F238E27FC236}">
                <a16:creationId xmlns:a16="http://schemas.microsoft.com/office/drawing/2014/main" id="{76474331-A59F-4672-92C7-A6F0A604CB58}"/>
              </a:ext>
            </a:extLst>
          </p:cNvPr>
          <p:cNvSpPr>
            <a:spLocks xmlns:a="http://schemas.openxmlformats.org/drawingml/2006/main" noGrp="1"/>
          </p:cNvSpPr>
          <p:nvPr/>
        </p:nvSpPr>
        <p:spPr>
          <a:xfrm xmlns:a="http://schemas.openxmlformats.org/drawingml/2006/main">
            <a:off x="4695825" y="2943225"/>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latin typeface="Arial"/>
                <a:ea typeface="Arial"/>
                <a:cs typeface="Arial"/>
              </a:defRPr>
            </a:pPr>
            <a:r>
              <a:rPr sz="3450" b="1">
                <a:solidFill>
                  <a:srgbClr val="111111"/>
                </a:solidFill>
                <a:latin typeface="Arial"/>
                <a:ea typeface="Arial"/>
                <a:cs typeface="Arial"/>
              </a:rPr>
              <a:t>38</a:t>
            </a:r>
          </a:p>
        </p:txBody>
      </p:sp>
      <p:sp>
        <p:nvSpPr>
          <p:cNvPr id="13" name="text-493-387">
            <a:extLst xmlns:a="http://schemas.openxmlformats.org/drawingml/2006/main">
              <a:ext uri="{FF2B5EF4-FFF2-40B4-BE49-F238E27FC236}">
                <a16:creationId xmlns:a16="http://schemas.microsoft.com/office/drawing/2014/main" id="{16DC4EAC-FA5E-49C2-AC35-8770B28AE1CE}"/>
              </a:ext>
            </a:extLst>
          </p:cNvPr>
          <p:cNvSpPr>
            <a:spLocks xmlns:a="http://schemas.openxmlformats.org/drawingml/2006/main" noGrp="1"/>
          </p:cNvSpPr>
          <p:nvPr/>
        </p:nvSpPr>
        <p:spPr>
          <a:xfrm xmlns:a="http://schemas.openxmlformats.org/drawingml/2006/main">
            <a:off x="4695825" y="3686175"/>
            <a:ext cx="28384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F6368"/>
                </a:solidFill>
                <a:latin typeface="Arial"/>
                <a:ea typeface="Arial"/>
                <a:cs typeface="Arial"/>
              </a:defRPr>
            </a:pPr>
            <a:r>
              <a:rPr sz="1350" b="0">
                <a:solidFill>
                  <a:srgbClr val="5F6368"/>
                </a:solidFill>
                <a:latin typeface="Arial"/>
                <a:ea typeface="Arial"/>
                <a:cs typeface="Arial"/>
              </a:rPr>
              <a:t>Power BI-ready metric fields</a:t>
            </a:r>
          </a:p>
        </p:txBody>
      </p:sp>
      <p:sp>
        <p:nvSpPr>
          <p:cNvPr id="14" name="shape-872-285">
            <a:extLst xmlns:a="http://schemas.openxmlformats.org/drawingml/2006/main">
              <a:ext uri="{FF2B5EF4-FFF2-40B4-BE49-F238E27FC236}">
                <a16:creationId xmlns:a16="http://schemas.microsoft.com/office/drawing/2014/main" id="{512D3555-A9D6-4DC6-B767-487F6372746C}"/>
              </a:ext>
            </a:extLst>
          </p:cNvPr>
          <p:cNvSpPr>
            <a:spLocks xmlns:a="http://schemas.openxmlformats.org/drawingml/2006/main" noGrp="1"/>
          </p:cNvSpPr>
          <p:nvPr/>
        </p:nvSpPr>
        <p:spPr>
          <a:xfrm xmlns:a="http://schemas.openxmlformats.org/drawingml/2006/main">
            <a:off x="8305800" y="2714625"/>
            <a:ext cx="3333750" cy="2381250"/>
          </a:xfrm>
          <a:prstGeom xmlns:a="http://schemas.openxmlformats.org/drawingml/2006/main" prst="roundRect">
            <a:avLst>
              <a:gd name="adj" fmla="val 4800"/>
            </a:avLst>
          </a:prstGeom>
          <a:solidFill xmlns:a="http://schemas.openxmlformats.org/drawingml/2006/main">
            <a:srgbClr val="F1F2F4"/>
          </a:solidFill>
          <a:ln xmlns:a="http://schemas.openxmlformats.org/drawingml/2006/main" w="9525">
            <a:solidFill>
              <a:srgbClr val="E1E3E6"/>
            </a:solidFill>
            <a:prstDash val="solid"/>
          </a:ln>
        </p:spPr>
      </p:sp>
      <p:sp>
        <p:nvSpPr>
          <p:cNvPr id="15" name="shape-872-285">
            <a:extLst xmlns:a="http://schemas.openxmlformats.org/drawingml/2006/main">
              <a:ext uri="{FF2B5EF4-FFF2-40B4-BE49-F238E27FC236}">
                <a16:creationId xmlns:a16="http://schemas.microsoft.com/office/drawing/2014/main" id="{87A6D387-AED1-4666-9AA2-036126100EB5}"/>
              </a:ext>
            </a:extLst>
          </p:cNvPr>
          <p:cNvSpPr>
            <a:spLocks xmlns:a="http://schemas.openxmlformats.org/drawingml/2006/main" noGrp="1"/>
          </p:cNvSpPr>
          <p:nvPr/>
        </p:nvSpPr>
        <p:spPr>
          <a:xfrm xmlns:a="http://schemas.openxmlformats.org/drawingml/2006/main">
            <a:off x="8305800" y="2714625"/>
            <a:ext cx="76200" cy="23812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16" name="text-900-309">
            <a:extLst xmlns:a="http://schemas.openxmlformats.org/drawingml/2006/main">
              <a:ext uri="{FF2B5EF4-FFF2-40B4-BE49-F238E27FC236}">
                <a16:creationId xmlns:a16="http://schemas.microsoft.com/office/drawing/2014/main" id="{572F1431-52AF-4C0B-81A9-8F9DDEFF9D1A}"/>
              </a:ext>
            </a:extLst>
          </p:cNvPr>
          <p:cNvSpPr>
            <a:spLocks xmlns:a="http://schemas.openxmlformats.org/drawingml/2006/main" noGrp="1"/>
          </p:cNvSpPr>
          <p:nvPr/>
        </p:nvSpPr>
        <p:spPr>
          <a:xfrm xmlns:a="http://schemas.openxmlformats.org/drawingml/2006/main">
            <a:off x="8572500" y="2943225"/>
            <a:ext cx="2838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111111"/>
                </a:solidFill>
                <a:latin typeface="Arial"/>
                <a:ea typeface="Arial"/>
                <a:cs typeface="Arial"/>
              </a:defRPr>
            </a:pPr>
            <a:r>
              <a:rPr sz="3450" b="1">
                <a:solidFill>
                  <a:srgbClr val="111111"/>
                </a:solidFill>
                <a:latin typeface="Arial"/>
                <a:ea typeface="Arial"/>
                <a:cs typeface="Arial"/>
              </a:rPr>
              <a:t>22.5 ms</a:t>
            </a:r>
          </a:p>
        </p:txBody>
      </p:sp>
      <p:sp>
        <p:nvSpPr>
          <p:cNvPr id="17" name="text-900-387">
            <a:extLst xmlns:a="http://schemas.openxmlformats.org/drawingml/2006/main">
              <a:ext uri="{FF2B5EF4-FFF2-40B4-BE49-F238E27FC236}">
                <a16:creationId xmlns:a16="http://schemas.microsoft.com/office/drawing/2014/main" id="{083A9C97-535E-4A2F-9EAF-15F9D3A90AF7}"/>
              </a:ext>
            </a:extLst>
          </p:cNvPr>
          <p:cNvSpPr>
            <a:spLocks xmlns:a="http://schemas.openxmlformats.org/drawingml/2006/main" noGrp="1"/>
          </p:cNvSpPr>
          <p:nvPr/>
        </p:nvSpPr>
        <p:spPr>
          <a:xfrm xmlns:a="http://schemas.openxmlformats.org/drawingml/2006/main">
            <a:off x="8572500" y="3686175"/>
            <a:ext cx="28384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F6368"/>
                </a:solidFill>
                <a:latin typeface="Arial"/>
                <a:ea typeface="Arial"/>
                <a:cs typeface="Arial"/>
              </a:defRPr>
            </a:pPr>
            <a:r>
              <a:rPr sz="1350" b="0">
                <a:solidFill>
                  <a:srgbClr val="5F6368"/>
                </a:solidFill>
                <a:latin typeface="Arial"/>
                <a:ea typeface="Arial"/>
                <a:cs typeface="Arial"/>
              </a:rPr>
              <a:t>total tracked processing time</a:t>
            </a:r>
          </a:p>
        </p:txBody>
      </p:sp>
      <p:sp>
        <p:nvSpPr>
          <p:cNvPr id="18" name="text-58-590">
            <a:extLst xmlns:a="http://schemas.openxmlformats.org/drawingml/2006/main">
              <a:ext uri="{FF2B5EF4-FFF2-40B4-BE49-F238E27FC236}">
                <a16:creationId xmlns:a16="http://schemas.microsoft.com/office/drawing/2014/main" id="{57394856-683C-4255-99B5-FA424A476651}"/>
              </a:ext>
            </a:extLst>
          </p:cNvPr>
          <p:cNvSpPr>
            <a:spLocks xmlns:a="http://schemas.openxmlformats.org/drawingml/2006/main" noGrp="1"/>
          </p:cNvSpPr>
          <p:nvPr/>
        </p:nvSpPr>
        <p:spPr>
          <a:xfrm xmlns:a="http://schemas.openxmlformats.org/drawingml/2006/main">
            <a:off x="552450" y="5619750"/>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11111"/>
                </a:solidFill>
                <a:latin typeface="Arial"/>
                <a:ea typeface="Arial"/>
                <a:cs typeface="Arial"/>
              </a:defRPr>
            </a:pPr>
            <a:r>
              <a:rPr sz="1575" b="1">
                <a:solidFill>
                  <a:srgbClr val="111111"/>
                </a:solidFill>
                <a:latin typeface="Arial"/>
                <a:ea typeface="Arial"/>
                <a:cs typeface="Arial"/>
              </a:rPr>
              <a:t>2 datasets  •  1 unique run ID  •  historical append enabled</a:t>
            </a:r>
          </a:p>
        </p:txBody>
      </p:sp>
    </p:spTree>
    <p:extLst>
      <p:ext uri="{BB962C8B-B14F-4D97-AF65-F5344CB8AC3E}">
        <p14:creationId xmlns:p14="http://schemas.microsoft.com/office/powerpoint/2010/main" val="670358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F4DE1E6C-AB04-456B-BD70-64D349AE0042}"/>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D01349ED-6F9E-4372-A81F-FC37EE2E65CB}"/>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Empty rows explain the reduction in book records</a:t>
            </a:r>
          </a:p>
        </p:txBody>
      </p:sp>
      <p:sp>
        <p:nvSpPr>
          <p:cNvPr id="3" name="rule-143">
            <a:extLst xmlns:a="http://schemas.openxmlformats.org/drawingml/2006/main">
              <a:ext uri="{FF2B5EF4-FFF2-40B4-BE49-F238E27FC236}">
                <a16:creationId xmlns:a16="http://schemas.microsoft.com/office/drawing/2014/main" id="{9D88556E-A867-425E-9418-58783FE1C9BE}"/>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9ED14E33-D64E-433D-8188-217EA1830EE9}"/>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07</a:t>
            </a:r>
          </a:p>
        </p:txBody>
      </p:sp>
      <p:graphicFrame>
        <p:nvGraphicFramePr>
          <p:cNvPr id="16" name="Chart"/>
          <p:cNvGraphicFramePr/>
          <p:nvPr/>
        </p:nvGraphicFramePr>
        <p:xfrm>
          <a:off xmlns:a="http://schemas.openxmlformats.org/drawingml/2006/main" x="495300" y="1762125"/>
          <a:ext xmlns:a="http://schemas.openxmlformats.org/drawingml/2006/main" cx="6286500" cy="4095750"/>
        </p:xfrm>
        <a:graphic xmlns:a="http://schemas.openxmlformats.org/drawingml/2006/main">
          <a:graphicData uri="http://schemas.openxmlformats.org/drawingml/2006/chart">
            <c:chart xmlns:r="http://schemas.openxmlformats.org/officeDocument/2006/relationships" xmlns:c="http://schemas.openxmlformats.org/drawingml/2006/chart" r:id="R76ed30b10cdb4386"/>
          </a:graphicData>
        </a:graphic>
      </p:graphicFrame>
      <p:sp>
        <p:nvSpPr>
          <p:cNvPr id="6" name="text-790-212">
            <a:extLst xmlns:a="http://schemas.openxmlformats.org/drawingml/2006/main">
              <a:ext uri="{FF2B5EF4-FFF2-40B4-BE49-F238E27FC236}">
                <a16:creationId xmlns:a16="http://schemas.microsoft.com/office/drawing/2014/main" id="{DA1F7A17-7D15-46B5-A324-347D45E18819}"/>
              </a:ext>
            </a:extLst>
          </p:cNvPr>
          <p:cNvSpPr>
            <a:spLocks xmlns:a="http://schemas.openxmlformats.org/drawingml/2006/main" noGrp="1"/>
          </p:cNvSpPr>
          <p:nvPr/>
        </p:nvSpPr>
        <p:spPr>
          <a:xfrm xmlns:a="http://schemas.openxmlformats.org/drawingml/2006/main">
            <a:off x="7524750" y="201930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111111"/>
                </a:solidFill>
                <a:latin typeface="Arial"/>
                <a:ea typeface="Arial"/>
                <a:cs typeface="Arial"/>
              </a:defRPr>
            </a:pPr>
            <a:r>
              <a:rPr sz="3900" b="1">
                <a:solidFill>
                  <a:srgbClr val="111111"/>
                </a:solidFill>
                <a:latin typeface="Arial"/>
                <a:ea typeface="Arial"/>
                <a:cs typeface="Arial"/>
              </a:rPr>
              <a:t>93</a:t>
            </a:r>
          </a:p>
        </p:txBody>
      </p:sp>
      <p:sp>
        <p:nvSpPr>
          <p:cNvPr id="7" name="text-790-286">
            <a:extLst xmlns:a="http://schemas.openxmlformats.org/drawingml/2006/main">
              <a:ext uri="{FF2B5EF4-FFF2-40B4-BE49-F238E27FC236}">
                <a16:creationId xmlns:a16="http://schemas.microsoft.com/office/drawing/2014/main" id="{591A2BE7-567F-4151-A8AE-C3B5BE18DD96}"/>
              </a:ext>
            </a:extLst>
          </p:cNvPr>
          <p:cNvSpPr>
            <a:spLocks xmlns:a="http://schemas.openxmlformats.org/drawingml/2006/main" noGrp="1"/>
          </p:cNvSpPr>
          <p:nvPr/>
        </p:nvSpPr>
        <p:spPr>
          <a:xfrm xmlns:a="http://schemas.openxmlformats.org/drawingml/2006/main">
            <a:off x="7524750" y="27241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fully empty book rows removed</a:t>
            </a:r>
          </a:p>
        </p:txBody>
      </p:sp>
      <p:sp>
        <p:nvSpPr>
          <p:cNvPr id="8" name="rule-370">
            <a:extLst xmlns:a="http://schemas.openxmlformats.org/drawingml/2006/main">
              <a:ext uri="{FF2B5EF4-FFF2-40B4-BE49-F238E27FC236}">
                <a16:creationId xmlns:a16="http://schemas.microsoft.com/office/drawing/2014/main" id="{65B082B3-B216-40F5-B560-3EF58D3D8036}"/>
              </a:ext>
            </a:extLst>
          </p:cNvPr>
          <p:cNvSpPr>
            <a:spLocks xmlns:a="http://schemas.openxmlformats.org/drawingml/2006/main" noGrp="1"/>
          </p:cNvSpPr>
          <p:nvPr/>
        </p:nvSpPr>
        <p:spPr>
          <a:xfrm xmlns:a="http://schemas.openxmlformats.org/drawingml/2006/main">
            <a:off x="7524750" y="3524250"/>
            <a:ext cx="371475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9" name="text-790-404">
            <a:extLst xmlns:a="http://schemas.openxmlformats.org/drawingml/2006/main">
              <a:ext uri="{FF2B5EF4-FFF2-40B4-BE49-F238E27FC236}">
                <a16:creationId xmlns:a16="http://schemas.microsoft.com/office/drawing/2014/main" id="{9BF1D2CE-FB2B-4873-B8D7-6B2F731F79E4}"/>
              </a:ext>
            </a:extLst>
          </p:cNvPr>
          <p:cNvSpPr>
            <a:spLocks xmlns:a="http://schemas.openxmlformats.org/drawingml/2006/main" noGrp="1"/>
          </p:cNvSpPr>
          <p:nvPr/>
        </p:nvSpPr>
        <p:spPr>
          <a:xfrm xmlns:a="http://schemas.openxmlformats.org/drawingml/2006/main">
            <a:off x="7524750" y="3848100"/>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111111"/>
                </a:solidFill>
                <a:latin typeface="Arial"/>
                <a:ea typeface="Arial"/>
                <a:cs typeface="Arial"/>
              </a:defRPr>
            </a:pPr>
            <a:r>
              <a:rPr sz="3900" b="1">
                <a:solidFill>
                  <a:srgbClr val="111111"/>
                </a:solidFill>
                <a:latin typeface="Arial"/>
                <a:ea typeface="Arial"/>
                <a:cs typeface="Arial"/>
              </a:rPr>
              <a:t>1</a:t>
            </a:r>
          </a:p>
        </p:txBody>
      </p:sp>
      <p:sp>
        <p:nvSpPr>
          <p:cNvPr id="10" name="text-790-478">
            <a:extLst xmlns:a="http://schemas.openxmlformats.org/drawingml/2006/main">
              <a:ext uri="{FF2B5EF4-FFF2-40B4-BE49-F238E27FC236}">
                <a16:creationId xmlns:a16="http://schemas.microsoft.com/office/drawing/2014/main" id="{CDE81749-9561-476D-9721-6489581269E1}"/>
              </a:ext>
            </a:extLst>
          </p:cNvPr>
          <p:cNvSpPr>
            <a:spLocks xmlns:a="http://schemas.openxmlformats.org/drawingml/2006/main" noGrp="1"/>
          </p:cNvSpPr>
          <p:nvPr/>
        </p:nvSpPr>
        <p:spPr>
          <a:xfrm xmlns:a="http://schemas.openxmlformats.org/drawingml/2006/main">
            <a:off x="7524750" y="45529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fully empty customer row removed</a:t>
            </a:r>
          </a:p>
        </p:txBody>
      </p:sp>
      <p:sp>
        <p:nvSpPr>
          <p:cNvPr id="11" name="text-790-582">
            <a:extLst xmlns:a="http://schemas.openxmlformats.org/drawingml/2006/main">
              <a:ext uri="{FF2B5EF4-FFF2-40B4-BE49-F238E27FC236}">
                <a16:creationId xmlns:a16="http://schemas.microsoft.com/office/drawing/2014/main" id="{CE8652E4-13C2-485E-9D6C-AFB09594DF0D}"/>
              </a:ext>
            </a:extLst>
          </p:cNvPr>
          <p:cNvSpPr>
            <a:spLocks xmlns:a="http://schemas.openxmlformats.org/drawingml/2006/main" noGrp="1"/>
          </p:cNvSpPr>
          <p:nvPr/>
        </p:nvSpPr>
        <p:spPr>
          <a:xfrm xmlns:a="http://schemas.openxmlformats.org/drawingml/2006/main">
            <a:off x="7524750" y="55435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Arial"/>
                <a:ea typeface="Arial"/>
                <a:cs typeface="Arial"/>
              </a:defRPr>
            </a:pPr>
            <a:r>
              <a:rPr sz="1650" b="1">
                <a:solidFill>
                  <a:srgbClr val="3D8DFF"/>
                </a:solidFill>
                <a:latin typeface="Arial"/>
                <a:ea typeface="Arial"/>
                <a:cs typeface="Arial"/>
              </a:rPr>
              <a:t>Final analytical volume: 29 rows</a:t>
            </a:r>
          </a:p>
        </p:txBody>
      </p:sp>
    </p:spTree>
    <p:extLst>
      <p:ext uri="{BB962C8B-B14F-4D97-AF65-F5344CB8AC3E}">
        <p14:creationId xmlns:p14="http://schemas.microsoft.com/office/powerpoint/2010/main" val="160131904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
            <a:extLst xmlns:a="http://schemas.openxmlformats.org/drawingml/2006/main">
              <a:ext uri="{FF2B5EF4-FFF2-40B4-BE49-F238E27FC236}">
                <a16:creationId xmlns:a16="http://schemas.microsoft.com/office/drawing/2014/main" id="{ACB01867-EE66-4C11-A162-3952B377F00D}"/>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D810E679-442F-4BF2-B5E6-94D1A22A0E90}"/>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Warnings expose source issues without blocking clean outputs</a:t>
            </a:r>
          </a:p>
        </p:txBody>
      </p:sp>
      <p:sp>
        <p:nvSpPr>
          <p:cNvPr id="3" name="rule-143">
            <a:extLst xmlns:a="http://schemas.openxmlformats.org/drawingml/2006/main">
              <a:ext uri="{FF2B5EF4-FFF2-40B4-BE49-F238E27FC236}">
                <a16:creationId xmlns:a16="http://schemas.microsoft.com/office/drawing/2014/main" id="{B8A84A16-77B8-4141-8BF0-44108FF1BA05}"/>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BB8C82D2-8949-4536-8C32-08F1B854E531}"/>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08</a:t>
            </a:r>
          </a:p>
        </p:txBody>
      </p:sp>
      <p:graphicFrame>
        <p:nvGraphicFramePr>
          <p:cNvPr id="15" name="Chart"/>
          <p:cNvGraphicFramePr/>
          <p:nvPr/>
        </p:nvGraphicFramePr>
        <p:xfrm>
          <a:off xmlns:a="http://schemas.openxmlformats.org/drawingml/2006/main" x="495300" y="1714500"/>
          <a:ext xmlns:a="http://schemas.openxmlformats.org/drawingml/2006/main" cx="6381750" cy="4333875"/>
        </p:xfrm>
        <a:graphic xmlns:a="http://schemas.openxmlformats.org/drawingml/2006/main">
          <a:graphicData uri="http://schemas.openxmlformats.org/drawingml/2006/chart">
            <c:chart xmlns:r="http://schemas.openxmlformats.org/officeDocument/2006/relationships" xmlns:c="http://schemas.openxmlformats.org/drawingml/2006/chart" r:id="Rd03135af2a534fc3"/>
          </a:graphicData>
        </a:graphic>
      </p:graphicFrame>
      <p:sp>
        <p:nvSpPr>
          <p:cNvPr id="6" name="text-790-205">
            <a:extLst xmlns:a="http://schemas.openxmlformats.org/drawingml/2006/main">
              <a:ext uri="{FF2B5EF4-FFF2-40B4-BE49-F238E27FC236}">
                <a16:creationId xmlns:a16="http://schemas.microsoft.com/office/drawing/2014/main" id="{AE4A99A4-8EE3-4A5F-AF33-371B1BAC6C48}"/>
              </a:ext>
            </a:extLst>
          </p:cNvPr>
          <p:cNvSpPr>
            <a:spLocks xmlns:a="http://schemas.openxmlformats.org/drawingml/2006/main" noGrp="1"/>
          </p:cNvSpPr>
          <p:nvPr/>
        </p:nvSpPr>
        <p:spPr>
          <a:xfrm xmlns:a="http://schemas.openxmlformats.org/drawingml/2006/main">
            <a:off x="7524750" y="1952625"/>
            <a:ext cx="114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900" b="1">
                <a:solidFill>
                  <a:srgbClr val="D97706"/>
                </a:solidFill>
                <a:latin typeface="Arial"/>
                <a:ea typeface="Arial"/>
                <a:cs typeface="Arial"/>
              </a:defRPr>
            </a:pPr>
            <a:r>
              <a:rPr sz="3900" b="1">
                <a:solidFill>
                  <a:srgbClr val="D97706"/>
                </a:solidFill>
                <a:latin typeface="Arial"/>
                <a:ea typeface="Arial"/>
                <a:cs typeface="Arial"/>
              </a:rPr>
              <a:t>9</a:t>
            </a:r>
          </a:p>
        </p:txBody>
      </p:sp>
      <p:sp>
        <p:nvSpPr>
          <p:cNvPr id="7" name="text-920-222">
            <a:extLst xmlns:a="http://schemas.openxmlformats.org/drawingml/2006/main">
              <a:ext uri="{FF2B5EF4-FFF2-40B4-BE49-F238E27FC236}">
                <a16:creationId xmlns:a16="http://schemas.microsoft.com/office/drawing/2014/main" id="{D25A00F0-0F95-4D66-B0A0-369E5A51EA5B}"/>
              </a:ext>
            </a:extLst>
          </p:cNvPr>
          <p:cNvSpPr>
            <a:spLocks xmlns:a="http://schemas.openxmlformats.org/drawingml/2006/main" noGrp="1"/>
          </p:cNvSpPr>
          <p:nvPr/>
        </p:nvSpPr>
        <p:spPr>
          <a:xfrm xmlns:a="http://schemas.openxmlformats.org/drawingml/2006/main">
            <a:off x="8763000" y="21145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11111"/>
                </a:solidFill>
                <a:latin typeface="Arial"/>
                <a:ea typeface="Arial"/>
                <a:cs typeface="Arial"/>
              </a:defRPr>
            </a:pPr>
            <a:r>
              <a:rPr sz="1800" b="1">
                <a:solidFill>
                  <a:srgbClr val="111111"/>
                </a:solidFill>
                <a:latin typeface="Arial"/>
                <a:ea typeface="Arial"/>
                <a:cs typeface="Arial"/>
              </a:rPr>
              <a:t>quality-rule hits</a:t>
            </a:r>
          </a:p>
        </p:txBody>
      </p:sp>
      <p:sp>
        <p:nvSpPr>
          <p:cNvPr id="8" name="text-790-300">
            <a:extLst xmlns:a="http://schemas.openxmlformats.org/drawingml/2006/main">
              <a:ext uri="{FF2B5EF4-FFF2-40B4-BE49-F238E27FC236}">
                <a16:creationId xmlns:a16="http://schemas.microsoft.com/office/drawing/2014/main" id="{70D8F6BB-11C5-43F7-AF98-7BE6288E7B73}"/>
              </a:ext>
            </a:extLst>
          </p:cNvPr>
          <p:cNvSpPr>
            <a:spLocks xmlns:a="http://schemas.openxmlformats.org/drawingml/2006/main" noGrp="1"/>
          </p:cNvSpPr>
          <p:nvPr/>
        </p:nvSpPr>
        <p:spPr>
          <a:xfrm xmlns:a="http://schemas.openxmlformats.org/drawingml/2006/main">
            <a:off x="7524750" y="2857500"/>
            <a:ext cx="3714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5F6368"/>
                </a:solidFill>
                <a:latin typeface="Arial"/>
                <a:ea typeface="Arial"/>
                <a:cs typeface="Arial"/>
              </a:defRPr>
            </a:pPr>
            <a:r>
              <a:rPr sz="1500" b="0">
                <a:solidFill>
                  <a:srgbClr val="5F6368"/>
                </a:solidFill>
                <a:latin typeface="Arial"/>
                <a:ea typeface="Arial"/>
                <a:cs typeface="Arial"/>
              </a:rPr>
              <a:t>These are validation exceptions. The five late returns are an operational finding and are not included in the nine quality-rule hits.</a:t>
            </a:r>
          </a:p>
        </p:txBody>
      </p:sp>
      <p:sp>
        <p:nvSpPr>
          <p:cNvPr id="9" name="rule-460">
            <a:extLst xmlns:a="http://schemas.openxmlformats.org/drawingml/2006/main">
              <a:ext uri="{FF2B5EF4-FFF2-40B4-BE49-F238E27FC236}">
                <a16:creationId xmlns:a16="http://schemas.microsoft.com/office/drawing/2014/main" id="{593F38AE-AAE6-484D-A50E-ADA836CCAF69}"/>
              </a:ext>
            </a:extLst>
          </p:cNvPr>
          <p:cNvSpPr>
            <a:spLocks xmlns:a="http://schemas.openxmlformats.org/drawingml/2006/main" noGrp="1"/>
          </p:cNvSpPr>
          <p:nvPr/>
        </p:nvSpPr>
        <p:spPr>
          <a:xfrm xmlns:a="http://schemas.openxmlformats.org/drawingml/2006/main">
            <a:off x="7524750" y="4381500"/>
            <a:ext cx="371475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0" name="text-790-500">
            <a:extLst xmlns:a="http://schemas.openxmlformats.org/drawingml/2006/main">
              <a:ext uri="{FF2B5EF4-FFF2-40B4-BE49-F238E27FC236}">
                <a16:creationId xmlns:a16="http://schemas.microsoft.com/office/drawing/2014/main" id="{35733828-177B-4137-8263-B1005C78EB28}"/>
              </a:ext>
            </a:extLst>
          </p:cNvPr>
          <p:cNvSpPr>
            <a:spLocks xmlns:a="http://schemas.openxmlformats.org/drawingml/2006/main" noGrp="1"/>
          </p:cNvSpPr>
          <p:nvPr/>
        </p:nvSpPr>
        <p:spPr>
          <a:xfrm xmlns:a="http://schemas.openxmlformats.org/drawingml/2006/main">
            <a:off x="7524750" y="4762500"/>
            <a:ext cx="371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3D8DFF"/>
                </a:solidFill>
                <a:latin typeface="Arial"/>
                <a:ea typeface="Arial"/>
                <a:cs typeface="Arial"/>
              </a:defRPr>
            </a:pPr>
            <a:r>
              <a:rPr sz="2025" b="1">
                <a:solidFill>
                  <a:srgbClr val="3D8DFF"/>
                </a:solidFill>
                <a:latin typeface="Arial"/>
                <a:ea typeface="Arial"/>
                <a:cs typeface="Arial"/>
              </a:rPr>
              <a:t>A warning is evidence—not a failed pipeline.</a:t>
            </a:r>
          </a:p>
        </p:txBody>
      </p:sp>
    </p:spTree>
    <p:extLst>
      <p:ext uri="{BB962C8B-B14F-4D97-AF65-F5344CB8AC3E}">
        <p14:creationId xmlns:p14="http://schemas.microsoft.com/office/powerpoint/2010/main" val="2004683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eyebrow">
            <a:extLst xmlns:a="http://schemas.openxmlformats.org/drawingml/2006/main">
              <a:ext uri="{FF2B5EF4-FFF2-40B4-BE49-F238E27FC236}">
                <a16:creationId xmlns:a16="http://schemas.microsoft.com/office/drawing/2014/main" id="{EB2B65C5-2A5D-4A04-9619-3B031AC10B56}"/>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DATA ENGINEERING METRICS</a:t>
            </a:r>
          </a:p>
        </p:txBody>
      </p:sp>
      <p:sp>
        <p:nvSpPr>
          <p:cNvPr id="2" name="slide-title">
            <a:extLst xmlns:a="http://schemas.openxmlformats.org/drawingml/2006/main">
              <a:ext uri="{FF2B5EF4-FFF2-40B4-BE49-F238E27FC236}">
                <a16:creationId xmlns:a16="http://schemas.microsoft.com/office/drawing/2014/main" id="{F8CD0053-BD10-43CE-9872-45646B1C730D}"/>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The 38 fields answer five practical questions about each run</a:t>
            </a:r>
          </a:p>
        </p:txBody>
      </p:sp>
      <p:sp>
        <p:nvSpPr>
          <p:cNvPr id="3" name="rule-143">
            <a:extLst xmlns:a="http://schemas.openxmlformats.org/drawingml/2006/main">
              <a:ext uri="{FF2B5EF4-FFF2-40B4-BE49-F238E27FC236}">
                <a16:creationId xmlns:a16="http://schemas.microsoft.com/office/drawing/2014/main" id="{FFE06AD3-7983-4A34-909A-A4A7A0CE825D}"/>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F9D2D5AE-85D9-4E1F-82E6-0B9344CDEC7A}"/>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09</a:t>
            </a:r>
          </a:p>
        </p:txBody>
      </p:sp>
      <p:graphicFrame>
        <p:nvGraphicFramePr>
          <p:cNvPr id="11" name=""/>
          <p:cNvGraphicFramePr/>
          <p:nvPr/>
        </p:nvGraphicFramePr>
        <p:xfrm>
          <a:off xmlns:a="http://schemas.openxmlformats.org/drawingml/2006/main" x="552450" y="1733550"/>
          <a:ext xmlns:a="http://schemas.openxmlformats.org/drawingml/2006/main" cx="11087100" cy="3905250"/>
        </p:xfrm>
        <a:graphic xmlns:a="http://schemas.openxmlformats.org/drawingml/2006/main">
          <a:graphicData uri="http://schemas.openxmlformats.org/drawingml/2006/table">
            <a:tbl>
              <a:tblPr/>
              <a:tblGrid>
                <a:gridCol w="2190750"/>
                <a:gridCol w="3143250"/>
                <a:gridCol w="5753100"/>
              </a:tblGrid>
              <a:tr h="650875">
                <a:tc>
                  <a:txBody>
                    <a:bodyPr/>
                    <a:lstStyle/>
                    <a:p>
                      <a:r>
                        <a:rPr sz="1275" b="1">
                          <a:solidFill>
                            <a:srgbClr val="FFFFFF"/>
                          </a:solidFill>
                          <a:latin typeface="Arial"/>
                          <a:ea typeface="Arial"/>
                          <a:cs typeface="Arial"/>
                        </a:rPr>
                        <a:t>Metric family</a:t>
                      </a:r>
                    </a:p>
                  </a:txBody>
                  <a:tcPr marL="95250" marR="95250" marT="95250" marB="95250">
                    <a:solidFill>
                      <a:srgbClr val="111111"/>
                    </a:solidFill>
                  </a:tcPr>
                </a:tc>
                <a:tc>
                  <a:txBody>
                    <a:bodyPr/>
                    <a:lstStyle/>
                    <a:p>
                      <a:r>
                        <a:rPr sz="1275" b="1">
                          <a:solidFill>
                            <a:srgbClr val="FFFFFF"/>
                          </a:solidFill>
                          <a:latin typeface="Arial"/>
                          <a:ea typeface="Arial"/>
                          <a:cs typeface="Arial"/>
                        </a:rPr>
                        <a:t>Question answered</a:t>
                      </a:r>
                    </a:p>
                  </a:txBody>
                  <a:tcPr marL="95250" marR="95250" marT="95250" marB="95250">
                    <a:solidFill>
                      <a:srgbClr val="111111"/>
                    </a:solidFill>
                  </a:tcPr>
                </a:tc>
                <a:tc>
                  <a:txBody>
                    <a:bodyPr/>
                    <a:lstStyle/>
                    <a:p>
                      <a:r>
                        <a:rPr sz="1275" b="1">
                          <a:solidFill>
                            <a:srgbClr val="FFFFFF"/>
                          </a:solidFill>
                          <a:latin typeface="Arial"/>
                          <a:ea typeface="Arial"/>
                          <a:cs typeface="Arial"/>
                        </a:rPr>
                        <a:t>Example fields</a:t>
                      </a:r>
                    </a:p>
                  </a:txBody>
                  <a:tcPr marL="95250" marR="95250" marT="95250" marB="95250">
                    <a:solidFill>
                      <a:srgbClr val="111111"/>
                    </a:solidFill>
                  </a:tcPr>
                </a:tc>
              </a:tr>
              <a:tr h="650875">
                <a:tc>
                  <a:txBody>
                    <a:bodyPr/>
                    <a:lstStyle/>
                    <a:p>
                      <a:r>
                        <a:rPr sz="1200">
                          <a:solidFill>
                            <a:srgbClr val="111111"/>
                          </a:solidFill>
                          <a:latin typeface="Arial"/>
                          <a:ea typeface="Arial"/>
                          <a:cs typeface="Arial"/>
                        </a:rPr>
                        <a:t>Traceability</a:t>
                      </a:r>
                    </a:p>
                  </a:txBody>
                  <a:tcPr marL="95250" marR="95250" marT="95250" marB="95250">
                    <a:solidFill>
                      <a:srgbClr val="F7F8F9"/>
                    </a:solidFill>
                  </a:tcPr>
                </a:tc>
                <a:tc>
                  <a:txBody>
                    <a:bodyPr/>
                    <a:lstStyle/>
                    <a:p>
                      <a:r>
                        <a:rPr sz="1200">
                          <a:solidFill>
                            <a:srgbClr val="111111"/>
                          </a:solidFill>
                          <a:latin typeface="Arial"/>
                          <a:ea typeface="Arial"/>
                          <a:cs typeface="Arial"/>
                        </a:rPr>
                        <a:t>Which execution and step?</a:t>
                      </a:r>
                    </a:p>
                  </a:txBody>
                  <a:tcPr marL="95250" marR="95250" marT="95250" marB="95250">
                    <a:solidFill>
                      <a:srgbClr val="F7F8F9"/>
                    </a:solidFill>
                  </a:tcPr>
                </a:tc>
                <a:tc>
                  <a:txBody>
                    <a:bodyPr/>
                    <a:lstStyle/>
                    <a:p>
                      <a:r>
                        <a:rPr sz="1200">
                          <a:solidFill>
                            <a:srgbClr val="111111"/>
                          </a:solidFill>
                          <a:latin typeface="Arial"/>
                          <a:ea typeface="Arial"/>
                          <a:cs typeface="Arial"/>
                        </a:rPr>
                        <a:t>run_id, timestamp, dataset, step_number</a:t>
                      </a:r>
                    </a:p>
                  </a:txBody>
                  <a:tcPr marL="95250" marR="95250" marT="95250" marB="95250">
                    <a:solidFill>
                      <a:srgbClr val="F7F8F9"/>
                    </a:solidFill>
                  </a:tcPr>
                </a:tc>
              </a:tr>
              <a:tr h="650875">
                <a:tc>
                  <a:txBody>
                    <a:bodyPr/>
                    <a:lstStyle/>
                    <a:p>
                      <a:r>
                        <a:rPr sz="1200">
                          <a:solidFill>
                            <a:srgbClr val="111111"/>
                          </a:solidFill>
                          <a:latin typeface="Arial"/>
                          <a:ea typeface="Arial"/>
                          <a:cs typeface="Arial"/>
                        </a:rPr>
                        <a:t>Volume</a:t>
                      </a:r>
                    </a:p>
                  </a:txBody>
                  <a:tcPr marL="95250" marR="95250" marT="95250" marB="95250"/>
                </a:tc>
                <a:tc>
                  <a:txBody>
                    <a:bodyPr/>
                    <a:lstStyle/>
                    <a:p>
                      <a:r>
                        <a:rPr sz="1200">
                          <a:solidFill>
                            <a:srgbClr val="111111"/>
                          </a:solidFill>
                          <a:latin typeface="Arial"/>
                          <a:ea typeface="Arial"/>
                          <a:cs typeface="Arial"/>
                        </a:rPr>
                        <a:t>How did the row shape change?</a:t>
                      </a:r>
                    </a:p>
                  </a:txBody>
                  <a:tcPr marL="95250" marR="95250" marT="95250" marB="95250"/>
                </a:tc>
                <a:tc>
                  <a:txBody>
                    <a:bodyPr/>
                    <a:lstStyle/>
                    <a:p>
                      <a:r>
                        <a:rPr sz="1200">
                          <a:solidFill>
                            <a:srgbClr val="111111"/>
                          </a:solidFill>
                          <a:latin typeface="Arial"/>
                          <a:ea typeface="Arial"/>
                          <a:cs typeface="Arial"/>
                        </a:rPr>
                        <a:t>rows_before, rows_after, rows_removed</a:t>
                      </a:r>
                    </a:p>
                  </a:txBody>
                  <a:tcPr marL="95250" marR="95250" marT="95250" marB="95250"/>
                </a:tc>
              </a:tr>
              <a:tr h="650875">
                <a:tc>
                  <a:txBody>
                    <a:bodyPr/>
                    <a:lstStyle/>
                    <a:p>
                      <a:r>
                        <a:rPr sz="1200">
                          <a:solidFill>
                            <a:srgbClr val="111111"/>
                          </a:solidFill>
                          <a:latin typeface="Arial"/>
                          <a:ea typeface="Arial"/>
                          <a:cs typeface="Arial"/>
                        </a:rPr>
                        <a:t>Completeness</a:t>
                      </a:r>
                    </a:p>
                  </a:txBody>
                  <a:tcPr marL="95250" marR="95250" marT="95250" marB="95250">
                    <a:solidFill>
                      <a:srgbClr val="F7F8F9"/>
                    </a:solidFill>
                  </a:tcPr>
                </a:tc>
                <a:tc>
                  <a:txBody>
                    <a:bodyPr/>
                    <a:lstStyle/>
                    <a:p>
                      <a:r>
                        <a:rPr sz="1200">
                          <a:solidFill>
                            <a:srgbClr val="111111"/>
                          </a:solidFill>
                          <a:latin typeface="Arial"/>
                          <a:ea typeface="Arial"/>
                          <a:cs typeface="Arial"/>
                        </a:rPr>
                        <a:t>Did missing data improve?</a:t>
                      </a:r>
                    </a:p>
                  </a:txBody>
                  <a:tcPr marL="95250" marR="95250" marT="95250" marB="95250">
                    <a:solidFill>
                      <a:srgbClr val="F7F8F9"/>
                    </a:solidFill>
                  </a:tcPr>
                </a:tc>
                <a:tc>
                  <a:txBody>
                    <a:bodyPr/>
                    <a:lstStyle/>
                    <a:p>
                      <a:r>
                        <a:rPr sz="1200">
                          <a:solidFill>
                            <a:srgbClr val="111111"/>
                          </a:solidFill>
                          <a:latin typeface="Arial"/>
                          <a:ea typeface="Arial"/>
                          <a:cs typeface="Arial"/>
                        </a:rPr>
                        <a:t>missing_values, completeness_pct</a:t>
                      </a:r>
                    </a:p>
                  </a:txBody>
                  <a:tcPr marL="95250" marR="95250" marT="95250" marB="95250">
                    <a:solidFill>
                      <a:srgbClr val="F7F8F9"/>
                    </a:solidFill>
                  </a:tcPr>
                </a:tc>
              </a:tr>
              <a:tr h="650875">
                <a:tc>
                  <a:txBody>
                    <a:bodyPr/>
                    <a:lstStyle/>
                    <a:p>
                      <a:r>
                        <a:rPr sz="1200">
                          <a:solidFill>
                            <a:srgbClr val="111111"/>
                          </a:solidFill>
                          <a:latin typeface="Arial"/>
                          <a:ea typeface="Arial"/>
                          <a:cs typeface="Arial"/>
                        </a:rPr>
                        <a:t>Quality</a:t>
                      </a:r>
                    </a:p>
                  </a:txBody>
                  <a:tcPr marL="95250" marR="95250" marT="95250" marB="95250"/>
                </a:tc>
                <a:tc>
                  <a:txBody>
                    <a:bodyPr/>
                    <a:lstStyle/>
                    <a:p>
                      <a:r>
                        <a:rPr sz="1200">
                          <a:solidFill>
                            <a:srgbClr val="111111"/>
                          </a:solidFill>
                          <a:latin typeface="Arial"/>
                          <a:ea typeface="Arial"/>
                          <a:cs typeface="Arial"/>
                        </a:rPr>
                        <a:t>What needs investigation?</a:t>
                      </a:r>
                    </a:p>
                  </a:txBody>
                  <a:tcPr marL="95250" marR="95250" marT="95250" marB="95250"/>
                </a:tc>
                <a:tc>
                  <a:txBody>
                    <a:bodyPr/>
                    <a:lstStyle/>
                    <a:p>
                      <a:r>
                        <a:rPr sz="1200">
                          <a:solidFill>
                            <a:srgbClr val="111111"/>
                          </a:solidFill>
                          <a:latin typeface="Arial"/>
                          <a:ea typeface="Arial"/>
                          <a:cs typeface="Arial"/>
                        </a:rPr>
                        <a:t>status, quality_issue_count, invalid_date_rows</a:t>
                      </a:r>
                    </a:p>
                  </a:txBody>
                  <a:tcPr marL="95250" marR="95250" marT="95250" marB="95250"/>
                </a:tc>
              </a:tr>
              <a:tr h="650875">
                <a:tc>
                  <a:txBody>
                    <a:bodyPr/>
                    <a:lstStyle/>
                    <a:p>
                      <a:r>
                        <a:rPr sz="1200">
                          <a:solidFill>
                            <a:srgbClr val="111111"/>
                          </a:solidFill>
                          <a:latin typeface="Arial"/>
                          <a:ea typeface="Arial"/>
                          <a:cs typeface="Arial"/>
                        </a:rPr>
                        <a:t>Performance &amp; lineage</a:t>
                      </a:r>
                    </a:p>
                  </a:txBody>
                  <a:tcPr marL="95250" marR="95250" marT="95250" marB="95250">
                    <a:solidFill>
                      <a:srgbClr val="F7F8F9"/>
                    </a:solidFill>
                  </a:tcPr>
                </a:tc>
                <a:tc>
                  <a:txBody>
                    <a:bodyPr/>
                    <a:lstStyle/>
                    <a:p>
                      <a:r>
                        <a:rPr sz="1200">
                          <a:solidFill>
                            <a:srgbClr val="111111"/>
                          </a:solidFill>
                          <a:latin typeface="Arial"/>
                          <a:ea typeface="Arial"/>
                          <a:cs typeface="Arial"/>
                        </a:rPr>
                        <a:t>How long, and where did data move?</a:t>
                      </a:r>
                    </a:p>
                  </a:txBody>
                  <a:tcPr marL="95250" marR="95250" marT="95250" marB="95250">
                    <a:solidFill>
                      <a:srgbClr val="F7F8F9"/>
                    </a:solidFill>
                  </a:tcPr>
                </a:tc>
                <a:tc>
                  <a:txBody>
                    <a:bodyPr/>
                    <a:lstStyle/>
                    <a:p>
                      <a:r>
                        <a:rPr sz="1200">
                          <a:solidFill>
                            <a:srgbClr val="111111"/>
                          </a:solidFill>
                          <a:latin typeface="Arial"/>
                          <a:ea typeface="Arial"/>
                          <a:cs typeface="Arial"/>
                        </a:rPr>
                        <a:t>processing_time_ms, source_file, output_file</a:t>
                      </a:r>
                    </a:p>
                  </a:txBody>
                  <a:tcPr marL="95250" marR="95250" marT="95250" marB="95250">
                    <a:solidFill>
                      <a:srgbClr val="F7F8F9"/>
                    </a:solidFill>
                  </a:tcPr>
                </a:tc>
              </a:tr>
            </a:tbl>
          </a:graphicData>
        </a:graphic>
      </p:graphicFrame>
      <p:sp>
        <p:nvSpPr>
          <p:cNvPr id="6" name="text-58-620">
            <a:extLst xmlns:a="http://schemas.openxmlformats.org/drawingml/2006/main">
              <a:ext uri="{FF2B5EF4-FFF2-40B4-BE49-F238E27FC236}">
                <a16:creationId xmlns:a16="http://schemas.microsoft.com/office/drawing/2014/main" id="{18498612-C660-4BE6-BA6C-5465DA97649E}"/>
              </a:ext>
            </a:extLst>
          </p:cNvPr>
          <p:cNvSpPr>
            <a:spLocks xmlns:a="http://schemas.openxmlformats.org/drawingml/2006/main" noGrp="1"/>
          </p:cNvSpPr>
          <p:nvPr/>
        </p:nvSpPr>
        <p:spPr>
          <a:xfrm xmlns:a="http://schemas.openxmlformats.org/drawingml/2006/main">
            <a:off x="552450" y="5905500"/>
            <a:ext cx="1104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3D8DFF"/>
                </a:solidFill>
                <a:latin typeface="Arial"/>
                <a:ea typeface="Arial"/>
                <a:cs typeface="Arial"/>
              </a:defRPr>
            </a:pPr>
            <a:r>
              <a:rPr sz="1575" b="1">
                <a:solidFill>
                  <a:srgbClr val="3D8DFF"/>
                </a:solidFill>
                <a:latin typeface="Arial"/>
                <a:ea typeface="Arial"/>
                <a:cs typeface="Arial"/>
              </a:rPr>
              <a:t>Power BI can filter these measures by run, dataset, step and status.</a:t>
            </a:r>
          </a:p>
        </p:txBody>
      </p:sp>
    </p:spTree>
    <p:extLst>
      <p:ext uri="{BB962C8B-B14F-4D97-AF65-F5344CB8AC3E}">
        <p14:creationId xmlns:p14="http://schemas.microsoft.com/office/powerpoint/2010/main" val="1236669753"/>
      </p:ext>
    </p:extLst>
  </p:cSld>
</p:sld>
</file>

<file path=ppt/slides/slide10.xml><?xml version="1.0" encoding="utf-8"?>
<p:sld xmlns:p="http://schemas.openxmlformats.org/presentationml/2006/main">
  <p:cSld>
    <p:bg>
      <p:bgPr>
        <a:solidFill xmlns:a="http://schemas.openxmlformats.org/drawingml/2006/main">
          <a:srgbClr val="F5F5F5"/>
        </a:solidFill>
      </p:bgPr>
    </p:bg>
    <p:spTree>
      <p:nvGrpSpPr>
        <p:cNvPr id="1" name=""/>
        <p:cNvGrpSpPr/>
        <p:nvPr/>
      </p:nvGrpSpPr>
      <p:grpSpPr>
        <a:xfrm xmlns:a="http://schemas.openxmlformats.org/drawingml/2006/main"/>
      </p:grpSpPr>
      <p:sp>
        <p:nvSpPr>
          <p:cNvPr id="22" name="shape-0-0">
            <a:extLst xmlns:a="http://schemas.openxmlformats.org/drawingml/2006/main">
              <a:ext uri="{FF2B5EF4-FFF2-40B4-BE49-F238E27FC236}">
                <a16:creationId xmlns:a16="http://schemas.microsoft.com/office/drawing/2014/main" id="{B3989536-573B-408F-8443-895C642A0DE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C811"/>
          </a:solidFill>
          <a:ln xmlns:a="http://schemas.openxmlformats.org/drawingml/2006/main" w="0">
            <a:solidFill>
              <a:srgbClr val="F2C811"/>
            </a:solidFill>
            <a:prstDash val="solid"/>
          </a:ln>
        </p:spPr>
      </p:sp>
      <p:sp>
        <p:nvSpPr>
          <p:cNvPr id="2" name="text-36-35">
            <a:extLst xmlns:a="http://schemas.openxmlformats.org/drawingml/2006/main">
              <a:ext uri="{FF2B5EF4-FFF2-40B4-BE49-F238E27FC236}">
                <a16:creationId xmlns:a16="http://schemas.microsoft.com/office/drawing/2014/main" id="{C7DB6654-C07C-4F76-B4C8-15E515F8721F}"/>
              </a:ext>
            </a:extLst>
          </p:cNvPr>
          <p:cNvSpPr>
            <a:spLocks xmlns:a="http://schemas.openxmlformats.org/drawingml/2006/main" noGrp="1"/>
          </p:cNvSpPr>
          <p:nvPr/>
        </p:nvSpPr>
        <p:spPr>
          <a:xfrm xmlns:a="http://schemas.openxmlformats.org/drawingml/2006/main">
            <a:off x="342900" y="3333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625" b="1">
                <a:solidFill>
                  <a:srgbClr val="111111"/>
                </a:solidFill>
                <a:latin typeface="Arial"/>
                <a:ea typeface="Arial"/>
                <a:cs typeface="Arial"/>
              </a:defRPr>
            </a:pPr>
            <a:r>
              <a:rPr sz="2625" b="1">
                <a:solidFill>
                  <a:srgbClr val="111111"/>
                </a:solidFill>
                <a:latin typeface="Arial"/>
                <a:ea typeface="Arial"/>
                <a:cs typeface="Arial"/>
              </a:rPr>
              <a:t>Library Data Engineering Metrics</a:t>
            </a:r>
          </a:p>
        </p:txBody>
      </p:sp>
      <p:sp>
        <p:nvSpPr>
          <p:cNvPr id="3" name="text-820-47">
            <a:extLst xmlns:a="http://schemas.openxmlformats.org/drawingml/2006/main">
              <a:ext uri="{FF2B5EF4-FFF2-40B4-BE49-F238E27FC236}">
                <a16:creationId xmlns:a16="http://schemas.microsoft.com/office/drawing/2014/main" id="{55EE9B42-DF0B-4B07-AA0C-263F43A6B31E}"/>
              </a:ext>
            </a:extLst>
          </p:cNvPr>
          <p:cNvSpPr>
            <a:spLocks xmlns:a="http://schemas.openxmlformats.org/drawingml/2006/main" noGrp="1"/>
          </p:cNvSpPr>
          <p:nvPr/>
        </p:nvSpPr>
        <p:spPr>
          <a:xfrm xmlns:a="http://schemas.openxmlformats.org/drawingml/2006/main">
            <a:off x="7810500" y="4476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0">
                <a:solidFill>
                  <a:srgbClr val="5F6368"/>
                </a:solidFill>
                <a:latin typeface="Arial"/>
                <a:ea typeface="Arial"/>
                <a:cs typeface="Arial"/>
              </a:defRPr>
            </a:pPr>
            <a:r>
              <a:rPr sz="1125" b="0">
                <a:solidFill>
                  <a:srgbClr val="5F6368"/>
                </a:solidFill>
                <a:latin typeface="Arial"/>
                <a:ea typeface="Arial"/>
                <a:cs typeface="Arial"/>
              </a:rPr>
              <a:t>Run: latest  |  Dataset: all  |  Status: all</a:t>
            </a:r>
          </a:p>
        </p:txBody>
      </p:sp>
      <p:sp>
        <p:nvSpPr>
          <p:cNvPr id="4" name="shape-36-104">
            <a:extLst xmlns:a="http://schemas.openxmlformats.org/drawingml/2006/main">
              <a:ext uri="{FF2B5EF4-FFF2-40B4-BE49-F238E27FC236}">
                <a16:creationId xmlns:a16="http://schemas.microsoft.com/office/drawing/2014/main" id="{FD5458B9-3A43-4B9F-89C0-8B3494385C4F}"/>
              </a:ext>
            </a:extLst>
          </p:cNvPr>
          <p:cNvSpPr>
            <a:spLocks xmlns:a="http://schemas.openxmlformats.org/drawingml/2006/main" noGrp="1"/>
          </p:cNvSpPr>
          <p:nvPr/>
        </p:nvSpPr>
        <p:spPr>
          <a:xfrm xmlns:a="http://schemas.openxmlformats.org/drawingml/2006/main">
            <a:off x="342900" y="990600"/>
            <a:ext cx="26860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5" name="text-54-118">
            <a:extLst xmlns:a="http://schemas.openxmlformats.org/drawingml/2006/main">
              <a:ext uri="{FF2B5EF4-FFF2-40B4-BE49-F238E27FC236}">
                <a16:creationId xmlns:a16="http://schemas.microsoft.com/office/drawing/2014/main" id="{A26E6A4B-8187-4550-AC7B-7279711FBE34}"/>
              </a:ext>
            </a:extLst>
          </p:cNvPr>
          <p:cNvSpPr>
            <a:spLocks xmlns:a="http://schemas.openxmlformats.org/drawingml/2006/main" noGrp="1"/>
          </p:cNvSpPr>
          <p:nvPr/>
        </p:nvSpPr>
        <p:spPr>
          <a:xfrm xmlns:a="http://schemas.openxmlformats.org/drawingml/2006/main">
            <a:off x="514350" y="11239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29</a:t>
            </a:r>
          </a:p>
        </p:txBody>
      </p:sp>
      <p:sp>
        <p:nvSpPr>
          <p:cNvPr id="6" name="text-54-162">
            <a:extLst xmlns:a="http://schemas.openxmlformats.org/drawingml/2006/main">
              <a:ext uri="{FF2B5EF4-FFF2-40B4-BE49-F238E27FC236}">
                <a16:creationId xmlns:a16="http://schemas.microsoft.com/office/drawing/2014/main" id="{768FDD68-489E-4900-9205-12920FFDCBD1}"/>
              </a:ext>
            </a:extLst>
          </p:cNvPr>
          <p:cNvSpPr>
            <a:spLocks xmlns:a="http://schemas.openxmlformats.org/drawingml/2006/main" noGrp="1"/>
          </p:cNvSpPr>
          <p:nvPr/>
        </p:nvSpPr>
        <p:spPr>
          <a:xfrm xmlns:a="http://schemas.openxmlformats.org/drawingml/2006/main">
            <a:off x="514350" y="154305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F6368"/>
                </a:solidFill>
                <a:latin typeface="Arial"/>
                <a:ea typeface="Arial"/>
                <a:cs typeface="Arial"/>
              </a:defRPr>
            </a:pPr>
            <a:r>
              <a:rPr sz="1125" b="0">
                <a:solidFill>
                  <a:srgbClr val="5F6368"/>
                </a:solidFill>
                <a:latin typeface="Arial"/>
                <a:ea typeface="Arial"/>
                <a:cs typeface="Arial"/>
              </a:rPr>
              <a:t>final clean rows</a:t>
            </a:r>
          </a:p>
        </p:txBody>
      </p:sp>
      <p:sp>
        <p:nvSpPr>
          <p:cNvPr id="7" name="shape-342-104">
            <a:extLst xmlns:a="http://schemas.openxmlformats.org/drawingml/2006/main">
              <a:ext uri="{FF2B5EF4-FFF2-40B4-BE49-F238E27FC236}">
                <a16:creationId xmlns:a16="http://schemas.microsoft.com/office/drawing/2014/main" id="{4EEB1730-B0E5-40D9-A7FA-AA7369B8B63E}"/>
              </a:ext>
            </a:extLst>
          </p:cNvPr>
          <p:cNvSpPr>
            <a:spLocks xmlns:a="http://schemas.openxmlformats.org/drawingml/2006/main" noGrp="1"/>
          </p:cNvSpPr>
          <p:nvPr/>
        </p:nvSpPr>
        <p:spPr>
          <a:xfrm xmlns:a="http://schemas.openxmlformats.org/drawingml/2006/main">
            <a:off x="3257550" y="990600"/>
            <a:ext cx="26860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8" name="text-360-118">
            <a:extLst xmlns:a="http://schemas.openxmlformats.org/drawingml/2006/main">
              <a:ext uri="{FF2B5EF4-FFF2-40B4-BE49-F238E27FC236}">
                <a16:creationId xmlns:a16="http://schemas.microsoft.com/office/drawing/2014/main" id="{D33C3086-CE41-4965-AB34-FDC9D03E2F8E}"/>
              </a:ext>
            </a:extLst>
          </p:cNvPr>
          <p:cNvSpPr>
            <a:spLocks xmlns:a="http://schemas.openxmlformats.org/drawingml/2006/main" noGrp="1"/>
          </p:cNvSpPr>
          <p:nvPr/>
        </p:nvSpPr>
        <p:spPr>
          <a:xfrm xmlns:a="http://schemas.openxmlformats.org/drawingml/2006/main">
            <a:off x="3429000" y="11239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94</a:t>
            </a:r>
          </a:p>
        </p:txBody>
      </p:sp>
      <p:sp>
        <p:nvSpPr>
          <p:cNvPr id="9" name="text-360-162">
            <a:extLst xmlns:a="http://schemas.openxmlformats.org/drawingml/2006/main">
              <a:ext uri="{FF2B5EF4-FFF2-40B4-BE49-F238E27FC236}">
                <a16:creationId xmlns:a16="http://schemas.microsoft.com/office/drawing/2014/main" id="{CC3E940A-3A66-434F-A718-BC9D2B3599DA}"/>
              </a:ext>
            </a:extLst>
          </p:cNvPr>
          <p:cNvSpPr>
            <a:spLocks xmlns:a="http://schemas.openxmlformats.org/drawingml/2006/main" noGrp="1"/>
          </p:cNvSpPr>
          <p:nvPr/>
        </p:nvSpPr>
        <p:spPr>
          <a:xfrm xmlns:a="http://schemas.openxmlformats.org/drawingml/2006/main">
            <a:off x="3429000" y="154305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F6368"/>
                </a:solidFill>
                <a:latin typeface="Arial"/>
                <a:ea typeface="Arial"/>
                <a:cs typeface="Arial"/>
              </a:defRPr>
            </a:pPr>
            <a:r>
              <a:rPr sz="1125" b="0">
                <a:solidFill>
                  <a:srgbClr val="5F6368"/>
                </a:solidFill>
                <a:latin typeface="Arial"/>
                <a:ea typeface="Arial"/>
                <a:cs typeface="Arial"/>
              </a:rPr>
              <a:t>empty rows removed</a:t>
            </a:r>
          </a:p>
        </p:txBody>
      </p:sp>
      <p:sp>
        <p:nvSpPr>
          <p:cNvPr id="10" name="shape-648-104">
            <a:extLst xmlns:a="http://schemas.openxmlformats.org/drawingml/2006/main">
              <a:ext uri="{FF2B5EF4-FFF2-40B4-BE49-F238E27FC236}">
                <a16:creationId xmlns:a16="http://schemas.microsoft.com/office/drawing/2014/main" id="{FFAD34EA-1048-4316-82B8-35911043E1D9}"/>
              </a:ext>
            </a:extLst>
          </p:cNvPr>
          <p:cNvSpPr>
            <a:spLocks xmlns:a="http://schemas.openxmlformats.org/drawingml/2006/main" noGrp="1"/>
          </p:cNvSpPr>
          <p:nvPr/>
        </p:nvSpPr>
        <p:spPr>
          <a:xfrm xmlns:a="http://schemas.openxmlformats.org/drawingml/2006/main">
            <a:off x="6172200" y="990600"/>
            <a:ext cx="26860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1" name="text-666-118">
            <a:extLst xmlns:a="http://schemas.openxmlformats.org/drawingml/2006/main">
              <a:ext uri="{FF2B5EF4-FFF2-40B4-BE49-F238E27FC236}">
                <a16:creationId xmlns:a16="http://schemas.microsoft.com/office/drawing/2014/main" id="{294ABB84-9EAB-4EEF-83B7-81B901D1771E}"/>
              </a:ext>
            </a:extLst>
          </p:cNvPr>
          <p:cNvSpPr>
            <a:spLocks xmlns:a="http://schemas.openxmlformats.org/drawingml/2006/main" noGrp="1"/>
          </p:cNvSpPr>
          <p:nvPr/>
        </p:nvSpPr>
        <p:spPr>
          <a:xfrm xmlns:a="http://schemas.openxmlformats.org/drawingml/2006/main">
            <a:off x="6343650" y="11239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9</a:t>
            </a:r>
          </a:p>
        </p:txBody>
      </p:sp>
      <p:sp>
        <p:nvSpPr>
          <p:cNvPr id="12" name="text-666-162">
            <a:extLst xmlns:a="http://schemas.openxmlformats.org/drawingml/2006/main">
              <a:ext uri="{FF2B5EF4-FFF2-40B4-BE49-F238E27FC236}">
                <a16:creationId xmlns:a16="http://schemas.microsoft.com/office/drawing/2014/main" id="{9E0D9D9C-5F8A-4701-A2CB-CE01D5486B28}"/>
              </a:ext>
            </a:extLst>
          </p:cNvPr>
          <p:cNvSpPr>
            <a:spLocks xmlns:a="http://schemas.openxmlformats.org/drawingml/2006/main" noGrp="1"/>
          </p:cNvSpPr>
          <p:nvPr/>
        </p:nvSpPr>
        <p:spPr>
          <a:xfrm xmlns:a="http://schemas.openxmlformats.org/drawingml/2006/main">
            <a:off x="6343650" y="154305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F6368"/>
                </a:solidFill>
                <a:latin typeface="Arial"/>
                <a:ea typeface="Arial"/>
                <a:cs typeface="Arial"/>
              </a:defRPr>
            </a:pPr>
            <a:r>
              <a:rPr sz="1125" b="0">
                <a:solidFill>
                  <a:srgbClr val="5F6368"/>
                </a:solidFill>
                <a:latin typeface="Arial"/>
                <a:ea typeface="Arial"/>
                <a:cs typeface="Arial"/>
              </a:rPr>
              <a:t>quality-rule hits</a:t>
            </a:r>
          </a:p>
        </p:txBody>
      </p:sp>
      <p:sp>
        <p:nvSpPr>
          <p:cNvPr id="13" name="shape-954-104">
            <a:extLst xmlns:a="http://schemas.openxmlformats.org/drawingml/2006/main">
              <a:ext uri="{FF2B5EF4-FFF2-40B4-BE49-F238E27FC236}">
                <a16:creationId xmlns:a16="http://schemas.microsoft.com/office/drawing/2014/main" id="{EB90E4C5-0227-4BA1-829B-F7EAD903AF1D}"/>
              </a:ext>
            </a:extLst>
          </p:cNvPr>
          <p:cNvSpPr>
            <a:spLocks xmlns:a="http://schemas.openxmlformats.org/drawingml/2006/main" noGrp="1"/>
          </p:cNvSpPr>
          <p:nvPr/>
        </p:nvSpPr>
        <p:spPr>
          <a:xfrm xmlns:a="http://schemas.openxmlformats.org/drawingml/2006/main">
            <a:off x="9086850" y="990600"/>
            <a:ext cx="26860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4" name="text-972-118">
            <a:extLst xmlns:a="http://schemas.openxmlformats.org/drawingml/2006/main">
              <a:ext uri="{FF2B5EF4-FFF2-40B4-BE49-F238E27FC236}">
                <a16:creationId xmlns:a16="http://schemas.microsoft.com/office/drawing/2014/main" id="{D1DBC0A9-80A3-40F9-97E0-A88548BE738A}"/>
              </a:ext>
            </a:extLst>
          </p:cNvPr>
          <p:cNvSpPr>
            <a:spLocks xmlns:a="http://schemas.openxmlformats.org/drawingml/2006/main" noGrp="1"/>
          </p:cNvSpPr>
          <p:nvPr/>
        </p:nvSpPr>
        <p:spPr>
          <a:xfrm xmlns:a="http://schemas.openxmlformats.org/drawingml/2006/main">
            <a:off x="9258300" y="11239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400" b="1">
                <a:solidFill>
                  <a:srgbClr val="111111"/>
                </a:solidFill>
                <a:latin typeface="Arial"/>
                <a:ea typeface="Arial"/>
                <a:cs typeface="Arial"/>
              </a:defRPr>
            </a:pPr>
            <a:r>
              <a:rPr sz="2400" b="1">
                <a:solidFill>
                  <a:srgbClr val="111111"/>
                </a:solidFill>
                <a:latin typeface="Arial"/>
                <a:ea typeface="Arial"/>
                <a:cs typeface="Arial"/>
              </a:rPr>
              <a:t>22.5 ms</a:t>
            </a:r>
          </a:p>
        </p:txBody>
      </p:sp>
      <p:sp>
        <p:nvSpPr>
          <p:cNvPr id="15" name="text-972-162">
            <a:extLst xmlns:a="http://schemas.openxmlformats.org/drawingml/2006/main">
              <a:ext uri="{FF2B5EF4-FFF2-40B4-BE49-F238E27FC236}">
                <a16:creationId xmlns:a16="http://schemas.microsoft.com/office/drawing/2014/main" id="{8E67AAD5-611D-4848-B896-71021284B9F4}"/>
              </a:ext>
            </a:extLst>
          </p:cNvPr>
          <p:cNvSpPr>
            <a:spLocks xmlns:a="http://schemas.openxmlformats.org/drawingml/2006/main" noGrp="1"/>
          </p:cNvSpPr>
          <p:nvPr/>
        </p:nvSpPr>
        <p:spPr>
          <a:xfrm xmlns:a="http://schemas.openxmlformats.org/drawingml/2006/main">
            <a:off x="9258300" y="1543050"/>
            <a:ext cx="2343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F6368"/>
                </a:solidFill>
                <a:latin typeface="Arial"/>
                <a:ea typeface="Arial"/>
                <a:cs typeface="Arial"/>
              </a:defRPr>
            </a:pPr>
            <a:r>
              <a:rPr sz="1125" b="0">
                <a:solidFill>
                  <a:srgbClr val="5F6368"/>
                </a:solidFill>
                <a:latin typeface="Arial"/>
                <a:ea typeface="Arial"/>
                <a:cs typeface="Arial"/>
              </a:rPr>
              <a:t>tracked processing</a:t>
            </a:r>
          </a:p>
        </p:txBody>
      </p:sp>
      <p:sp>
        <p:nvSpPr>
          <p:cNvPr id="16" name="shape-36-220">
            <a:extLst xmlns:a="http://schemas.openxmlformats.org/drawingml/2006/main">
              <a:ext uri="{FF2B5EF4-FFF2-40B4-BE49-F238E27FC236}">
                <a16:creationId xmlns:a16="http://schemas.microsoft.com/office/drawing/2014/main" id="{6274FE6E-17C2-44C5-AA49-70E4B017DF3D}"/>
              </a:ext>
            </a:extLst>
          </p:cNvPr>
          <p:cNvSpPr>
            <a:spLocks xmlns:a="http://schemas.openxmlformats.org/drawingml/2006/main" noGrp="1"/>
          </p:cNvSpPr>
          <p:nvPr/>
        </p:nvSpPr>
        <p:spPr>
          <a:xfrm xmlns:a="http://schemas.openxmlformats.org/drawingml/2006/main">
            <a:off x="342900" y="2095500"/>
            <a:ext cx="56197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17" name="text-56-238">
            <a:extLst xmlns:a="http://schemas.openxmlformats.org/drawingml/2006/main">
              <a:ext uri="{FF2B5EF4-FFF2-40B4-BE49-F238E27FC236}">
                <a16:creationId xmlns:a16="http://schemas.microsoft.com/office/drawing/2014/main" id="{512217B1-5444-4261-8490-51943279E2EE}"/>
              </a:ext>
            </a:extLst>
          </p:cNvPr>
          <p:cNvSpPr>
            <a:spLocks xmlns:a="http://schemas.openxmlformats.org/drawingml/2006/main" noGrp="1"/>
          </p:cNvSpPr>
          <p:nvPr/>
        </p:nvSpPr>
        <p:spPr>
          <a:xfrm xmlns:a="http://schemas.openxmlformats.org/drawingml/2006/main">
            <a:off x="533400" y="22669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latin typeface="Arial"/>
                <a:ea typeface="Arial"/>
                <a:cs typeface="Arial"/>
              </a:defRPr>
            </a:pPr>
            <a:r>
              <a:rPr sz="1500" b="1">
                <a:solidFill>
                  <a:srgbClr val="111111"/>
                </a:solidFill>
                <a:latin typeface="Arial"/>
                <a:ea typeface="Arial"/>
                <a:cs typeface="Arial"/>
              </a:rPr>
              <a:t>Raw and clean row counts</a:t>
            </a:r>
          </a:p>
        </p:txBody>
      </p:sp>
      <p:graphicFrame>
        <p:nvGraphicFramePr>
          <p:cNvPr id="39" name="Chart"/>
          <p:cNvGraphicFramePr/>
          <p:nvPr/>
        </p:nvGraphicFramePr>
        <p:xfrm>
          <a:off xmlns:a="http://schemas.openxmlformats.org/drawingml/2006/main" x="552450" y="2686050"/>
          <a:ext xmlns:a="http://schemas.openxmlformats.org/drawingml/2006/main" cx="5143500" cy="3238500"/>
        </p:xfrm>
        <a:graphic xmlns:a="http://schemas.openxmlformats.org/drawingml/2006/main">
          <a:graphicData uri="http://schemas.openxmlformats.org/drawingml/2006/chart">
            <c:chart xmlns:r="http://schemas.openxmlformats.org/officeDocument/2006/relationships" xmlns:c="http://schemas.openxmlformats.org/drawingml/2006/chart" r:id="R473d7ba58e4f4d30"/>
          </a:graphicData>
        </a:graphic>
      </p:graphicFrame>
      <p:sp>
        <p:nvSpPr>
          <p:cNvPr id="19" name="shape-650-220">
            <a:extLst xmlns:a="http://schemas.openxmlformats.org/drawingml/2006/main">
              <a:ext uri="{FF2B5EF4-FFF2-40B4-BE49-F238E27FC236}">
                <a16:creationId xmlns:a16="http://schemas.microsoft.com/office/drawing/2014/main" id="{13E91C9E-B317-4D34-9B3A-C731E570C7E3}"/>
              </a:ext>
            </a:extLst>
          </p:cNvPr>
          <p:cNvSpPr>
            <a:spLocks xmlns:a="http://schemas.openxmlformats.org/drawingml/2006/main" noGrp="1"/>
          </p:cNvSpPr>
          <p:nvPr/>
        </p:nvSpPr>
        <p:spPr>
          <a:xfrm xmlns:a="http://schemas.openxmlformats.org/drawingml/2006/main">
            <a:off x="6191250" y="2095500"/>
            <a:ext cx="5657850" cy="4286250"/>
          </a:xfrm>
          <a:prstGeom xmlns:a="http://schemas.openxmlformats.org/drawingml/2006/main" prst="rect">
            <a:avLst/>
          </a:prstGeom>
          <a:solidFill xmlns:a="http://schemas.openxmlformats.org/drawingml/2006/main">
            <a:srgbClr val="FFFFFF"/>
          </a:solidFill>
          <a:ln xmlns:a="http://schemas.openxmlformats.org/drawingml/2006/main" w="9525">
            <a:solidFill>
              <a:srgbClr val="E0E0E0"/>
            </a:solidFill>
            <a:prstDash val="solid"/>
          </a:ln>
        </p:spPr>
      </p:sp>
      <p:sp>
        <p:nvSpPr>
          <p:cNvPr id="20" name="text-670-238">
            <a:extLst xmlns:a="http://schemas.openxmlformats.org/drawingml/2006/main">
              <a:ext uri="{FF2B5EF4-FFF2-40B4-BE49-F238E27FC236}">
                <a16:creationId xmlns:a16="http://schemas.microsoft.com/office/drawing/2014/main" id="{D2313654-5B8B-4CE8-BFB8-99D7C39ADF9F}"/>
              </a:ext>
            </a:extLst>
          </p:cNvPr>
          <p:cNvSpPr>
            <a:spLocks xmlns:a="http://schemas.openxmlformats.org/drawingml/2006/main" noGrp="1"/>
          </p:cNvSpPr>
          <p:nvPr/>
        </p:nvSpPr>
        <p:spPr>
          <a:xfrm xmlns:a="http://schemas.openxmlformats.org/drawingml/2006/main">
            <a:off x="6381750" y="22669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latin typeface="Arial"/>
                <a:ea typeface="Arial"/>
                <a:cs typeface="Arial"/>
              </a:defRPr>
            </a:pPr>
            <a:r>
              <a:rPr sz="1500" b="1">
                <a:solidFill>
                  <a:srgbClr val="111111"/>
                </a:solidFill>
                <a:latin typeface="Arial"/>
                <a:ea typeface="Arial"/>
                <a:cs typeface="Arial"/>
              </a:rPr>
              <a:t>Exceptions and operational findings</a:t>
            </a:r>
          </a:p>
        </p:txBody>
      </p:sp>
      <p:graphicFrame>
        <p:nvGraphicFramePr>
          <p:cNvPr id="42" name="Chart"/>
          <p:cNvGraphicFramePr/>
          <p:nvPr/>
        </p:nvGraphicFramePr>
        <p:xfrm>
          <a:off xmlns:a="http://schemas.openxmlformats.org/drawingml/2006/main" x="6429375" y="2686050"/>
          <a:ext xmlns:a="http://schemas.openxmlformats.org/drawingml/2006/main" cx="5095875" cy="3238500"/>
        </p:xfrm>
        <a:graphic xmlns:a="http://schemas.openxmlformats.org/drawingml/2006/main">
          <a:graphicData uri="http://schemas.openxmlformats.org/drawingml/2006/chart">
            <c:chart xmlns:r="http://schemas.openxmlformats.org/officeDocument/2006/relationships" xmlns:c="http://schemas.openxmlformats.org/drawingml/2006/chart" r:id="R19dd351ee0cc48c9"/>
          </a:graphicData>
        </a:graphic>
      </p:graphicFrame>
    </p:spTree>
    <p:extLst>
      <p:ext uri="{BB962C8B-B14F-4D97-AF65-F5344CB8AC3E}">
        <p14:creationId xmlns:p14="http://schemas.microsoft.com/office/powerpoint/2010/main" val="8383641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eyebrow">
            <a:extLst xmlns:a="http://schemas.openxmlformats.org/drawingml/2006/main">
              <a:ext uri="{FF2B5EF4-FFF2-40B4-BE49-F238E27FC236}">
                <a16:creationId xmlns:a16="http://schemas.microsoft.com/office/drawing/2014/main" id="{B77028BC-17D8-426A-9C90-96B8DA2CFE02}"/>
              </a:ext>
            </a:extLst>
          </p:cNvPr>
          <p:cNvSpPr>
            <a:spLocks xmlns:a="http://schemas.openxmlformats.org/drawingml/2006/main" noGrp="1"/>
          </p:cNvSpPr>
          <p:nvPr/>
        </p:nvSpPr>
        <p:spPr>
          <a:xfrm xmlns:a="http://schemas.openxmlformats.org/drawingml/2006/main">
            <a:off x="533400" y="3238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POWER BI PRESENTATION FLOW</a:t>
            </a:r>
          </a:p>
        </p:txBody>
      </p:sp>
      <p:sp>
        <p:nvSpPr>
          <p:cNvPr id="2" name="slide-title">
            <a:extLst xmlns:a="http://schemas.openxmlformats.org/drawingml/2006/main">
              <a:ext uri="{FF2B5EF4-FFF2-40B4-BE49-F238E27FC236}">
                <a16:creationId xmlns:a16="http://schemas.microsoft.com/office/drawing/2014/main" id="{B9D46812-B155-4527-BBC8-85DFE3A70E10}"/>
              </a:ext>
            </a:extLst>
          </p:cNvPr>
          <p:cNvSpPr>
            <a:spLocks xmlns:a="http://schemas.openxmlformats.org/drawingml/2006/main" noGrp="1"/>
          </p:cNvSpPr>
          <p:nvPr/>
        </p:nvSpPr>
        <p:spPr>
          <a:xfrm xmlns:a="http://schemas.openxmlformats.org/drawingml/2006/main">
            <a:off x="533400" y="62865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11111"/>
                </a:solidFill>
                <a:latin typeface="Arial"/>
                <a:ea typeface="Arial"/>
                <a:cs typeface="Arial"/>
              </a:defRPr>
            </a:pPr>
            <a:r>
              <a:rPr sz="2850" b="1">
                <a:solidFill>
                  <a:srgbClr val="111111"/>
                </a:solidFill>
                <a:latin typeface="Arial"/>
                <a:ea typeface="Arial"/>
                <a:cs typeface="Arial"/>
              </a:rPr>
              <a:t>A clear Power BI story answers three questions</a:t>
            </a:r>
          </a:p>
        </p:txBody>
      </p:sp>
      <p:sp>
        <p:nvSpPr>
          <p:cNvPr id="3" name="rule-143">
            <a:extLst xmlns:a="http://schemas.openxmlformats.org/drawingml/2006/main">
              <a:ext uri="{FF2B5EF4-FFF2-40B4-BE49-F238E27FC236}">
                <a16:creationId xmlns:a16="http://schemas.microsoft.com/office/drawing/2014/main" id="{8EA1444A-B70C-4786-90A6-A20A0CB60BCF}"/>
              </a:ext>
            </a:extLst>
          </p:cNvPr>
          <p:cNvSpPr>
            <a:spLocks xmlns:a="http://schemas.openxmlformats.org/drawingml/2006/main" noGrp="1"/>
          </p:cNvSpPr>
          <p:nvPr/>
        </p:nvSpPr>
        <p:spPr>
          <a:xfrm xmlns:a="http://schemas.openxmlformats.org/drawingml/2006/main">
            <a:off x="533400" y="1362075"/>
            <a:ext cx="111252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slide-number">
            <a:extLst xmlns:a="http://schemas.openxmlformats.org/drawingml/2006/main">
              <a:ext uri="{FF2B5EF4-FFF2-40B4-BE49-F238E27FC236}">
                <a16:creationId xmlns:a16="http://schemas.microsoft.com/office/drawing/2014/main" id="{6B6F9B96-D68A-458B-90FC-096E89FC97A7}"/>
              </a:ext>
            </a:extLst>
          </p:cNvPr>
          <p:cNvSpPr>
            <a:spLocks xmlns:a="http://schemas.openxmlformats.org/drawingml/2006/main" noGrp="1"/>
          </p:cNvSpPr>
          <p:nvPr/>
        </p:nvSpPr>
        <p:spPr>
          <a:xfrm xmlns:a="http://schemas.openxmlformats.org/drawingml/2006/main">
            <a:off x="11144250" y="638175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5F6368"/>
                </a:solidFill>
                <a:latin typeface="Arial"/>
                <a:ea typeface="Arial"/>
                <a:cs typeface="Arial"/>
              </a:defRPr>
            </a:pPr>
            <a:r>
              <a:rPr sz="975" b="0">
                <a:solidFill>
                  <a:srgbClr val="5F6368"/>
                </a:solidFill>
                <a:latin typeface="Arial"/>
                <a:ea typeface="Arial"/>
                <a:cs typeface="Arial"/>
              </a:rPr>
              <a:t>11</a:t>
            </a:r>
          </a:p>
        </p:txBody>
      </p:sp>
      <p:sp>
        <p:nvSpPr>
          <p:cNvPr id="5" name="shape-60-340">
            <a:extLst xmlns:a="http://schemas.openxmlformats.org/drawingml/2006/main">
              <a:ext uri="{FF2B5EF4-FFF2-40B4-BE49-F238E27FC236}">
                <a16:creationId xmlns:a16="http://schemas.microsoft.com/office/drawing/2014/main" id="{CF01FAA7-EC03-4F2A-9E92-29E065D9B858}"/>
              </a:ext>
            </a:extLst>
          </p:cNvPr>
          <p:cNvSpPr>
            <a:spLocks xmlns:a="http://schemas.openxmlformats.org/drawingml/2006/main" noGrp="1"/>
          </p:cNvSpPr>
          <p:nvPr/>
        </p:nvSpPr>
        <p:spPr>
          <a:xfrm xmlns:a="http://schemas.openxmlformats.org/drawingml/2006/main">
            <a:off x="571500" y="3238500"/>
            <a:ext cx="10763250" cy="19050"/>
          </a:xfrm>
          <a:prstGeom xmlns:a="http://schemas.openxmlformats.org/drawingml/2006/main" prst="rect">
            <a:avLst/>
          </a:prstGeom>
          <a:solidFill xmlns:a="http://schemas.openxmlformats.org/drawingml/2006/main">
            <a:srgbClr val="111111"/>
          </a:solidFill>
          <a:ln xmlns:a="http://schemas.openxmlformats.org/drawingml/2006/main" w="0">
            <a:solidFill>
              <a:srgbClr val="111111"/>
            </a:solidFill>
            <a:prstDash val="solid"/>
          </a:ln>
        </p:spPr>
      </p:sp>
      <p:sp>
        <p:nvSpPr>
          <p:cNvPr id="6" name="shape-125-332">
            <a:extLst xmlns:a="http://schemas.openxmlformats.org/drawingml/2006/main">
              <a:ext uri="{FF2B5EF4-FFF2-40B4-BE49-F238E27FC236}">
                <a16:creationId xmlns:a16="http://schemas.microsoft.com/office/drawing/2014/main" id="{3F3ED3B4-2195-4E29-A509-5FA79AD54924}"/>
              </a:ext>
            </a:extLst>
          </p:cNvPr>
          <p:cNvSpPr>
            <a:spLocks xmlns:a="http://schemas.openxmlformats.org/drawingml/2006/main" noGrp="1"/>
          </p:cNvSpPr>
          <p:nvPr/>
        </p:nvSpPr>
        <p:spPr>
          <a:xfrm xmlns:a="http://schemas.openxmlformats.org/drawingml/2006/main">
            <a:off x="1190625" y="3162300"/>
            <a:ext cx="171450" cy="171450"/>
          </a:xfrm>
          <a:prstGeom xmlns:a="http://schemas.openxmlformats.org/drawingml/2006/main" prst="ellipse">
            <a:avLst/>
          </a:prstGeom>
          <a:solidFill xmlns:a="http://schemas.openxmlformats.org/drawingml/2006/main">
            <a:srgbClr val="F2C811"/>
          </a:solidFill>
          <a:ln xmlns:a="http://schemas.openxmlformats.org/drawingml/2006/main" w="0">
            <a:solidFill>
              <a:srgbClr val="F2C811"/>
            </a:solidFill>
            <a:prstDash val="solid"/>
          </a:ln>
        </p:spPr>
      </p:sp>
      <p:sp>
        <p:nvSpPr>
          <p:cNvPr id="7" name="shape-510-332">
            <a:extLst xmlns:a="http://schemas.openxmlformats.org/drawingml/2006/main">
              <a:ext uri="{FF2B5EF4-FFF2-40B4-BE49-F238E27FC236}">
                <a16:creationId xmlns:a16="http://schemas.microsoft.com/office/drawing/2014/main" id="{4BB1A667-509F-4724-A96B-583371BB7816}"/>
              </a:ext>
            </a:extLst>
          </p:cNvPr>
          <p:cNvSpPr>
            <a:spLocks xmlns:a="http://schemas.openxmlformats.org/drawingml/2006/main" noGrp="1"/>
          </p:cNvSpPr>
          <p:nvPr/>
        </p:nvSpPr>
        <p:spPr>
          <a:xfrm xmlns:a="http://schemas.openxmlformats.org/drawingml/2006/main">
            <a:off x="4857750" y="3162300"/>
            <a:ext cx="171450" cy="171450"/>
          </a:xfrm>
          <a:prstGeom xmlns:a="http://schemas.openxmlformats.org/drawingml/2006/main" prst="ellipse">
            <a:avLst/>
          </a:prstGeom>
          <a:solidFill xmlns:a="http://schemas.openxmlformats.org/drawingml/2006/main">
            <a:srgbClr val="F2C811"/>
          </a:solidFill>
          <a:ln xmlns:a="http://schemas.openxmlformats.org/drawingml/2006/main" w="0">
            <a:solidFill>
              <a:srgbClr val="F2C811"/>
            </a:solidFill>
            <a:prstDash val="solid"/>
          </a:ln>
        </p:spPr>
      </p:sp>
      <p:sp>
        <p:nvSpPr>
          <p:cNvPr id="8" name="shape-895-332">
            <a:extLst xmlns:a="http://schemas.openxmlformats.org/drawingml/2006/main">
              <a:ext uri="{FF2B5EF4-FFF2-40B4-BE49-F238E27FC236}">
                <a16:creationId xmlns:a16="http://schemas.microsoft.com/office/drawing/2014/main" id="{F3822D17-5231-4391-9958-B5CF5D282E51}"/>
              </a:ext>
            </a:extLst>
          </p:cNvPr>
          <p:cNvSpPr>
            <a:spLocks xmlns:a="http://schemas.openxmlformats.org/drawingml/2006/main" noGrp="1"/>
          </p:cNvSpPr>
          <p:nvPr/>
        </p:nvSpPr>
        <p:spPr>
          <a:xfrm xmlns:a="http://schemas.openxmlformats.org/drawingml/2006/main">
            <a:off x="8524875" y="3162300"/>
            <a:ext cx="171450" cy="171450"/>
          </a:xfrm>
          <a:prstGeom xmlns:a="http://schemas.openxmlformats.org/drawingml/2006/main" prst="ellipse">
            <a:avLst/>
          </a:prstGeom>
          <a:solidFill xmlns:a="http://schemas.openxmlformats.org/drawingml/2006/main">
            <a:srgbClr val="F2C811"/>
          </a:solidFill>
          <a:ln xmlns:a="http://schemas.openxmlformats.org/drawingml/2006/main" w="0">
            <a:solidFill>
              <a:srgbClr val="F2C811"/>
            </a:solidFill>
            <a:prstDash val="solid"/>
          </a:ln>
        </p:spPr>
      </p:sp>
      <p:sp>
        <p:nvSpPr>
          <p:cNvPr id="9" name="text-60-232">
            <a:extLst xmlns:a="http://schemas.openxmlformats.org/drawingml/2006/main">
              <a:ext uri="{FF2B5EF4-FFF2-40B4-BE49-F238E27FC236}">
                <a16:creationId xmlns:a16="http://schemas.microsoft.com/office/drawing/2014/main" id="{954FA550-8EB0-4089-BDBE-508771BD2FFD}"/>
              </a:ext>
            </a:extLst>
          </p:cNvPr>
          <p:cNvSpPr>
            <a:spLocks xmlns:a="http://schemas.openxmlformats.org/drawingml/2006/main" noGrp="1"/>
          </p:cNvSpPr>
          <p:nvPr/>
        </p:nvSpPr>
        <p:spPr>
          <a:xfrm xmlns:a="http://schemas.openxmlformats.org/drawingml/2006/main">
            <a:off x="571500" y="22098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1  SCOPE</a:t>
            </a:r>
          </a:p>
        </p:txBody>
      </p:sp>
      <p:sp>
        <p:nvSpPr>
          <p:cNvPr id="10" name="text-60-282">
            <a:extLst xmlns:a="http://schemas.openxmlformats.org/drawingml/2006/main">
              <a:ext uri="{FF2B5EF4-FFF2-40B4-BE49-F238E27FC236}">
                <a16:creationId xmlns:a16="http://schemas.microsoft.com/office/drawing/2014/main" id="{C9547941-D4D2-4175-946B-F9B793B968CD}"/>
              </a:ext>
            </a:extLst>
          </p:cNvPr>
          <p:cNvSpPr>
            <a:spLocks xmlns:a="http://schemas.openxmlformats.org/drawingml/2006/main" noGrp="1"/>
          </p:cNvSpPr>
          <p:nvPr/>
        </p:nvSpPr>
        <p:spPr>
          <a:xfrm xmlns:a="http://schemas.openxmlformats.org/drawingml/2006/main">
            <a:off x="571500" y="26860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Arial"/>
                <a:ea typeface="Arial"/>
                <a:cs typeface="Arial"/>
              </a:defRPr>
            </a:pPr>
            <a:r>
              <a:rPr sz="2325" b="1">
                <a:solidFill>
                  <a:srgbClr val="111111"/>
                </a:solidFill>
                <a:latin typeface="Arial"/>
                <a:ea typeface="Arial"/>
                <a:cs typeface="Arial"/>
              </a:rPr>
              <a:t>What ran?</a:t>
            </a:r>
          </a:p>
        </p:txBody>
      </p:sp>
      <p:sp>
        <p:nvSpPr>
          <p:cNvPr id="11" name="text-60-390">
            <a:extLst xmlns:a="http://schemas.openxmlformats.org/drawingml/2006/main">
              <a:ext uri="{FF2B5EF4-FFF2-40B4-BE49-F238E27FC236}">
                <a16:creationId xmlns:a16="http://schemas.microsoft.com/office/drawing/2014/main" id="{4029A8C2-8799-404F-AD5F-08EC21EB3DC4}"/>
              </a:ext>
            </a:extLst>
          </p:cNvPr>
          <p:cNvSpPr>
            <a:spLocks xmlns:a="http://schemas.openxmlformats.org/drawingml/2006/main" noGrp="1"/>
          </p:cNvSpPr>
          <p:nvPr/>
        </p:nvSpPr>
        <p:spPr>
          <a:xfrm xmlns:a="http://schemas.openxmlformats.org/drawingml/2006/main">
            <a:off x="571500" y="3714750"/>
            <a:ext cx="28575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Select the latest run ID and confirm both datasets and all expected steps are present.</a:t>
            </a:r>
          </a:p>
        </p:txBody>
      </p:sp>
      <p:sp>
        <p:nvSpPr>
          <p:cNvPr id="12" name="text-445-232">
            <a:extLst xmlns:a="http://schemas.openxmlformats.org/drawingml/2006/main">
              <a:ext uri="{FF2B5EF4-FFF2-40B4-BE49-F238E27FC236}">
                <a16:creationId xmlns:a16="http://schemas.microsoft.com/office/drawing/2014/main" id="{D1C86ED0-532D-4DC2-93A9-2BFFF42B9474}"/>
              </a:ext>
            </a:extLst>
          </p:cNvPr>
          <p:cNvSpPr>
            <a:spLocks xmlns:a="http://schemas.openxmlformats.org/drawingml/2006/main" noGrp="1"/>
          </p:cNvSpPr>
          <p:nvPr/>
        </p:nvSpPr>
        <p:spPr>
          <a:xfrm xmlns:a="http://schemas.openxmlformats.org/drawingml/2006/main">
            <a:off x="4238625" y="220980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2  OUTCOME</a:t>
            </a:r>
          </a:p>
        </p:txBody>
      </p:sp>
      <p:sp>
        <p:nvSpPr>
          <p:cNvPr id="13" name="text-445-282">
            <a:extLst xmlns:a="http://schemas.openxmlformats.org/drawingml/2006/main">
              <a:ext uri="{FF2B5EF4-FFF2-40B4-BE49-F238E27FC236}">
                <a16:creationId xmlns:a16="http://schemas.microsoft.com/office/drawing/2014/main" id="{28863646-3E74-4D0D-8AAC-0D7CFAFDB854}"/>
              </a:ext>
            </a:extLst>
          </p:cNvPr>
          <p:cNvSpPr>
            <a:spLocks xmlns:a="http://schemas.openxmlformats.org/drawingml/2006/main" noGrp="1"/>
          </p:cNvSpPr>
          <p:nvPr/>
        </p:nvSpPr>
        <p:spPr>
          <a:xfrm xmlns:a="http://schemas.openxmlformats.org/drawingml/2006/main">
            <a:off x="4238625" y="26860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Arial"/>
                <a:ea typeface="Arial"/>
                <a:cs typeface="Arial"/>
              </a:defRPr>
            </a:pPr>
            <a:r>
              <a:rPr sz="2325" b="1">
                <a:solidFill>
                  <a:srgbClr val="111111"/>
                </a:solidFill>
                <a:latin typeface="Arial"/>
                <a:ea typeface="Arial"/>
                <a:cs typeface="Arial"/>
              </a:rPr>
              <a:t>What changed?</a:t>
            </a:r>
          </a:p>
        </p:txBody>
      </p:sp>
      <p:sp>
        <p:nvSpPr>
          <p:cNvPr id="14" name="text-445-390">
            <a:extLst xmlns:a="http://schemas.openxmlformats.org/drawingml/2006/main">
              <a:ext uri="{FF2B5EF4-FFF2-40B4-BE49-F238E27FC236}">
                <a16:creationId xmlns:a16="http://schemas.microsoft.com/office/drawing/2014/main" id="{E75BF210-D78E-4BE5-95FE-BBF76E33F47F}"/>
              </a:ext>
            </a:extLst>
          </p:cNvPr>
          <p:cNvSpPr>
            <a:spLocks xmlns:a="http://schemas.openxmlformats.org/drawingml/2006/main" noGrp="1"/>
          </p:cNvSpPr>
          <p:nvPr/>
        </p:nvSpPr>
        <p:spPr>
          <a:xfrm xmlns:a="http://schemas.openxmlformats.org/drawingml/2006/main">
            <a:off x="4238625" y="3714750"/>
            <a:ext cx="28575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Show final rows, rows removed, completeness and the enrichment fields created.</a:t>
            </a:r>
          </a:p>
        </p:txBody>
      </p:sp>
      <p:sp>
        <p:nvSpPr>
          <p:cNvPr id="15" name="text-830-232">
            <a:extLst xmlns:a="http://schemas.openxmlformats.org/drawingml/2006/main">
              <a:ext uri="{FF2B5EF4-FFF2-40B4-BE49-F238E27FC236}">
                <a16:creationId xmlns:a16="http://schemas.microsoft.com/office/drawing/2014/main" id="{BFBD7715-CDFB-40D5-926F-DF7B84E81BC9}"/>
              </a:ext>
            </a:extLst>
          </p:cNvPr>
          <p:cNvSpPr>
            <a:spLocks xmlns:a="http://schemas.openxmlformats.org/drawingml/2006/main" noGrp="1"/>
          </p:cNvSpPr>
          <p:nvPr/>
        </p:nvSpPr>
        <p:spPr>
          <a:xfrm xmlns:a="http://schemas.openxmlformats.org/drawingml/2006/main">
            <a:off x="7905750" y="22098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3  EXCEPTION</a:t>
            </a:r>
          </a:p>
        </p:txBody>
      </p:sp>
      <p:sp>
        <p:nvSpPr>
          <p:cNvPr id="16" name="text-830-282">
            <a:extLst xmlns:a="http://schemas.openxmlformats.org/drawingml/2006/main">
              <a:ext uri="{FF2B5EF4-FFF2-40B4-BE49-F238E27FC236}">
                <a16:creationId xmlns:a16="http://schemas.microsoft.com/office/drawing/2014/main" id="{FD56ACEC-8BDA-4618-81F0-FF38BC7B49C4}"/>
              </a:ext>
            </a:extLst>
          </p:cNvPr>
          <p:cNvSpPr>
            <a:spLocks xmlns:a="http://schemas.openxmlformats.org/drawingml/2006/main" noGrp="1"/>
          </p:cNvSpPr>
          <p:nvPr/>
        </p:nvSpPr>
        <p:spPr>
          <a:xfrm xmlns:a="http://schemas.openxmlformats.org/drawingml/2006/main">
            <a:off x="7905750" y="26860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Arial"/>
                <a:ea typeface="Arial"/>
                <a:cs typeface="Arial"/>
              </a:defRPr>
            </a:pPr>
            <a:r>
              <a:rPr sz="2325" b="1">
                <a:solidFill>
                  <a:srgbClr val="111111"/>
                </a:solidFill>
                <a:latin typeface="Arial"/>
                <a:ea typeface="Arial"/>
                <a:cs typeface="Arial"/>
              </a:rPr>
              <a:t>What needs action?</a:t>
            </a:r>
          </a:p>
        </p:txBody>
      </p:sp>
      <p:sp>
        <p:nvSpPr>
          <p:cNvPr id="17" name="text-830-390">
            <a:extLst xmlns:a="http://schemas.openxmlformats.org/drawingml/2006/main">
              <a:ext uri="{FF2B5EF4-FFF2-40B4-BE49-F238E27FC236}">
                <a16:creationId xmlns:a16="http://schemas.microsoft.com/office/drawing/2014/main" id="{665C2790-3D20-4808-B822-D838BEA55AA4}"/>
              </a:ext>
            </a:extLst>
          </p:cNvPr>
          <p:cNvSpPr>
            <a:spLocks xmlns:a="http://schemas.openxmlformats.org/drawingml/2006/main" noGrp="1"/>
          </p:cNvSpPr>
          <p:nvPr/>
        </p:nvSpPr>
        <p:spPr>
          <a:xfrm xmlns:a="http://schemas.openxmlformats.org/drawingml/2006/main">
            <a:off x="7905750" y="3714750"/>
            <a:ext cx="3190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F6368"/>
                </a:solidFill>
                <a:latin typeface="Arial"/>
                <a:ea typeface="Arial"/>
                <a:cs typeface="Arial"/>
              </a:defRPr>
            </a:pPr>
            <a:r>
              <a:rPr sz="1575" b="0">
                <a:solidFill>
                  <a:srgbClr val="5F6368"/>
                </a:solidFill>
                <a:latin typeface="Arial"/>
                <a:ea typeface="Arial"/>
                <a:cs typeface="Arial"/>
              </a:rPr>
              <a:t>Explain warnings, separate data-quality problems from late-return findings, and identify next actions.</a:t>
            </a:r>
          </a:p>
        </p:txBody>
      </p:sp>
      <p:sp>
        <p:nvSpPr>
          <p:cNvPr id="18" name="text-60-600">
            <a:extLst xmlns:a="http://schemas.openxmlformats.org/drawingml/2006/main">
              <a:ext uri="{FF2B5EF4-FFF2-40B4-BE49-F238E27FC236}">
                <a16:creationId xmlns:a16="http://schemas.microsoft.com/office/drawing/2014/main" id="{896A78B7-8E11-49F7-877A-D551EA7AF4B1}"/>
              </a:ext>
            </a:extLst>
          </p:cNvPr>
          <p:cNvSpPr>
            <a:spLocks xmlns:a="http://schemas.openxmlformats.org/drawingml/2006/main" noGrp="1"/>
          </p:cNvSpPr>
          <p:nvPr/>
        </p:nvSpPr>
        <p:spPr>
          <a:xfrm xmlns:a="http://schemas.openxmlformats.org/drawingml/2006/main">
            <a:off x="571500" y="57150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latin typeface="Arial"/>
                <a:ea typeface="Arial"/>
                <a:cs typeface="Arial"/>
              </a:defRPr>
            </a:pPr>
            <a:r>
              <a:rPr sz="1500" b="1">
                <a:solidFill>
                  <a:srgbClr val="111111"/>
                </a:solidFill>
                <a:latin typeface="Arial"/>
                <a:ea typeface="Arial"/>
                <a:cs typeface="Arial"/>
              </a:rPr>
              <a:t>Recommended measures: Final Clean Rows  •  Rows Removed  •  Quality Issues  •  Processing Time</a:t>
            </a:r>
          </a:p>
        </p:txBody>
      </p:sp>
    </p:spTree>
    <p:extLst>
      <p:ext uri="{BB962C8B-B14F-4D97-AF65-F5344CB8AC3E}">
        <p14:creationId xmlns:p14="http://schemas.microsoft.com/office/powerpoint/2010/main" val="21218677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hape-0-0">
            <a:extLst xmlns:a="http://schemas.openxmlformats.org/drawingml/2006/main">
              <a:ext uri="{FF2B5EF4-FFF2-40B4-BE49-F238E27FC236}">
                <a16:creationId xmlns:a16="http://schemas.microsoft.com/office/drawing/2014/main" id="{2669232F-C5C0-4A60-BC52-734B664FE46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2C811"/>
          </a:solidFill>
          <a:ln xmlns:a="http://schemas.openxmlformats.org/drawingml/2006/main" w="0">
            <a:solidFill>
              <a:srgbClr val="F2C811"/>
            </a:solidFill>
            <a:prstDash val="solid"/>
          </a:ln>
        </p:spPr>
      </p:sp>
      <p:sp>
        <p:nvSpPr>
          <p:cNvPr id="2" name="text-58-54">
            <a:extLst xmlns:a="http://schemas.openxmlformats.org/drawingml/2006/main">
              <a:ext uri="{FF2B5EF4-FFF2-40B4-BE49-F238E27FC236}">
                <a16:creationId xmlns:a16="http://schemas.microsoft.com/office/drawing/2014/main" id="{F8D6B80D-CEF7-4ACA-BBFD-EB4B521DC088}"/>
              </a:ext>
            </a:extLst>
          </p:cNvPr>
          <p:cNvSpPr>
            <a:spLocks xmlns:a="http://schemas.openxmlformats.org/drawingml/2006/main" noGrp="1"/>
          </p:cNvSpPr>
          <p:nvPr/>
        </p:nvSpPr>
        <p:spPr>
          <a:xfrm xmlns:a="http://schemas.openxmlformats.org/drawingml/2006/main">
            <a:off x="552450" y="514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THE OUTCOME</a:t>
            </a:r>
          </a:p>
        </p:txBody>
      </p:sp>
      <p:sp>
        <p:nvSpPr>
          <p:cNvPr id="3" name="text-58-144">
            <a:extLst xmlns:a="http://schemas.openxmlformats.org/drawingml/2006/main">
              <a:ext uri="{FF2B5EF4-FFF2-40B4-BE49-F238E27FC236}">
                <a16:creationId xmlns:a16="http://schemas.microsoft.com/office/drawing/2014/main" id="{F45AD7F5-4649-408B-BB90-E15CF8969C29}"/>
              </a:ext>
            </a:extLst>
          </p:cNvPr>
          <p:cNvSpPr>
            <a:spLocks xmlns:a="http://schemas.openxmlformats.org/drawingml/2006/main" noGrp="1"/>
          </p:cNvSpPr>
          <p:nvPr/>
        </p:nvSpPr>
        <p:spPr>
          <a:xfrm xmlns:a="http://schemas.openxmlformats.org/drawingml/2006/main">
            <a:off x="552450" y="1371600"/>
            <a:ext cx="9715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750" b="1">
                <a:solidFill>
                  <a:srgbClr val="111111"/>
                </a:solidFill>
                <a:latin typeface="Arial"/>
                <a:ea typeface="Arial"/>
                <a:cs typeface="Arial"/>
              </a:defRPr>
            </a:pPr>
            <a:r>
              <a:rPr sz="3750" b="1">
                <a:solidFill>
                  <a:srgbClr val="111111"/>
                </a:solidFill>
                <a:latin typeface="Arial"/>
                <a:ea typeface="Arial"/>
                <a:cs typeface="Arial"/>
              </a:rPr>
              <a:t>The pipeline is now repeatable,</a:t>
            </a:r>
          </a:p>
          <a:p xmlns:a="http://schemas.openxmlformats.org/drawingml/2006/main">
            <a:pPr algn="l">
              <a:defRPr sz="3750" b="1">
                <a:solidFill>
                  <a:srgbClr val="111111"/>
                </a:solidFill>
                <a:latin typeface="Arial"/>
                <a:ea typeface="Arial"/>
                <a:cs typeface="Arial"/>
              </a:defRPr>
            </a:pPr>
            <a:r>
              <a:rPr sz="3750" b="1">
                <a:solidFill>
                  <a:srgbClr val="111111"/>
                </a:solidFill>
                <a:latin typeface="Arial"/>
                <a:ea typeface="Arial"/>
                <a:cs typeface="Arial"/>
              </a:rPr>
              <a:t>observable and presentation-ready</a:t>
            </a:r>
          </a:p>
        </p:txBody>
      </p:sp>
      <p:sp>
        <p:nvSpPr>
          <p:cNvPr id="4" name="rule-345">
            <a:extLst xmlns:a="http://schemas.openxmlformats.org/drawingml/2006/main">
              <a:ext uri="{FF2B5EF4-FFF2-40B4-BE49-F238E27FC236}">
                <a16:creationId xmlns:a16="http://schemas.microsoft.com/office/drawing/2014/main" id="{9438EF79-7AF9-42A2-B2A0-09351067A50F}"/>
              </a:ext>
            </a:extLst>
          </p:cNvPr>
          <p:cNvSpPr>
            <a:spLocks xmlns:a="http://schemas.openxmlformats.org/drawingml/2006/main" noGrp="1"/>
          </p:cNvSpPr>
          <p:nvPr/>
        </p:nvSpPr>
        <p:spPr>
          <a:xfrm xmlns:a="http://schemas.openxmlformats.org/drawingml/2006/main">
            <a:off x="552450" y="3286125"/>
            <a:ext cx="110490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5" name="text-58-398">
            <a:extLst xmlns:a="http://schemas.openxmlformats.org/drawingml/2006/main">
              <a:ext uri="{FF2B5EF4-FFF2-40B4-BE49-F238E27FC236}">
                <a16:creationId xmlns:a16="http://schemas.microsoft.com/office/drawing/2014/main" id="{5AD5DC2D-8B26-473C-B58C-3BC6BBF87E74}"/>
              </a:ext>
            </a:extLst>
          </p:cNvPr>
          <p:cNvSpPr>
            <a:spLocks xmlns:a="http://schemas.openxmlformats.org/drawingml/2006/main" noGrp="1"/>
          </p:cNvSpPr>
          <p:nvPr/>
        </p:nvSpPr>
        <p:spPr>
          <a:xfrm xmlns:a="http://schemas.openxmlformats.org/drawingml/2006/main">
            <a:off x="552450" y="3790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6" name="text-58-442">
            <a:extLst xmlns:a="http://schemas.openxmlformats.org/drawingml/2006/main">
              <a:ext uri="{FF2B5EF4-FFF2-40B4-BE49-F238E27FC236}">
                <a16:creationId xmlns:a16="http://schemas.microsoft.com/office/drawing/2014/main" id="{6D93BBFC-FAB6-4D11-877E-A9FF1443151E}"/>
              </a:ext>
            </a:extLst>
          </p:cNvPr>
          <p:cNvSpPr>
            <a:spLocks xmlns:a="http://schemas.openxmlformats.org/drawingml/2006/main" noGrp="1"/>
          </p:cNvSpPr>
          <p:nvPr/>
        </p:nvSpPr>
        <p:spPr>
          <a:xfrm xmlns:a="http://schemas.openxmlformats.org/drawingml/2006/main">
            <a:off x="55245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Build history</a:t>
            </a:r>
          </a:p>
        </p:txBody>
      </p:sp>
      <p:sp>
        <p:nvSpPr>
          <p:cNvPr id="7" name="text-58-495">
            <a:extLst xmlns:a="http://schemas.openxmlformats.org/drawingml/2006/main">
              <a:ext uri="{FF2B5EF4-FFF2-40B4-BE49-F238E27FC236}">
                <a16:creationId xmlns:a16="http://schemas.microsoft.com/office/drawing/2014/main" id="{42224929-A915-44C1-95DD-76E7E88D3840}"/>
              </a:ext>
            </a:extLst>
          </p:cNvPr>
          <p:cNvSpPr>
            <a:spLocks xmlns:a="http://schemas.openxmlformats.org/drawingml/2006/main" noGrp="1"/>
          </p:cNvSpPr>
          <p:nvPr/>
        </p:nvSpPr>
        <p:spPr>
          <a:xfrm xmlns:a="http://schemas.openxmlformats.org/drawingml/2006/main">
            <a:off x="552450" y="47148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Run the pipeline repeatedly and use run_id for trends.</a:t>
            </a:r>
          </a:p>
        </p:txBody>
      </p:sp>
      <p:sp>
        <p:nvSpPr>
          <p:cNvPr id="8" name="text-453-398">
            <a:extLst xmlns:a="http://schemas.openxmlformats.org/drawingml/2006/main">
              <a:ext uri="{FF2B5EF4-FFF2-40B4-BE49-F238E27FC236}">
                <a16:creationId xmlns:a16="http://schemas.microsoft.com/office/drawing/2014/main" id="{42E9338C-F197-4BF1-BFF9-A6E81AC29812}"/>
              </a:ext>
            </a:extLst>
          </p:cNvPr>
          <p:cNvSpPr>
            <a:spLocks xmlns:a="http://schemas.openxmlformats.org/drawingml/2006/main" noGrp="1"/>
          </p:cNvSpPr>
          <p:nvPr/>
        </p:nvSpPr>
        <p:spPr>
          <a:xfrm xmlns:a="http://schemas.openxmlformats.org/drawingml/2006/main">
            <a:off x="4314825" y="3790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9" name="text-453-442">
            <a:extLst xmlns:a="http://schemas.openxmlformats.org/drawingml/2006/main">
              <a:ext uri="{FF2B5EF4-FFF2-40B4-BE49-F238E27FC236}">
                <a16:creationId xmlns:a16="http://schemas.microsoft.com/office/drawing/2014/main" id="{1C4B0FC7-997D-4A2C-9336-56F46D61E13B}"/>
              </a:ext>
            </a:extLst>
          </p:cNvPr>
          <p:cNvSpPr>
            <a:spLocks xmlns:a="http://schemas.openxmlformats.org/drawingml/2006/main" noGrp="1"/>
          </p:cNvSpPr>
          <p:nvPr/>
        </p:nvSpPr>
        <p:spPr>
          <a:xfrm xmlns:a="http://schemas.openxmlformats.org/drawingml/2006/main">
            <a:off x="4314825"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Automate refresh</a:t>
            </a:r>
          </a:p>
        </p:txBody>
      </p:sp>
      <p:sp>
        <p:nvSpPr>
          <p:cNvPr id="10" name="text-453-495">
            <a:extLst xmlns:a="http://schemas.openxmlformats.org/drawingml/2006/main">
              <a:ext uri="{FF2B5EF4-FFF2-40B4-BE49-F238E27FC236}">
                <a16:creationId xmlns:a16="http://schemas.microsoft.com/office/drawing/2014/main" id="{BB2E1202-D6F1-448F-8003-0D93BC8049C7}"/>
              </a:ext>
            </a:extLst>
          </p:cNvPr>
          <p:cNvSpPr>
            <a:spLocks xmlns:a="http://schemas.openxmlformats.org/drawingml/2006/main" noGrp="1"/>
          </p:cNvSpPr>
          <p:nvPr/>
        </p:nvSpPr>
        <p:spPr>
          <a:xfrm xmlns:a="http://schemas.openxmlformats.org/drawingml/2006/main">
            <a:off x="4314825" y="47148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Move the metrics CSV to a refreshable Power BI location.</a:t>
            </a:r>
          </a:p>
        </p:txBody>
      </p:sp>
      <p:sp>
        <p:nvSpPr>
          <p:cNvPr id="11" name="text-848-398">
            <a:extLst xmlns:a="http://schemas.openxmlformats.org/drawingml/2006/main">
              <a:ext uri="{FF2B5EF4-FFF2-40B4-BE49-F238E27FC236}">
                <a16:creationId xmlns:a16="http://schemas.microsoft.com/office/drawing/2014/main" id="{AA534362-43DD-487E-BEDE-F0C203C28827}"/>
              </a:ext>
            </a:extLst>
          </p:cNvPr>
          <p:cNvSpPr>
            <a:spLocks xmlns:a="http://schemas.openxmlformats.org/drawingml/2006/main" noGrp="1"/>
          </p:cNvSpPr>
          <p:nvPr/>
        </p:nvSpPr>
        <p:spPr>
          <a:xfrm xmlns:a="http://schemas.openxmlformats.org/drawingml/2006/main">
            <a:off x="8077200" y="3790950"/>
            <a:ext cx="57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2" name="text-848-442">
            <a:extLst xmlns:a="http://schemas.openxmlformats.org/drawingml/2006/main">
              <a:ext uri="{FF2B5EF4-FFF2-40B4-BE49-F238E27FC236}">
                <a16:creationId xmlns:a16="http://schemas.microsoft.com/office/drawing/2014/main" id="{D129C651-DB79-4036-A067-A7B7B94A9278}"/>
              </a:ext>
            </a:extLst>
          </p:cNvPr>
          <p:cNvSpPr>
            <a:spLocks xmlns:a="http://schemas.openxmlformats.org/drawingml/2006/main" noGrp="1"/>
          </p:cNvSpPr>
          <p:nvPr/>
        </p:nvSpPr>
        <p:spPr>
          <a:xfrm xmlns:a="http://schemas.openxmlformats.org/drawingml/2006/main">
            <a:off x="8077200" y="421005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Arial"/>
                <a:ea typeface="Arial"/>
                <a:cs typeface="Arial"/>
              </a:defRPr>
            </a:pPr>
            <a:r>
              <a:rPr sz="1950" b="1">
                <a:solidFill>
                  <a:srgbClr val="111111"/>
                </a:solidFill>
                <a:latin typeface="Arial"/>
                <a:ea typeface="Arial"/>
                <a:cs typeface="Arial"/>
              </a:rPr>
              <a:t>Extend assurance</a:t>
            </a:r>
          </a:p>
        </p:txBody>
      </p:sp>
      <p:sp>
        <p:nvSpPr>
          <p:cNvPr id="13" name="text-848-495">
            <a:extLst xmlns:a="http://schemas.openxmlformats.org/drawingml/2006/main">
              <a:ext uri="{FF2B5EF4-FFF2-40B4-BE49-F238E27FC236}">
                <a16:creationId xmlns:a16="http://schemas.microsoft.com/office/drawing/2014/main" id="{184A12B0-BDA8-448F-B043-70BDD7BAC459}"/>
              </a:ext>
            </a:extLst>
          </p:cNvPr>
          <p:cNvSpPr>
            <a:spLocks xmlns:a="http://schemas.openxmlformats.org/drawingml/2006/main" noGrp="1"/>
          </p:cNvSpPr>
          <p:nvPr/>
        </p:nvSpPr>
        <p:spPr>
          <a:xfrm xmlns:a="http://schemas.openxmlformats.org/drawingml/2006/main">
            <a:off x="8077200" y="47148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F6368"/>
                </a:solidFill>
                <a:latin typeface="Arial"/>
                <a:ea typeface="Arial"/>
                <a:cs typeface="Arial"/>
              </a:defRPr>
            </a:pPr>
            <a:r>
              <a:rPr sz="1425" b="0">
                <a:solidFill>
                  <a:srgbClr val="5F6368"/>
                </a:solidFill>
                <a:latin typeface="Arial"/>
                <a:ea typeface="Arial"/>
                <a:cs typeface="Arial"/>
              </a:rPr>
              <a:t>Add automated tests, CI/CD outcomes and SQL-load metrics.</a:t>
            </a:r>
          </a:p>
        </p:txBody>
      </p:sp>
      <p:sp>
        <p:nvSpPr>
          <p:cNvPr id="14" name="text-58-638">
            <a:extLst xmlns:a="http://schemas.openxmlformats.org/drawingml/2006/main">
              <a:ext uri="{FF2B5EF4-FFF2-40B4-BE49-F238E27FC236}">
                <a16:creationId xmlns:a16="http://schemas.microsoft.com/office/drawing/2014/main" id="{7DAF6146-A55D-42D4-A118-06692F48B9E7}"/>
              </a:ext>
            </a:extLst>
          </p:cNvPr>
          <p:cNvSpPr>
            <a:spLocks xmlns:a="http://schemas.openxmlformats.org/drawingml/2006/main" noGrp="1"/>
          </p:cNvSpPr>
          <p:nvPr/>
        </p:nvSpPr>
        <p:spPr>
          <a:xfrm xmlns:a="http://schemas.openxmlformats.org/drawingml/2006/main">
            <a:off x="552450" y="60769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Arial"/>
                <a:ea typeface="Arial"/>
                <a:cs typeface="Arial"/>
              </a:defRPr>
            </a:pPr>
            <a:r>
              <a:rPr sz="1725" b="1">
                <a:solidFill>
                  <a:srgbClr val="111111"/>
                </a:solidFill>
                <a:latin typeface="Arial"/>
                <a:ea typeface="Arial"/>
                <a:cs typeface="Arial"/>
              </a:rPr>
              <a:t>Questions and discussion</a:t>
            </a:r>
          </a:p>
        </p:txBody>
      </p:sp>
    </p:spTree>
    <p:extLst>
      <p:ext uri="{BB962C8B-B14F-4D97-AF65-F5344CB8AC3E}">
        <p14:creationId xmlns:p14="http://schemas.microsoft.com/office/powerpoint/2010/main" val="7780760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2026-08-20T10:32:58.7120000Z</dcterms:created>
  <dcterms:modified xsi:type="dcterms:W3CDTF">2026-08-20T10:32:58.7120000Z</dcterms:modified>
</coreProperties>
</file>